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80" r:id="rId2"/>
  </p:sldMasterIdLst>
  <p:sldIdLst>
    <p:sldId id="424" r:id="rId3"/>
    <p:sldId id="454" r:id="rId4"/>
    <p:sldId id="455" r:id="rId5"/>
    <p:sldId id="456" r:id="rId6"/>
    <p:sldId id="457" r:id="rId7"/>
    <p:sldId id="461" r:id="rId8"/>
    <p:sldId id="464" r:id="rId9"/>
    <p:sldId id="465" r:id="rId10"/>
    <p:sldId id="4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867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667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54" y="1296000"/>
            <a:ext cx="11345332" cy="50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22391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56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61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381048"/>
            <a:ext cx="11345332" cy="3867353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4" y="1630033"/>
            <a:ext cx="11345332" cy="67373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391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381048"/>
            <a:ext cx="11345332" cy="3867353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4" y="1630033"/>
            <a:ext cx="11345332" cy="67373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008916"/>
            <a:ext cx="11345332" cy="423948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14882" y="1249119"/>
            <a:ext cx="11345332" cy="66358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15244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630034"/>
            <a:ext cx="11345332" cy="461836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0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630034"/>
            <a:ext cx="11345332" cy="461836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145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414883" y="1630032"/>
            <a:ext cx="5574547" cy="4633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6196239" y="1630032"/>
            <a:ext cx="5574547" cy="4633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8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414883" y="1630032"/>
            <a:ext cx="5574547" cy="4633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6196239" y="1630032"/>
            <a:ext cx="5574547" cy="4633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2400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4" y="1630032"/>
            <a:ext cx="11345332" cy="66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7" y="2361435"/>
            <a:ext cx="5584444" cy="3899667"/>
          </a:xfrm>
          <a:prstGeom prst="rect">
            <a:avLst/>
          </a:prstGeom>
        </p:spPr>
        <p:txBody>
          <a:bodyPr lIns="0" rIns="0"/>
          <a:lstStyle>
            <a:lvl1pPr>
              <a:defRPr lang="de-DE" sz="1867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867"/>
            </a:lvl2pPr>
            <a:lvl3pPr>
              <a:defRPr sz="1867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84903" y="2361436"/>
            <a:ext cx="5573856" cy="3899667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67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536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4" y="1630032"/>
            <a:ext cx="11345332" cy="66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7" y="2361435"/>
            <a:ext cx="5584444" cy="3899667"/>
          </a:xfrm>
          <a:prstGeom prst="rect">
            <a:avLst/>
          </a:prstGeom>
        </p:spPr>
        <p:txBody>
          <a:bodyPr lIns="0" rIns="0"/>
          <a:lstStyle>
            <a:lvl1pPr>
              <a:defRPr lang="de-DE" sz="1867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867"/>
            </a:lvl2pPr>
            <a:lvl3pPr>
              <a:defRPr sz="1867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84903" y="2361436"/>
            <a:ext cx="5573856" cy="3899667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67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40447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870200"/>
            <a:ext cx="12192000" cy="39878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333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61435"/>
            <a:ext cx="5597144" cy="3912365"/>
          </a:xfrm>
          <a:prstGeom prst="rect">
            <a:avLst/>
          </a:prstGeom>
        </p:spPr>
        <p:txBody>
          <a:bodyPr lIns="0" rIns="0"/>
          <a:lstStyle>
            <a:lvl1pPr>
              <a:defRPr lang="de-DE" sz="1867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867"/>
            </a:lvl2pPr>
            <a:lvl3pPr>
              <a:defRPr sz="1867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97600" y="2361435"/>
            <a:ext cx="5573856" cy="3886967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67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425454" y="1630032"/>
            <a:ext cx="11345332" cy="66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220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361435"/>
            <a:ext cx="12192000" cy="44965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333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61435"/>
            <a:ext cx="5597144" cy="3912365"/>
          </a:xfrm>
          <a:prstGeom prst="rect">
            <a:avLst/>
          </a:prstGeom>
        </p:spPr>
        <p:txBody>
          <a:bodyPr lIns="0" rIns="0"/>
          <a:lstStyle>
            <a:lvl1pPr>
              <a:defRPr lang="de-DE" sz="1867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867"/>
            </a:lvl2pPr>
            <a:lvl3pPr>
              <a:defRPr sz="1867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97600" y="2361435"/>
            <a:ext cx="5573856" cy="3886967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67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425454" y="1630032"/>
            <a:ext cx="11345332" cy="66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89517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361435"/>
            <a:ext cx="12192000" cy="4489792"/>
          </a:xfrm>
          <a:prstGeom prst="rect">
            <a:avLst/>
          </a:prstGeom>
        </p:spPr>
        <p:txBody>
          <a:bodyPr/>
          <a:lstStyle>
            <a:lvl1pPr>
              <a:defRPr sz="1867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5454" y="1630032"/>
            <a:ext cx="11345332" cy="66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692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361435"/>
            <a:ext cx="12192000" cy="4489792"/>
          </a:xfrm>
          <a:prstGeom prst="rect">
            <a:avLst/>
          </a:prstGeom>
        </p:spPr>
        <p:txBody>
          <a:bodyPr/>
          <a:lstStyle>
            <a:lvl1pPr>
              <a:defRPr sz="1867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5454" y="1630032"/>
            <a:ext cx="11345332" cy="66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297296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30033"/>
            <a:ext cx="12192000" cy="5227967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67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075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30033"/>
            <a:ext cx="12192000" cy="5227967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67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0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04062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1296000"/>
            <a:ext cx="11345332" cy="50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867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667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2761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33620" y="1968500"/>
            <a:ext cx="5092723" cy="444500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1296000"/>
            <a:ext cx="11345332" cy="50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867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667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6750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57882" y="432000"/>
            <a:ext cx="806365" cy="424688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9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467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467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47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3333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5pPr>
      <a:lvl6pPr marL="609585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6pPr>
      <a:lvl7pPr marL="1219170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7pPr>
      <a:lvl8pPr marL="1828754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8pPr>
      <a:lvl9pPr marL="2438339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234945" indent="-234945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480472" indent="-245527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717533" indent="-237061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952476" indent="-234945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467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467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882" y="432000"/>
            <a:ext cx="806365" cy="424688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426009" y="428625"/>
            <a:ext cx="954723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067" dirty="0">
                <a:solidFill>
                  <a:schemeClr val="tx2"/>
                </a:solidFill>
                <a:latin typeface="+mn-lt"/>
              </a:rPr>
              <a:t>Chair of High-Power Converter Systems</a:t>
            </a:r>
            <a:endParaRPr lang="de-DE" sz="1067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1200"/>
              </a:lnSpc>
            </a:pPr>
            <a:r>
              <a:rPr lang="en-US" sz="1067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1067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1200"/>
              </a:lnSpc>
            </a:pPr>
            <a:r>
              <a:rPr lang="de-DE" sz="1067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1067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7142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933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5pPr>
      <a:lvl6pPr marL="609585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6pPr>
      <a:lvl7pPr marL="1219170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7pPr>
      <a:lvl8pPr marL="1828754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8pPr>
      <a:lvl9pPr marL="2438339" algn="l" rtl="0" fontAlgn="base">
        <a:spcBef>
          <a:spcPct val="0"/>
        </a:spcBef>
        <a:spcAft>
          <a:spcPct val="0"/>
        </a:spcAft>
        <a:defRPr sz="2667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234945" indent="-234945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480472" indent="-245527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717533" indent="-237061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952476" indent="-234945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8B39F-ACCB-FE86-2BFE-3A1E77DA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E595D-041C-B25A-2A49-280F3AC1F9C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dirty="0"/>
              <a:t>Group 1: Adrien Thébault, Vincent Taneli Olander, Nafisa Raihana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45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2C0EC82-7CDC-B35B-22FA-F64CEDD49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4" y="2454866"/>
            <a:ext cx="5006082" cy="3867353"/>
          </a:xfrm>
        </p:spPr>
        <p:txBody>
          <a:bodyPr/>
          <a:lstStyle/>
          <a:p>
            <a:r>
              <a:rPr lang="de-DE" b="1" dirty="0"/>
              <a:t>Sources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error</a:t>
            </a:r>
            <a:endParaRPr lang="de-DE" b="1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Error in </a:t>
            </a:r>
            <a:r>
              <a:rPr lang="de-DE" dirty="0" err="1"/>
              <a:t>measurement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Low and high </a:t>
            </a:r>
            <a:r>
              <a:rPr lang="de-DE" dirty="0" err="1"/>
              <a:t>discharge</a:t>
            </a:r>
            <a:r>
              <a:rPr lang="de-DE" dirty="0"/>
              <a:t> </a:t>
            </a:r>
            <a:r>
              <a:rPr lang="de-DE" dirty="0" err="1"/>
              <a:t>events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rare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Unreliable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insufficient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at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extremes</a:t>
            </a:r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Real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rating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curve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not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stationary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etc. etc. 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5F100A4-8394-C57E-E4C2-B19CA994C7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CE58CB1E-F828-4F11-99E0-327109AF9DA4}" type="slidenum">
              <a:rPr lang="de-DE">
                <a:solidFill>
                  <a:prstClr val="black"/>
                </a:solidFill>
                <a:latin typeface="Arial" charset="0"/>
                <a:cs typeface="Arial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de-DE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9DEF2D5-F9BC-AF1D-9996-21D437C35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Discharge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seldom</a:t>
            </a:r>
            <a:r>
              <a:rPr lang="de-DE" dirty="0"/>
              <a:t> </a:t>
            </a:r>
            <a:r>
              <a:rPr lang="de-DE" dirty="0" err="1"/>
              <a:t>measured</a:t>
            </a:r>
            <a:r>
              <a:rPr lang="de-DE" dirty="0"/>
              <a:t> </a:t>
            </a:r>
            <a:r>
              <a:rPr lang="de-DE" dirty="0" err="1"/>
              <a:t>directly</a:t>
            </a:r>
            <a:endParaRPr lang="de-DE" dirty="0"/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Calculated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differ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real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endParaRPr lang="de-DE" dirty="0"/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FC82FEC-EDFA-8D9B-86C9-00FC3B18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Preconsiderations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1AA2888-C828-6437-EE04-48538AD780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416022A5-255D-57A4-DE7E-B6DBC1C3C076}"/>
              </a:ext>
            </a:extLst>
          </p:cNvPr>
          <p:cNvSpPr txBox="1">
            <a:spLocks/>
          </p:cNvSpPr>
          <p:nvPr/>
        </p:nvSpPr>
        <p:spPr>
          <a:xfrm>
            <a:off x="6594606" y="2454866"/>
            <a:ext cx="5006082" cy="3867353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867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945" indent="-234945"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867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0472" indent="-245527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8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533" indent="-237061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476" indent="-234945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Result</a:t>
            </a:r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en-US" dirty="0"/>
              <a:t>There are many possible rating curves, none of which will ever be perfect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 What is the impact of this uncertainty?</a:t>
            </a:r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8DC4B35-EDE6-C492-46ED-8C70987A07B5}"/>
              </a:ext>
            </a:extLst>
          </p:cNvPr>
          <p:cNvSpPr txBox="1"/>
          <p:nvPr/>
        </p:nvSpPr>
        <p:spPr>
          <a:xfrm>
            <a:off x="6320363" y="5275463"/>
            <a:ext cx="5186065" cy="3025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900" dirty="0">
                <a:latin typeface="+mn-lt"/>
              </a:rPr>
              <a:t>Rating </a:t>
            </a:r>
            <a:r>
              <a:rPr lang="de-DE" sz="900" dirty="0" err="1">
                <a:latin typeface="+mn-lt"/>
              </a:rPr>
              <a:t>curve</a:t>
            </a:r>
            <a:r>
              <a:rPr lang="de-DE" sz="900" dirty="0">
                <a:latin typeface="+mn-lt"/>
              </a:rPr>
              <a:t> </a:t>
            </a:r>
            <a:r>
              <a:rPr lang="de-DE" sz="900" dirty="0" err="1">
                <a:latin typeface="+mn-lt"/>
              </a:rPr>
              <a:t>uncertainty</a:t>
            </a:r>
            <a:r>
              <a:rPr lang="de-DE" sz="900" dirty="0">
                <a:latin typeface="+mn-lt"/>
              </a:rPr>
              <a:t>. </a:t>
            </a:r>
            <a:r>
              <a:rPr lang="de-DE" sz="900" dirty="0" err="1">
                <a:latin typeface="+mn-lt"/>
              </a:rPr>
              <a:t>From</a:t>
            </a:r>
            <a:r>
              <a:rPr lang="de-DE" sz="900" dirty="0">
                <a:latin typeface="+mn-lt"/>
              </a:rPr>
              <a:t> </a:t>
            </a:r>
            <a:r>
              <a:rPr lang="en-US" sz="900" i="1" dirty="0"/>
              <a:t>Hydrological model calibration with uncertain discharge data</a:t>
            </a:r>
            <a:r>
              <a:rPr lang="en-US" sz="900" dirty="0"/>
              <a:t>, by Westerberg et al., 2020</a:t>
            </a:r>
            <a:endParaRPr lang="en-US" sz="900" dirty="0">
              <a:latin typeface="+mn-lt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FBD1908-66D0-6A29-9987-78E7A2426529}"/>
              </a:ext>
            </a:extLst>
          </p:cNvPr>
          <p:cNvGrpSpPr/>
          <p:nvPr/>
        </p:nvGrpSpPr>
        <p:grpSpPr>
          <a:xfrm>
            <a:off x="6320363" y="3635894"/>
            <a:ext cx="5186066" cy="1605046"/>
            <a:chOff x="6320363" y="3429000"/>
            <a:chExt cx="5186066" cy="1605046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2D9632F5-C4EC-090A-94BB-94B8FF635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" r="72"/>
            <a:stretch/>
          </p:blipFill>
          <p:spPr>
            <a:xfrm>
              <a:off x="6320363" y="3429000"/>
              <a:ext cx="5186066" cy="1605046"/>
            </a:xfrm>
            <a:prstGeom prst="rect">
              <a:avLst/>
            </a:prstGeom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0280385-4A32-49E5-E358-2F16391CB1A3}"/>
                </a:ext>
              </a:extLst>
            </p:cNvPr>
            <p:cNvSpPr/>
            <p:nvPr/>
          </p:nvSpPr>
          <p:spPr>
            <a:xfrm>
              <a:off x="6320364" y="3429000"/>
              <a:ext cx="5186065" cy="1605046"/>
            </a:xfrm>
            <a:prstGeom prst="rect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9227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D188-A1CD-6BBE-0A66-EDAE25BE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elle 45">
            <a:extLst>
              <a:ext uri="{FF2B5EF4-FFF2-40B4-BE49-F238E27FC236}">
                <a16:creationId xmlns:a16="http://schemas.microsoft.com/office/drawing/2014/main" id="{30609F44-AA0B-B42C-4869-F513EC207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69168"/>
              </p:ext>
            </p:extLst>
          </p:nvPr>
        </p:nvGraphicFramePr>
        <p:xfrm>
          <a:off x="8030453" y="4094111"/>
          <a:ext cx="15240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1120562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5371904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diso__ref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ddho__ref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98758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6916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8.450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214.000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62902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…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99939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18.150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275.750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03737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55617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22.925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309.250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72249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03619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62.300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438.000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53545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57.700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438.000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4731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178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151.250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472.750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4532762"/>
                  </a:ext>
                </a:extLst>
              </a:tr>
            </a:tbl>
          </a:graphicData>
        </a:graphic>
      </p:graphicFrame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9999B59-E174-7EDE-AD0E-3E3CF4F06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4" y="2454866"/>
            <a:ext cx="5198106" cy="3867353"/>
          </a:xfrm>
        </p:spPr>
        <p:txBody>
          <a:bodyPr/>
          <a:lstStyle/>
          <a:p>
            <a:r>
              <a:rPr lang="de-DE" sz="1800" b="1" dirty="0"/>
              <a:t>Idea</a:t>
            </a:r>
          </a:p>
          <a:p>
            <a:pPr marL="285750" indent="-285750">
              <a:buFont typeface="Arial" panose="020B0604020202020204" pitchFamily="34" charset="0"/>
              <a:buChar char="—"/>
            </a:pPr>
            <a:r>
              <a:rPr lang="de-DE" sz="1800" dirty="0" err="1"/>
              <a:t>Perturb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depth</a:t>
            </a:r>
            <a:r>
              <a:rPr lang="de-DE" sz="1800" dirty="0"/>
              <a:t> in </a:t>
            </a:r>
            <a:r>
              <a:rPr lang="de-DE" sz="1800" dirty="0" err="1"/>
              <a:t>integers</a:t>
            </a: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—"/>
            </a:pPr>
            <a:r>
              <a:rPr lang="de-DE" sz="1800" dirty="0"/>
              <a:t>Find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corresponding</a:t>
            </a:r>
            <a:r>
              <a:rPr lang="de-DE" sz="1800" dirty="0"/>
              <a:t> </a:t>
            </a:r>
            <a:r>
              <a:rPr lang="de-DE" sz="1800" dirty="0" err="1"/>
              <a:t>discharge</a:t>
            </a:r>
            <a:r>
              <a:rPr lang="de-DE" sz="1800" dirty="0"/>
              <a:t> </a:t>
            </a:r>
            <a:r>
              <a:rPr lang="de-DE" sz="1800" dirty="0" err="1"/>
              <a:t>value</a:t>
            </a:r>
            <a:r>
              <a:rPr lang="de-DE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—"/>
            </a:pPr>
            <a:endParaRPr lang="de-DE" sz="1800" dirty="0"/>
          </a:p>
          <a:p>
            <a:r>
              <a:rPr lang="de-DE" sz="1800" b="1" dirty="0" err="1"/>
              <a:t>Difficulties</a:t>
            </a:r>
            <a:endParaRPr lang="de-DE" sz="1800" b="1" dirty="0"/>
          </a:p>
          <a:p>
            <a:pPr marL="285750" indent="-285750">
              <a:buFont typeface="Arial" panose="020B0604020202020204" pitchFamily="34" charset="0"/>
              <a:buChar char="—"/>
            </a:pPr>
            <a:r>
              <a:rPr lang="de-DE" sz="1800" dirty="0"/>
              <a:t>Values not </a:t>
            </a:r>
            <a:r>
              <a:rPr lang="de-DE" sz="1800" dirty="0" err="1"/>
              <a:t>found</a:t>
            </a:r>
            <a:r>
              <a:rPr lang="de-DE" sz="1800" dirty="0"/>
              <a:t> in </a:t>
            </a:r>
            <a:r>
              <a:rPr lang="de-DE" sz="1800" dirty="0" err="1"/>
              <a:t>the</a:t>
            </a:r>
            <a:r>
              <a:rPr lang="de-DE" sz="1800" dirty="0"/>
              <a:t> original </a:t>
            </a:r>
            <a:r>
              <a:rPr lang="de-DE" sz="1800" dirty="0" err="1"/>
              <a:t>data</a:t>
            </a:r>
            <a:r>
              <a:rPr lang="de-DE" sz="1800" dirty="0"/>
              <a:t> </a:t>
            </a:r>
            <a:r>
              <a:rPr lang="de-DE" sz="1800" dirty="0" err="1"/>
              <a:t>can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formed</a:t>
            </a:r>
            <a:endParaRPr lang="de-DE" sz="1800" dirty="0"/>
          </a:p>
          <a:p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→ Extrapolation at </a:t>
            </a:r>
            <a:r>
              <a:rPr 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b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    Interpolation in </a:t>
            </a:r>
            <a:r>
              <a:rPr 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—"/>
            </a:pPr>
            <a:endParaRPr lang="de-DE" sz="1800" dirty="0"/>
          </a:p>
          <a:p>
            <a:endParaRPr lang="de-DE" sz="1800" b="1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08AB0CD-A55F-C4DB-1B5E-2685CA5A1B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CE58CB1E-F828-4F11-99E0-327109AF9DA4}" type="slidenum">
              <a:rPr lang="de-DE">
                <a:solidFill>
                  <a:prstClr val="black"/>
                </a:solidFill>
                <a:latin typeface="Arial" charset="0"/>
                <a:cs typeface="Arial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de-DE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E7454F-4B0D-A313-128E-EE9EE1E9F7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Database </a:t>
            </a:r>
            <a:r>
              <a:rPr lang="de-DE" dirty="0" err="1"/>
              <a:t>consisting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depth-discharge-pairs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9858314-DFA8-FB89-D238-236E5EAB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Fitting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Curve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4130B53-F3DE-2EEF-9E4E-6B162EFFF2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err="1"/>
              <a:t>Discrete</a:t>
            </a:r>
            <a:r>
              <a:rPr lang="de-DE" dirty="0"/>
              <a:t> Perturbation</a:t>
            </a:r>
          </a:p>
        </p:txBody>
      </p:sp>
      <p:pic>
        <p:nvPicPr>
          <p:cNvPr id="9" name="Grafik 8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7B9D0FE7-6CD6-E994-C2D2-4950DF17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592685"/>
            <a:ext cx="3836221" cy="88590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17C092C-26BB-B8C5-23B9-71E3C974E300}"/>
              </a:ext>
            </a:extLst>
          </p:cNvPr>
          <p:cNvSpPr txBox="1"/>
          <p:nvPr/>
        </p:nvSpPr>
        <p:spPr>
          <a:xfrm>
            <a:off x="8035522" y="3873621"/>
            <a:ext cx="1179576" cy="2250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>
                <a:latin typeface="+mn-lt"/>
              </a:rPr>
              <a:t>Pairs</a:t>
            </a:r>
            <a:endParaRPr lang="en-US" sz="1400" dirty="0" err="1">
              <a:latin typeface="+mn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B1A1181-F7E4-F633-1C75-49C1BD2A3B81}"/>
              </a:ext>
            </a:extLst>
          </p:cNvPr>
          <p:cNvSpPr txBox="1"/>
          <p:nvPr/>
        </p:nvSpPr>
        <p:spPr>
          <a:xfrm>
            <a:off x="6239753" y="3873621"/>
            <a:ext cx="1179576" cy="2250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/>
              <a:t>Perturbation </a:t>
            </a:r>
            <a:endParaRPr lang="en-US" sz="1400" dirty="0" err="1">
              <a:latin typeface="+mn-lt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ECE28F1-C1B7-0E13-17C6-290A446407C6}"/>
              </a:ext>
            </a:extLst>
          </p:cNvPr>
          <p:cNvSpPr/>
          <p:nvPr/>
        </p:nvSpPr>
        <p:spPr>
          <a:xfrm>
            <a:off x="8035522" y="4484568"/>
            <a:ext cx="1524000" cy="18469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C46C882-F85C-FD03-6618-ACE7F60227DC}"/>
              </a:ext>
            </a:extLst>
          </p:cNvPr>
          <p:cNvSpPr/>
          <p:nvPr/>
        </p:nvSpPr>
        <p:spPr>
          <a:xfrm>
            <a:off x="8022336" y="4865188"/>
            <a:ext cx="1524000" cy="18469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FC6ED11-ECD4-717E-9A6D-F1A8D04E5E9A}"/>
              </a:ext>
            </a:extLst>
          </p:cNvPr>
          <p:cNvSpPr/>
          <p:nvPr/>
        </p:nvSpPr>
        <p:spPr>
          <a:xfrm>
            <a:off x="8022336" y="5236664"/>
            <a:ext cx="1524000" cy="18469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5DFF9A7-9CBE-0F57-1871-545862D44ABA}"/>
              </a:ext>
            </a:extLst>
          </p:cNvPr>
          <p:cNvSpPr/>
          <p:nvPr/>
        </p:nvSpPr>
        <p:spPr>
          <a:xfrm>
            <a:off x="8022336" y="5608140"/>
            <a:ext cx="1524000" cy="39554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1257560-5AF1-598D-4A5E-3CD5FBBDA292}"/>
              </a:ext>
            </a:extLst>
          </p:cNvPr>
          <p:cNvCxnSpPr>
            <a:cxnSpLocks/>
          </p:cNvCxnSpPr>
          <p:nvPr/>
        </p:nvCxnSpPr>
        <p:spPr>
          <a:xfrm>
            <a:off x="7760208" y="4572000"/>
            <a:ext cx="262128" cy="293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1C9FAA18-097D-2787-502F-72D1556AC210}"/>
              </a:ext>
            </a:extLst>
          </p:cNvPr>
          <p:cNvCxnSpPr/>
          <p:nvPr/>
        </p:nvCxnSpPr>
        <p:spPr>
          <a:xfrm flipV="1">
            <a:off x="7760208" y="4572000"/>
            <a:ext cx="262128" cy="374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89AA3EF6-6900-8D86-14A6-346BE34865C4}"/>
              </a:ext>
            </a:extLst>
          </p:cNvPr>
          <p:cNvCxnSpPr>
            <a:endCxn id="22" idx="1"/>
          </p:cNvCxnSpPr>
          <p:nvPr/>
        </p:nvCxnSpPr>
        <p:spPr>
          <a:xfrm flipV="1">
            <a:off x="7760208" y="5329010"/>
            <a:ext cx="262128" cy="11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D0FC983-2FD3-168A-24D0-B5EC720BECC6}"/>
              </a:ext>
            </a:extLst>
          </p:cNvPr>
          <p:cNvCxnSpPr/>
          <p:nvPr/>
        </p:nvCxnSpPr>
        <p:spPr>
          <a:xfrm flipH="1" flipV="1">
            <a:off x="7760208" y="5715000"/>
            <a:ext cx="262128" cy="91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elle 33">
            <a:extLst>
              <a:ext uri="{FF2B5EF4-FFF2-40B4-BE49-F238E27FC236}">
                <a16:creationId xmlns:a16="http://schemas.microsoft.com/office/drawing/2014/main" id="{60D1A42E-4817-5B62-EC72-31B72F379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225431"/>
              </p:ext>
            </p:extLst>
          </p:nvPr>
        </p:nvGraphicFramePr>
        <p:xfrm>
          <a:off x="9818105" y="4097379"/>
          <a:ext cx="1524000" cy="190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57855888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4146416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diso__ref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ddho__per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73991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01680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18.150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275.750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22851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75185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8.450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214.000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48841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10628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22.925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309.250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18425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019195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438.000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16844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…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137043"/>
                  </a:ext>
                </a:extLst>
              </a:tr>
            </a:tbl>
          </a:graphicData>
        </a:graphic>
      </p:graphicFrame>
      <p:sp>
        <p:nvSpPr>
          <p:cNvPr id="35" name="Textfeld 34">
            <a:extLst>
              <a:ext uri="{FF2B5EF4-FFF2-40B4-BE49-F238E27FC236}">
                <a16:creationId xmlns:a16="http://schemas.microsoft.com/office/drawing/2014/main" id="{2A50BD0F-EBAF-6B9C-F9F9-566A6C7554F1}"/>
              </a:ext>
            </a:extLst>
          </p:cNvPr>
          <p:cNvSpPr txBox="1"/>
          <p:nvPr/>
        </p:nvSpPr>
        <p:spPr>
          <a:xfrm>
            <a:off x="9831290" y="3869049"/>
            <a:ext cx="1415829" cy="2250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latin typeface="+mn-lt"/>
              </a:rPr>
              <a:t>Assigned</a:t>
            </a:r>
            <a:r>
              <a:rPr lang="de-DE" sz="1400" dirty="0">
                <a:latin typeface="+mn-lt"/>
              </a:rPr>
              <a:t> </a:t>
            </a:r>
            <a:r>
              <a:rPr lang="de-DE" sz="1400" dirty="0" err="1">
                <a:latin typeface="+mn-lt"/>
              </a:rPr>
              <a:t>values</a:t>
            </a:r>
            <a:endParaRPr lang="en-US" sz="1400" dirty="0" err="1">
              <a:latin typeface="+mn-lt"/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47AA634-22B1-1A16-BB30-15A3968D62A8}"/>
              </a:ext>
            </a:extLst>
          </p:cNvPr>
          <p:cNvCxnSpPr>
            <a:stCxn id="20" idx="3"/>
          </p:cNvCxnSpPr>
          <p:nvPr/>
        </p:nvCxnSpPr>
        <p:spPr>
          <a:xfrm>
            <a:off x="9559522" y="4576914"/>
            <a:ext cx="258583" cy="3699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D38188D-826F-0289-AC35-B5F9CF33BBF7}"/>
              </a:ext>
            </a:extLst>
          </p:cNvPr>
          <p:cNvCxnSpPr>
            <a:stCxn id="21" idx="3"/>
          </p:cNvCxnSpPr>
          <p:nvPr/>
        </p:nvCxnSpPr>
        <p:spPr>
          <a:xfrm flipV="1">
            <a:off x="9546336" y="4572000"/>
            <a:ext cx="271769" cy="385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AC58B517-AC8C-7645-DE54-5CD7F36376D7}"/>
              </a:ext>
            </a:extLst>
          </p:cNvPr>
          <p:cNvCxnSpPr>
            <a:stCxn id="22" idx="3"/>
          </p:cNvCxnSpPr>
          <p:nvPr/>
        </p:nvCxnSpPr>
        <p:spPr>
          <a:xfrm>
            <a:off x="9546336" y="5329010"/>
            <a:ext cx="2717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BF642EC4-0EB9-E254-8533-2B8670748E06}"/>
              </a:ext>
            </a:extLst>
          </p:cNvPr>
          <p:cNvCxnSpPr/>
          <p:nvPr/>
        </p:nvCxnSpPr>
        <p:spPr>
          <a:xfrm flipV="1">
            <a:off x="9546336" y="5715000"/>
            <a:ext cx="271769" cy="91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elle 44">
            <a:extLst>
              <a:ext uri="{FF2B5EF4-FFF2-40B4-BE49-F238E27FC236}">
                <a16:creationId xmlns:a16="http://schemas.microsoft.com/office/drawing/2014/main" id="{2C456137-258D-7205-7F66-D4A661A4A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958367"/>
              </p:ext>
            </p:extLst>
          </p:nvPr>
        </p:nvGraphicFramePr>
        <p:xfrm>
          <a:off x="6242801" y="4098683"/>
          <a:ext cx="1524000" cy="2095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6898600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650688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ddho_ref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ddho__per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7655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…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95694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272.750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275.750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50809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19599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213.000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214.000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6982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26561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307.250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309.250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1852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61932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439.000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438.000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99866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20583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472.750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475.750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07371012"/>
                  </a:ext>
                </a:extLst>
              </a:tr>
            </a:tbl>
          </a:graphicData>
        </a:graphic>
      </p:graphicFrame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DAE9EF17-F302-E669-9109-841ED1C50D5E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7760208" y="6099048"/>
            <a:ext cx="262128" cy="4198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DA333E06-9C3B-1971-D785-75CCA6293F4F}"/>
              </a:ext>
            </a:extLst>
          </p:cNvPr>
          <p:cNvSpPr txBox="1"/>
          <p:nvPr/>
        </p:nvSpPr>
        <p:spPr>
          <a:xfrm>
            <a:off x="8022336" y="6390308"/>
            <a:ext cx="1517407" cy="257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1600" dirty="0">
                <a:latin typeface="+mn-lt"/>
              </a:rPr>
              <a:t>Error 404</a:t>
            </a:r>
            <a:endParaRPr lang="en-US" sz="16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9709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F37B8-7A5D-56E2-0CCE-A8782257D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3422239-7CB6-1F16-AC35-AF109C49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4" y="2454866"/>
            <a:ext cx="4759194" cy="3867353"/>
          </a:xfrm>
        </p:spPr>
        <p:txBody>
          <a:bodyPr/>
          <a:lstStyle/>
          <a:p>
            <a:r>
              <a:rPr lang="de-DE" b="1" dirty="0"/>
              <a:t>Idea</a:t>
            </a:r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Data </a:t>
            </a:r>
            <a:r>
              <a:rPr lang="de-DE" dirty="0" err="1"/>
              <a:t>has</a:t>
            </a:r>
            <a:r>
              <a:rPr lang="de-DE" dirty="0"/>
              <a:t> a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point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Fit </a:t>
            </a:r>
            <a:r>
              <a:rPr lang="de-DE" dirty="0" err="1"/>
              <a:t>one</a:t>
            </a:r>
            <a:r>
              <a:rPr lang="de-DE" dirty="0"/>
              <a:t> polynomial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on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point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Create a </a:t>
            </a:r>
            <a:r>
              <a:rPr lang="de-DE" dirty="0" err="1"/>
              <a:t>third</a:t>
            </a:r>
            <a:r>
              <a:rPr lang="de-DE" dirty="0"/>
              <a:t> polynomial </a:t>
            </a:r>
            <a:r>
              <a:rPr lang="de-DE" dirty="0" err="1"/>
              <a:t>with</a:t>
            </a:r>
            <a:r>
              <a:rPr lang="de-DE" dirty="0"/>
              <a:t> a smooth </a:t>
            </a:r>
            <a:r>
              <a:rPr lang="de-DE" dirty="0" err="1"/>
              <a:t>transition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point</a:t>
            </a:r>
            <a:endParaRPr lang="de-DE" dirty="0"/>
          </a:p>
          <a:p>
            <a:r>
              <a:rPr lang="de-DE" b="1" dirty="0" err="1"/>
              <a:t>Difficulties</a:t>
            </a:r>
            <a:endParaRPr lang="de-DE" b="1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 err="1"/>
              <a:t>Identifying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point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Smooth </a:t>
            </a:r>
            <a:r>
              <a:rPr lang="de-DE" dirty="0" err="1"/>
              <a:t>transition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point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The </a:t>
            </a:r>
            <a:r>
              <a:rPr lang="de-DE" dirty="0" err="1"/>
              <a:t>third</a:t>
            </a:r>
            <a:r>
              <a:rPr lang="de-DE" dirty="0"/>
              <a:t> Polynomial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convex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D3ED90-FEBC-5E37-BA2B-BA7E5C5A7B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CE58CB1E-F828-4F11-99E0-327109AF9DA4}" type="slidenum">
              <a:rPr lang="de-DE">
                <a:solidFill>
                  <a:prstClr val="black"/>
                </a:solidFill>
                <a:latin typeface="Arial" charset="0"/>
                <a:cs typeface="Arial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de-DE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2C59C7-2FA7-517B-5933-1F08A9204A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 smooth polynomial </a:t>
            </a:r>
            <a:r>
              <a:rPr lang="de-DE" dirty="0" err="1"/>
              <a:t>calculated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polynomials</a:t>
            </a:r>
            <a:endParaRPr lang="de-DE" dirty="0"/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6935F95-BA2E-072A-AC21-9D1A5513E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Fitting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Curve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DC70C4F-577B-2DCB-1BCC-2927E8583C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err="1"/>
              <a:t>Piecewise</a:t>
            </a:r>
            <a:r>
              <a:rPr lang="de-DE" dirty="0"/>
              <a:t> Polynomial</a:t>
            </a:r>
          </a:p>
        </p:txBody>
      </p:sp>
      <p:pic>
        <p:nvPicPr>
          <p:cNvPr id="8" name="Grafik 7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9758553-3564-05FE-9403-FA98D3CAC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474" y="1966902"/>
            <a:ext cx="5837504" cy="437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26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7F2A-3462-809D-969D-DA232B8E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3500D62-50BD-8089-D77A-905BCE8B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4" y="2454866"/>
            <a:ext cx="11345332" cy="3867353"/>
          </a:xfrm>
        </p:spPr>
        <p:txBody>
          <a:bodyPr/>
          <a:lstStyle/>
          <a:p>
            <a:r>
              <a:rPr lang="de-DE" b="1" dirty="0"/>
              <a:t>Idea</a:t>
            </a:r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Put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logspace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Select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(s)</a:t>
            </a:r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piecewise</a:t>
            </a:r>
            <a:r>
              <a:rPr lang="de-DE" dirty="0"/>
              <a:t> linear </a:t>
            </a:r>
            <a:r>
              <a:rPr lang="de-DE" dirty="0" err="1"/>
              <a:t>regressions</a:t>
            </a:r>
            <a:endParaRPr lang="de-DE" dirty="0"/>
          </a:p>
          <a:p>
            <a:endParaRPr lang="de-DE" b="1" dirty="0"/>
          </a:p>
          <a:p>
            <a:r>
              <a:rPr lang="de-DE" b="1" dirty="0" err="1"/>
              <a:t>Difficulties</a:t>
            </a:r>
            <a:endParaRPr lang="de-DE" b="1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 err="1"/>
              <a:t>Identifying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(s)</a:t>
            </a:r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Smooth </a:t>
            </a:r>
            <a:r>
              <a:rPr lang="de-DE" dirty="0" err="1"/>
              <a:t>transition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(s)</a:t>
            </a:r>
          </a:p>
          <a:p>
            <a:pPr marL="342900" indent="-342900">
              <a:buFont typeface="Arial" panose="020B0604020202020204" pitchFamily="34" charset="0"/>
              <a:buChar char="—"/>
            </a:pPr>
            <a:endParaRPr lang="de-DE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3DEB76-BFE4-2A25-BEAA-EEFA7FED1E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CE58CB1E-F828-4F11-99E0-327109AF9DA4}" type="slidenum">
              <a:rPr lang="de-DE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de-DE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0803A64-FC4F-78CF-2DBA-66160A6110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Applying a linear regression in logspace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21E8FD4-E92A-CF3B-B6BD-EE1D828B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Fitting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Curve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D917C1F-72F0-269C-8E1D-31335EA0A5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Linear Regression in </a:t>
            </a:r>
            <a:r>
              <a:rPr lang="de-DE" dirty="0" err="1"/>
              <a:t>Logspace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075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07213-AC3C-A9C1-A8A5-EFDD8719F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5EE66E3F-72C8-3EF7-9AEA-2302FE552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62" y="2118578"/>
            <a:ext cx="5801838" cy="382684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71D7B8D-C998-018A-0EDB-55BC05D3A3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A5C40D9-A977-1B7B-60D1-2C973F978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Best OFV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Assignment</a:t>
            </a:r>
            <a:r>
              <a:rPr lang="de-DE" dirty="0"/>
              <a:t> 1: 0.092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↔ Mean OFV = 0.126</a:t>
            </a:r>
            <a:endParaRPr lang="en-US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C666BA1-3B0D-EE85-2819-B5E7BA39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507F7D0-F7ED-A2E8-1A11-3FC66725F2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err="1"/>
              <a:t>Objective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Value</a:t>
            </a:r>
            <a:endParaRPr lang="en-US" dirty="0"/>
          </a:p>
        </p:txBody>
      </p:sp>
      <p:pic>
        <p:nvPicPr>
          <p:cNvPr id="11" name="Grafik 10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A1F1645F-9E5C-F208-2A81-90946BE64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548" y="2118578"/>
            <a:ext cx="5801838" cy="382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57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066A-3E7F-12F2-5FB3-4E924DBE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41B9D88-5C34-2E8E-F5BE-E1D159750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51ED9E-8C15-94E4-E77A-840B65C680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883" y="1820224"/>
            <a:ext cx="3135920" cy="67373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Small </a:t>
            </a:r>
            <a:r>
              <a:rPr lang="de-DE" dirty="0" err="1"/>
              <a:t>changes</a:t>
            </a:r>
            <a:r>
              <a:rPr lang="de-DE" dirty="0"/>
              <a:t> in </a:t>
            </a:r>
            <a:r>
              <a:rPr lang="de-DE" dirty="0" err="1"/>
              <a:t>depth</a:t>
            </a:r>
            <a:r>
              <a:rPr lang="de-DE" dirty="0"/>
              <a:t> </a:t>
            </a:r>
            <a:r>
              <a:rPr lang="de-DE" dirty="0" err="1"/>
              <a:t>lead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notable </a:t>
            </a:r>
            <a:r>
              <a:rPr lang="de-DE" dirty="0" err="1"/>
              <a:t>differences</a:t>
            </a:r>
            <a:r>
              <a:rPr lang="de-DE" dirty="0"/>
              <a:t> in </a:t>
            </a:r>
            <a:r>
              <a:rPr lang="de-DE" dirty="0" err="1"/>
              <a:t>discharge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—"/>
            </a:pPr>
            <a:r>
              <a:rPr lang="en-US" dirty="0"/>
              <a:t>Peaks are the susceptible to change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A50CBDA-2AB6-36D7-567A-A59CE8676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A93109-AC96-97B3-3DCE-4C56D3962D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Random </a:t>
            </a:r>
            <a:r>
              <a:rPr lang="de-DE" dirty="0" err="1"/>
              <a:t>Simulations</a:t>
            </a:r>
            <a:endParaRPr lang="en-US" dirty="0"/>
          </a:p>
        </p:txBody>
      </p:sp>
      <p:pic>
        <p:nvPicPr>
          <p:cNvPr id="15" name="Inhaltsplatzhalter 14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EBB26AD7-E3DF-FC2F-D149-D4D501FA9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802" y="1589122"/>
            <a:ext cx="7877168" cy="477357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E179A7CF-19DB-E6A9-32D3-D0588A36861B}"/>
              </a:ext>
            </a:extLst>
          </p:cNvPr>
          <p:cNvSpPr txBox="1"/>
          <p:nvPr/>
        </p:nvSpPr>
        <p:spPr>
          <a:xfrm>
            <a:off x="7489386" y="1627222"/>
            <a:ext cx="115597" cy="19300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200" dirty="0">
                <a:latin typeface="+mn-lt"/>
              </a:rPr>
              <a:t>2</a:t>
            </a:r>
            <a:endParaRPr lang="en-US" sz="12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476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20E-003F-4786-694B-5A5F84B0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917594-81F1-CFAB-56ED-781AC1B754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A73E6BB-0496-EA20-360A-364F98476A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28E3720-69D0-1244-C6CB-A0DDAF18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59BC6A4-CDB9-F3EB-6CD3-9E6EAAE971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err="1"/>
              <a:t>Paramteres</a:t>
            </a:r>
            <a:endParaRPr lang="en-US" dirty="0"/>
          </a:p>
        </p:txBody>
      </p:sp>
      <p:pic>
        <p:nvPicPr>
          <p:cNvPr id="13" name="Inhaltsplatzhalter 12">
            <a:extLst>
              <a:ext uri="{FF2B5EF4-FFF2-40B4-BE49-F238E27FC236}">
                <a16:creationId xmlns:a16="http://schemas.microsoft.com/office/drawing/2014/main" id="{AA25E869-6D3F-4350-3B28-D58D9E516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82" y="1351550"/>
            <a:ext cx="11354462" cy="48148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00661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85857-6ECD-00A2-9206-5907F663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A90DC6F-7D91-EC2E-F8DE-C28D63364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—"/>
            </a:pPr>
            <a:r>
              <a:rPr lang="de-DE" dirty="0"/>
              <a:t> A </a:t>
            </a:r>
            <a:r>
              <a:rPr lang="de-DE" dirty="0" err="1"/>
              <a:t>relatively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perturbation</a:t>
            </a:r>
            <a:r>
              <a:rPr lang="de-DE" dirty="0"/>
              <a:t> in </a:t>
            </a:r>
            <a:r>
              <a:rPr lang="de-DE" dirty="0" err="1"/>
              <a:t>depth</a:t>
            </a:r>
            <a:r>
              <a:rPr lang="de-DE" dirty="0"/>
              <a:t> ( 5/250 = 2 %) </a:t>
            </a:r>
            <a:r>
              <a:rPr lang="de-DE" dirty="0" err="1"/>
              <a:t>leads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relatively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differences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OFV 0.370 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CD81E52-2560-0047-6E77-C9E1EBB2AA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FB11097-8E4E-F362-DF35-15733A8769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uncertain</a:t>
            </a:r>
            <a:r>
              <a:rPr lang="de-DE" dirty="0"/>
              <a:t> </a:t>
            </a:r>
            <a:r>
              <a:rPr lang="de-DE" dirty="0" err="1"/>
              <a:t>discharge</a:t>
            </a:r>
            <a:r>
              <a:rPr lang="de-DE" dirty="0"/>
              <a:t>? </a:t>
            </a:r>
            <a:endParaRPr lang="en-US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B0F8554-82D5-1263-0A8D-299518AB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3DBC4F9-2B43-B99E-3869-B8146657C3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err="1"/>
              <a:t>Discussion</a:t>
            </a:r>
            <a:endParaRPr lang="en-US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F9090FDC-2103-89C5-B433-68FB8D5C0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129118"/>
              </p:ext>
            </p:extLst>
          </p:nvPr>
        </p:nvGraphicFramePr>
        <p:xfrm>
          <a:off x="905245" y="3300941"/>
          <a:ext cx="8128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258977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94751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549145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22930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06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7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OFV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6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948036"/>
      </p:ext>
    </p:extLst>
  </p:cSld>
  <p:clrMapOvr>
    <a:masterClrMapping/>
  </p:clrMapOvr>
</p:sld>
</file>

<file path=ppt/theme/theme1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2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Breitbild</PresentationFormat>
  <Paragraphs>158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 Narrow</vt:lpstr>
      <vt:lpstr>Arial</vt:lpstr>
      <vt:lpstr>Symbol</vt:lpstr>
      <vt:lpstr>Inhalt</vt:lpstr>
      <vt:lpstr>Titel 3</vt:lpstr>
      <vt:lpstr>Assignment 5</vt:lpstr>
      <vt:lpstr>Preconsiderations</vt:lpstr>
      <vt:lpstr>Fitting the Curve</vt:lpstr>
      <vt:lpstr>Fitting the Curve</vt:lpstr>
      <vt:lpstr>Fitting the Curve</vt:lpstr>
      <vt:lpstr>Results</vt:lpstr>
      <vt:lpstr>Results</vt:lpstr>
      <vt:lpstr>Results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Olander</dc:creator>
  <cp:lastModifiedBy>Vincent Olander</cp:lastModifiedBy>
  <cp:revision>13</cp:revision>
  <dcterms:created xsi:type="dcterms:W3CDTF">2026-02-05T14:45:12Z</dcterms:created>
  <dcterms:modified xsi:type="dcterms:W3CDTF">2026-02-05T18:30:46Z</dcterms:modified>
</cp:coreProperties>
</file>