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62" r:id="rId4"/>
    <p:sldId id="267" r:id="rId5"/>
    <p:sldId id="258" r:id="rId6"/>
    <p:sldId id="259" r:id="rId7"/>
    <p:sldId id="260" r:id="rId8"/>
    <p:sldId id="263" r:id="rId9"/>
    <p:sldId id="261" r:id="rId10"/>
    <p:sldId id="264" r:id="rId11"/>
    <p:sldId id="269" r:id="rId12"/>
    <p:sldId id="270" r:id="rId13"/>
    <p:sldId id="268" r:id="rId14"/>
    <p:sldId id="271"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478"/>
    <p:restoredTop sz="94610"/>
  </p:normalViewPr>
  <p:slideViewPr>
    <p:cSldViewPr snapToGrid="0" snapToObjects="1">
      <p:cViewPr varScale="1">
        <p:scale>
          <a:sx n="105" d="100"/>
          <a:sy n="105" d="100"/>
        </p:scale>
        <p:origin x="5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35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plots and exported slides from prior assignment (local files).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Baseline figure: extracted from user-provided Assignment_3_Improved.pptx (slide 5).
- A4 precipitation CDF: user-generated plot (1_cdf_precipitation.png).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Boxplots: user-generated (6_boxplot_*.png).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61BAD-0A93-6BEE-8FB1-C80E93A70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C291F-1DAA-B5E0-F980-4A768DBCB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12423-6577-DDA5-885F-CB7499DAFD00}"/>
              </a:ext>
            </a:extLst>
          </p:cNvPr>
          <p:cNvSpPr>
            <a:spLocks noGrp="1"/>
          </p:cNvSpPr>
          <p:nvPr>
            <p:ph type="body" idx="1"/>
          </p:nvPr>
        </p:nvSpPr>
        <p:spPr/>
        <p:txBody>
          <a:bodyPr/>
          <a:lstStyle/>
          <a:p>
            <a:r>
              <a:rPr lang="en-US" dirty="0"/>
              <a:t>[Sources]
- Boxplots: user-generated (6_boxplot_*.png).
[/Sources]</a:t>
            </a:r>
          </a:p>
        </p:txBody>
      </p:sp>
      <p:sp>
        <p:nvSpPr>
          <p:cNvPr id="4" name="Slide Number Placeholder 3">
            <a:extLst>
              <a:ext uri="{FF2B5EF4-FFF2-40B4-BE49-F238E27FC236}">
                <a16:creationId xmlns:a16="http://schemas.microsoft.com/office/drawing/2014/main" id="{02C81FB8-1F4A-A1FA-F9AF-F518B947396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596447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A4 scatter plot: user-generated (5_scatter_relative_change.png).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A4 OFV CDF: user-generated (2_cdf_ofvs.png).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A4 OFV scatter: user-generated (4_scatter_ofvs.png).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Method slide excerpt: extracted from user-provided Assignment_3_Improved.pptx (slide 15).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Baseline: extracted from user-provided Assignment_3_Improved.pptx (slide 5).
- A4 hydrograph: user-generated (7_hydrograph.png).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Q1–Q3 numbers: user-provided run output in chat.
- CDF figure: user-generated (2_cdf_ofvs.png).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96299-A1F5-1743-395C-6FCC4FA78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ED926-5100-1651-D95D-A33C8F9A5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E5FA2-0BCE-D889-A4E4-27FFFE73B052}"/>
              </a:ext>
            </a:extLst>
          </p:cNvPr>
          <p:cNvSpPr>
            <a:spLocks noGrp="1"/>
          </p:cNvSpPr>
          <p:nvPr>
            <p:ph type="body" idx="1"/>
          </p:nvPr>
        </p:nvSpPr>
        <p:spPr/>
        <p:txBody>
          <a:bodyPr/>
          <a:lstStyle/>
          <a:p>
            <a:r>
              <a:rPr lang="en-US" dirty="0"/>
              <a:t>[Sources]
- Q1–Q3 numbers: user-provided run output in chat.
- CDF figure: user-generated (2_cdf_ofvs.png).
[/Sources]</a:t>
            </a:r>
          </a:p>
        </p:txBody>
      </p:sp>
      <p:sp>
        <p:nvSpPr>
          <p:cNvPr id="4" name="Slide Number Placeholder 3">
            <a:extLst>
              <a:ext uri="{FF2B5EF4-FFF2-40B4-BE49-F238E27FC236}">
                <a16:creationId xmlns:a16="http://schemas.microsoft.com/office/drawing/2014/main" id="{3E3E8EE7-79B3-72FB-5C27-E049A937967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30518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18A16-85EA-6758-383D-E1FEE5DEB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ABCE0-7FE6-1A92-CCE2-221C262A6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F10F6-0B3F-1087-14A1-51558766BD51}"/>
              </a:ext>
            </a:extLst>
          </p:cNvPr>
          <p:cNvSpPr>
            <a:spLocks noGrp="1"/>
          </p:cNvSpPr>
          <p:nvPr>
            <p:ph type="body" idx="1"/>
          </p:nvPr>
        </p:nvSpPr>
        <p:spPr/>
        <p:txBody>
          <a:bodyPr/>
          <a:lstStyle/>
          <a:p>
            <a:r>
              <a:rPr lang="en-US" dirty="0"/>
              <a:t>[Sources]
- Q1–Q3 numbers: user-provided run output in chat.
- CDF figure: user-generated (2_cdf_ofvs.png).
[/Sources]</a:t>
            </a:r>
          </a:p>
        </p:txBody>
      </p:sp>
      <p:sp>
        <p:nvSpPr>
          <p:cNvPr id="4" name="Slide Number Placeholder 3">
            <a:extLst>
              <a:ext uri="{FF2B5EF4-FFF2-40B4-BE49-F238E27FC236}">
                <a16:creationId xmlns:a16="http://schemas.microsoft.com/office/drawing/2014/main" id="{12AD96EA-B1F1-858C-58D8-CAB64954E48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581087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CAAA5-7EC5-47A5-5C8F-F2264CD961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29556-71CE-0EB2-C1C5-C2F944C3B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AA713-57B1-5405-62C0-C9C6716885FC}"/>
              </a:ext>
            </a:extLst>
          </p:cNvPr>
          <p:cNvSpPr>
            <a:spLocks noGrp="1"/>
          </p:cNvSpPr>
          <p:nvPr>
            <p:ph type="body" idx="1"/>
          </p:nvPr>
        </p:nvSpPr>
        <p:spPr/>
        <p:txBody>
          <a:bodyPr/>
          <a:lstStyle/>
          <a:p>
            <a:r>
              <a:rPr lang="en-US" dirty="0"/>
              <a:t>[Sources]
- Q1–Q3 numbers: user-provided run output in chat.
- CDF figure: user-generated (2_cdf_ofvs.png).
[/Sources]</a:t>
            </a:r>
          </a:p>
        </p:txBody>
      </p:sp>
      <p:sp>
        <p:nvSpPr>
          <p:cNvPr id="4" name="Slide Number Placeholder 3">
            <a:extLst>
              <a:ext uri="{FF2B5EF4-FFF2-40B4-BE49-F238E27FC236}">
                <a16:creationId xmlns:a16="http://schemas.microsoft.com/office/drawing/2014/main" id="{69665171-286E-AB93-9090-70C53DCD80C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25883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DE"/>
          </a:p>
        </p:txBody>
      </p:sp>
      <p:sp>
        <p:nvSpPr>
          <p:cNvPr id="3" name="Shape 1"/>
          <p:cNvSpPr/>
          <p:nvPr/>
        </p:nvSpPr>
        <p:spPr>
          <a:xfrm>
            <a:off x="305" y="0"/>
            <a:ext cx="12191695" cy="6858000"/>
          </a:xfrm>
          <a:prstGeom prst="rect">
            <a:avLst/>
          </a:prstGeom>
          <a:solidFill>
            <a:srgbClr val="0B3D91"/>
          </a:solidFill>
          <a:ln w="12700">
            <a:solidFill>
              <a:srgbClr val="0B3D91"/>
            </a:solidFill>
            <a:prstDash val="solid"/>
          </a:ln>
        </p:spPr>
        <p:txBody>
          <a:bodyPr/>
          <a:lstStyle/>
          <a:p>
            <a:endParaRPr lang="en-DE"/>
          </a:p>
        </p:txBody>
      </p:sp>
      <p:sp>
        <p:nvSpPr>
          <p:cNvPr id="4" name="Text 2"/>
          <p:cNvSpPr/>
          <p:nvPr/>
        </p:nvSpPr>
        <p:spPr>
          <a:xfrm>
            <a:off x="731520" y="594360"/>
            <a:ext cx="10728655" cy="64008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HBV Input Uncertainty: Assignment 4</a:t>
            </a:r>
            <a:endParaRPr lang="en-US" sz="3400" dirty="0"/>
          </a:p>
        </p:txBody>
      </p:sp>
      <p:sp>
        <p:nvSpPr>
          <p:cNvPr id="5" name="Text 3"/>
          <p:cNvSpPr/>
          <p:nvPr/>
        </p:nvSpPr>
        <p:spPr>
          <a:xfrm>
            <a:off x="731520" y="1989159"/>
            <a:ext cx="10728655" cy="320040"/>
          </a:xfrm>
          <a:prstGeom prst="rect">
            <a:avLst/>
          </a:prstGeom>
          <a:noFill/>
          <a:ln/>
        </p:spPr>
        <p:txBody>
          <a:bodyPr wrap="square" rtlCol="0" anchor="ctr"/>
          <a:lstStyle/>
          <a:p>
            <a:pPr marL="0" indent="0">
              <a:buNone/>
            </a:pPr>
            <a:r>
              <a:rPr lang="en-US" sz="1800" dirty="0">
                <a:solidFill>
                  <a:srgbClr val="E5E7EB"/>
                </a:solidFill>
                <a:latin typeface="Calibri" pitchFamily="34" charset="0"/>
                <a:ea typeface="Calibri" pitchFamily="34" charset="-122"/>
                <a:cs typeface="Calibri" pitchFamily="34" charset="-120"/>
              </a:rPr>
              <a:t>Impact of precipitation uncertainty and recalibration</a:t>
            </a:r>
          </a:p>
          <a:p>
            <a:pPr marL="0" indent="0">
              <a:buNone/>
            </a:pPr>
            <a:endParaRPr lang="en-US" dirty="0">
              <a:solidFill>
                <a:srgbClr val="E5E7EB"/>
              </a:solidFill>
              <a:latin typeface="Calibri" pitchFamily="34" charset="0"/>
              <a:ea typeface="Calibri" pitchFamily="34" charset="-122"/>
              <a:cs typeface="Calibri" pitchFamily="34" charset="-120"/>
            </a:endParaRPr>
          </a:p>
          <a:p>
            <a:pPr marL="0" indent="0">
              <a:buNone/>
            </a:pPr>
            <a:r>
              <a:rPr lang="en-US" sz="1800" dirty="0">
                <a:solidFill>
                  <a:srgbClr val="E5E7EB"/>
                </a:solidFill>
                <a:latin typeface="Calibri" pitchFamily="34" charset="0"/>
                <a:ea typeface="Calibri" pitchFamily="34" charset="-122"/>
                <a:cs typeface="Calibri" pitchFamily="34" charset="-120"/>
              </a:rPr>
              <a:t>Group A: Adrien, Nafisa, Vincent</a:t>
            </a:r>
          </a:p>
          <a:p>
            <a:pPr marL="0" indent="0">
              <a:buNone/>
            </a:pPr>
            <a:endParaRPr lang="en-US" sz="1800" dirty="0"/>
          </a:p>
        </p:txBody>
      </p:sp>
      <p:sp>
        <p:nvSpPr>
          <p:cNvPr id="12" name="Shape 7"/>
          <p:cNvSpPr/>
          <p:nvPr/>
        </p:nvSpPr>
        <p:spPr>
          <a:xfrm>
            <a:off x="0" y="6583680"/>
            <a:ext cx="12191695" cy="274320"/>
          </a:xfrm>
          <a:prstGeom prst="rect">
            <a:avLst/>
          </a:prstGeom>
          <a:solidFill>
            <a:srgbClr val="F3F4F6"/>
          </a:solidFill>
          <a:ln w="12700">
            <a:solidFill>
              <a:srgbClr val="F3F4F6"/>
            </a:solidFill>
            <a:prstDash val="solid"/>
          </a:ln>
        </p:spPr>
        <p:txBody>
          <a:bodyPr/>
          <a:lstStyle/>
          <a:p>
            <a:endParaRPr lang="en-DE"/>
          </a:p>
        </p:txBody>
      </p:sp>
      <p:sp>
        <p:nvSpPr>
          <p:cNvPr id="13" name="Text 8"/>
          <p:cNvSpPr/>
          <p:nvPr/>
        </p:nvSpPr>
        <p:spPr>
          <a:xfrm>
            <a:off x="548640" y="6638544"/>
            <a:ext cx="11094415" cy="18288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MMUQ – Assignment 4 summary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1"/>
            <a:ext cx="12191695" cy="806779"/>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 is being compared?</a:t>
            </a:r>
            <a:endParaRPr lang="en-US" sz="2600" dirty="0"/>
          </a:p>
        </p:txBody>
      </p:sp>
      <p:sp>
        <p:nvSpPr>
          <p:cNvPr id="4" name="Text 2"/>
          <p:cNvSpPr/>
          <p:nvPr/>
        </p:nvSpPr>
        <p:spPr>
          <a:xfrm>
            <a:off x="548639" y="484633"/>
            <a:ext cx="11094415" cy="201168"/>
          </a:xfrm>
          <a:prstGeom prst="rect">
            <a:avLst/>
          </a:prstGeom>
          <a:noFill/>
          <a:ln/>
        </p:spPr>
        <p:txBody>
          <a:bodyPr wrap="square" rtlCol="0" anchor="ctr"/>
          <a:lstStyle/>
          <a:p>
            <a:pPr marL="0" indent="0">
              <a:buNone/>
            </a:pPr>
            <a:r>
              <a:rPr lang="en-US" sz="1400" dirty="0">
                <a:solidFill>
                  <a:srgbClr val="E5E7EB"/>
                </a:solidFill>
                <a:latin typeface="Calibri" pitchFamily="34" charset="0"/>
                <a:ea typeface="Calibri" pitchFamily="34" charset="-122"/>
                <a:cs typeface="Calibri" pitchFamily="34" charset="-120"/>
              </a:rPr>
              <a:t>Fixed input calibration (A1) vs precipitation-uncertainty experiment (A4)</a:t>
            </a:r>
            <a:endParaRPr lang="en-US" sz="1400" dirty="0"/>
          </a:p>
        </p:txBody>
      </p:sp>
      <p:sp>
        <p:nvSpPr>
          <p:cNvPr id="5" name="Shape 3"/>
          <p:cNvSpPr/>
          <p:nvPr/>
        </p:nvSpPr>
        <p:spPr>
          <a:xfrm>
            <a:off x="640080" y="1097280"/>
            <a:ext cx="5577840" cy="5257800"/>
          </a:xfrm>
          <a:prstGeom prst="roundRect">
            <a:avLst/>
          </a:prstGeom>
          <a:solidFill>
            <a:srgbClr val="FFFFFF"/>
          </a:solidFill>
          <a:ln w="12700">
            <a:solidFill>
              <a:srgbClr val="D1D5DB"/>
            </a:solidFill>
            <a:prstDash val="solid"/>
          </a:ln>
          <a:effectLst>
            <a:outerShdw blurRad="31750" dist="15240" dir="2700000" algn="bl" rotWithShape="0">
              <a:srgbClr val="000000">
                <a:alpha val="12000"/>
              </a:srgbClr>
            </a:outerShdw>
          </a:effectLst>
        </p:spPr>
        <p:txBody>
          <a:bodyPr/>
          <a:lstStyle/>
          <a:p>
            <a:endParaRPr lang="en-DE"/>
          </a:p>
        </p:txBody>
      </p:sp>
      <p:sp>
        <p:nvSpPr>
          <p:cNvPr id="6" name="Text 4"/>
          <p:cNvSpPr/>
          <p:nvPr/>
        </p:nvSpPr>
        <p:spPr>
          <a:xfrm>
            <a:off x="914400" y="1234440"/>
            <a:ext cx="5029200" cy="274320"/>
          </a:xfrm>
          <a:prstGeom prst="rect">
            <a:avLst/>
          </a:prstGeom>
          <a:noFill/>
          <a:ln/>
        </p:spPr>
        <p:txBody>
          <a:bodyPr wrap="square" rtlCol="0" anchor="ctr"/>
          <a:lstStyle/>
          <a:p>
            <a:pPr marL="0" indent="0">
              <a:buNone/>
            </a:pPr>
            <a:r>
              <a:rPr lang="en-US" sz="1800" b="1" dirty="0">
                <a:solidFill>
                  <a:srgbClr val="163E6E"/>
                </a:solidFill>
                <a:latin typeface="Calibri" pitchFamily="34" charset="0"/>
                <a:ea typeface="Calibri" pitchFamily="34" charset="-122"/>
                <a:cs typeface="Calibri" pitchFamily="34" charset="-120"/>
              </a:rPr>
              <a:t>Recall: Assignment 1 </a:t>
            </a:r>
            <a:endParaRPr lang="en-US" sz="1800" dirty="0"/>
          </a:p>
        </p:txBody>
      </p:sp>
      <p:sp>
        <p:nvSpPr>
          <p:cNvPr id="7" name="Text 5"/>
          <p:cNvSpPr/>
          <p:nvPr/>
        </p:nvSpPr>
        <p:spPr>
          <a:xfrm>
            <a:off x="914400" y="1600200"/>
            <a:ext cx="5120640" cy="822960"/>
          </a:xfrm>
          <a:prstGeom prst="rect">
            <a:avLst/>
          </a:prstGeom>
          <a:noFill/>
          <a:ln/>
        </p:spPr>
        <p:txBody>
          <a:bodyPr wrap="square" rtlCol="0" anchor="ctr"/>
          <a:lstStyle/>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Calibrate HBV on reference forcing using DE</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Produce “best” parameter set (BEST_PARAMS)</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Report baseline NSE / OFV and hydrograph fit</a:t>
            </a:r>
            <a:endParaRPr lang="en-US" sz="1400" dirty="0"/>
          </a:p>
        </p:txBody>
      </p:sp>
      <p:pic>
        <p:nvPicPr>
          <p:cNvPr id="8" name="Image 0" descr="/mnt/data/asg1_slides_png2/slide-05.png"/>
          <p:cNvPicPr>
            <a:picLocks noChangeAspect="1"/>
          </p:cNvPicPr>
          <p:nvPr/>
        </p:nvPicPr>
        <p:blipFill>
          <a:blip r:embed="rId3"/>
          <a:stretch>
            <a:fillRect/>
          </a:stretch>
        </p:blipFill>
        <p:spPr>
          <a:xfrm>
            <a:off x="799759" y="2575921"/>
            <a:ext cx="5356871" cy="3014133"/>
          </a:xfrm>
          <a:prstGeom prst="rect">
            <a:avLst/>
          </a:prstGeom>
        </p:spPr>
      </p:pic>
      <p:sp>
        <p:nvSpPr>
          <p:cNvPr id="9" name="Shape 6"/>
          <p:cNvSpPr/>
          <p:nvPr/>
        </p:nvSpPr>
        <p:spPr>
          <a:xfrm>
            <a:off x="6355080" y="1097280"/>
            <a:ext cx="5193792" cy="5257800"/>
          </a:xfrm>
          <a:prstGeom prst="roundRect">
            <a:avLst/>
          </a:prstGeom>
          <a:solidFill>
            <a:srgbClr val="FFFFFF"/>
          </a:solidFill>
          <a:ln w="12700">
            <a:solidFill>
              <a:srgbClr val="D1D5DB"/>
            </a:solidFill>
            <a:prstDash val="solid"/>
          </a:ln>
          <a:effectLst>
            <a:outerShdw blurRad="31750" dist="15240" dir="2700000" algn="bl" rotWithShape="0">
              <a:srgbClr val="000000">
                <a:alpha val="12000"/>
              </a:srgbClr>
            </a:outerShdw>
          </a:effectLst>
        </p:spPr>
        <p:txBody>
          <a:bodyPr/>
          <a:lstStyle/>
          <a:p>
            <a:endParaRPr lang="en-DE"/>
          </a:p>
        </p:txBody>
      </p:sp>
      <p:sp>
        <p:nvSpPr>
          <p:cNvPr id="10" name="Text 7"/>
          <p:cNvSpPr/>
          <p:nvPr/>
        </p:nvSpPr>
        <p:spPr>
          <a:xfrm>
            <a:off x="6629400" y="1234440"/>
            <a:ext cx="4754880" cy="274320"/>
          </a:xfrm>
          <a:prstGeom prst="rect">
            <a:avLst/>
          </a:prstGeom>
          <a:noFill/>
          <a:ln/>
        </p:spPr>
        <p:txBody>
          <a:bodyPr wrap="square" rtlCol="0" anchor="ctr"/>
          <a:lstStyle/>
          <a:p>
            <a:pPr marL="0" indent="0">
              <a:buNone/>
            </a:pPr>
            <a:r>
              <a:rPr lang="en-US" sz="1800" b="1" dirty="0">
                <a:solidFill>
                  <a:srgbClr val="163E6E"/>
                </a:solidFill>
                <a:latin typeface="Calibri" pitchFamily="34" charset="0"/>
                <a:ea typeface="Calibri" pitchFamily="34" charset="-122"/>
                <a:cs typeface="Calibri" pitchFamily="34" charset="-120"/>
              </a:rPr>
              <a:t>Assignment 4 (Uncertainty)</a:t>
            </a:r>
            <a:endParaRPr lang="en-US" sz="1800" dirty="0"/>
          </a:p>
        </p:txBody>
      </p:sp>
      <p:sp>
        <p:nvSpPr>
          <p:cNvPr id="11" name="Text 8"/>
          <p:cNvSpPr/>
          <p:nvPr/>
        </p:nvSpPr>
        <p:spPr>
          <a:xfrm>
            <a:off x="6629400" y="1600200"/>
            <a:ext cx="4919472" cy="1930400"/>
          </a:xfrm>
          <a:prstGeom prst="rect">
            <a:avLst/>
          </a:prstGeom>
          <a:noFill/>
          <a:ln/>
        </p:spPr>
        <p:txBody>
          <a:bodyPr wrap="square" rtlCol="0" anchor="ctr"/>
          <a:lstStyle/>
          <a:p>
            <a:pPr>
              <a:buSzPct val="100000"/>
            </a:pPr>
            <a:r>
              <a:rPr lang="en-US" sz="1400" dirty="0">
                <a:solidFill>
                  <a:srgbClr val="1F2937"/>
                </a:solidFill>
                <a:latin typeface="Calibri" pitchFamily="34" charset="0"/>
                <a:ea typeface="Calibri" pitchFamily="34" charset="-122"/>
                <a:cs typeface="Calibri" pitchFamily="34" charset="-120"/>
              </a:rPr>
              <a:t>• Perturb precipitation:  P* = P × C</a:t>
            </a:r>
            <a:endParaRPr lang="en-US" sz="1400" dirty="0"/>
          </a:p>
          <a:p>
            <a:pPr>
              <a:buSzPct val="100000"/>
            </a:pPr>
            <a:r>
              <a:rPr lang="en-US" sz="1400" dirty="0">
                <a:solidFill>
                  <a:srgbClr val="1F2937"/>
                </a:solidFill>
                <a:latin typeface="Calibri" pitchFamily="34" charset="0"/>
                <a:ea typeface="Calibri" pitchFamily="34" charset="-122"/>
                <a:cs typeface="Calibri" pitchFamily="34" charset="-120"/>
              </a:rPr>
              <a:t>• C ~ N(1, 0.05) </a:t>
            </a:r>
          </a:p>
          <a:p>
            <a:pPr>
              <a:buSzPct val="100000"/>
            </a:pPr>
            <a:r>
              <a:rPr lang="en-US" sz="1400" dirty="0">
                <a:solidFill>
                  <a:srgbClr val="1F2937"/>
                </a:solidFill>
                <a:latin typeface="Calibri" pitchFamily="34" charset="0"/>
                <a:ea typeface="Calibri" pitchFamily="34" charset="-122"/>
                <a:cs typeface="Calibri" pitchFamily="34" charset="-120"/>
              </a:rPr>
              <a:t>• Scenario A: </a:t>
            </a:r>
          </a:p>
          <a:p>
            <a:pPr>
              <a:buSzPct val="100000"/>
            </a:pPr>
            <a:r>
              <a:rPr lang="en-US" sz="1400" dirty="0">
                <a:solidFill>
                  <a:srgbClr val="1F2937"/>
                </a:solidFill>
                <a:latin typeface="Calibri" pitchFamily="34" charset="0"/>
                <a:ea typeface="Calibri" pitchFamily="34" charset="-122"/>
                <a:cs typeface="Calibri" pitchFamily="34" charset="-120"/>
              </a:rPr>
              <a:t>  Perturbed precipitation series + parameters from assignment 1</a:t>
            </a:r>
            <a:endParaRPr lang="en-US" sz="1400" dirty="0"/>
          </a:p>
          <a:p>
            <a:pPr>
              <a:buSzPct val="100000"/>
            </a:pPr>
            <a:r>
              <a:rPr lang="en-US" sz="1400" dirty="0">
                <a:solidFill>
                  <a:srgbClr val="1F2937"/>
                </a:solidFill>
                <a:latin typeface="Calibri" pitchFamily="34" charset="0"/>
                <a:ea typeface="Calibri" pitchFamily="34" charset="-122"/>
                <a:cs typeface="Calibri" pitchFamily="34" charset="-120"/>
              </a:rPr>
              <a:t>• Scenario B: </a:t>
            </a:r>
          </a:p>
          <a:p>
            <a:pPr>
              <a:buSzPct val="100000"/>
            </a:pPr>
            <a:r>
              <a:rPr lang="en-US" sz="1400" dirty="0">
                <a:solidFill>
                  <a:srgbClr val="1F2937"/>
                </a:solidFill>
                <a:latin typeface="Calibri" pitchFamily="34" charset="0"/>
                <a:ea typeface="Calibri" pitchFamily="34" charset="-122"/>
                <a:cs typeface="Calibri" pitchFamily="34" charset="-120"/>
              </a:rPr>
              <a:t>  Perturbed precipitation series + parameters from recalibration</a:t>
            </a:r>
            <a:endParaRPr lang="en-US" sz="1400" dirty="0"/>
          </a:p>
          <a:p>
            <a:pPr>
              <a:buSzPct val="100000"/>
            </a:pPr>
            <a:r>
              <a:rPr lang="en-US" sz="1400" dirty="0">
                <a:solidFill>
                  <a:srgbClr val="1F2937"/>
                </a:solidFill>
                <a:latin typeface="Calibri" pitchFamily="34" charset="0"/>
                <a:ea typeface="Calibri" pitchFamily="34" charset="-122"/>
                <a:cs typeface="Calibri" pitchFamily="34" charset="-120"/>
              </a:rPr>
              <a:t>• Compare OFV/NSE + parameter distributions</a:t>
            </a:r>
          </a:p>
          <a:p>
            <a:pPr>
              <a:buSzPct val="100000"/>
            </a:pPr>
            <a:endParaRPr lang="en-US" sz="1400" dirty="0"/>
          </a:p>
        </p:txBody>
      </p:sp>
      <p:sp>
        <p:nvSpPr>
          <p:cNvPr id="13" name="Textfeld 12">
            <a:extLst>
              <a:ext uri="{FF2B5EF4-FFF2-40B4-BE49-F238E27FC236}">
                <a16:creationId xmlns:a16="http://schemas.microsoft.com/office/drawing/2014/main" id="{80B515BE-D08E-03C5-1C53-712CF2DE28B1}"/>
              </a:ext>
            </a:extLst>
          </p:cNvPr>
          <p:cNvSpPr txBox="1"/>
          <p:nvPr/>
        </p:nvSpPr>
        <p:spPr>
          <a:xfrm>
            <a:off x="11836095" y="6485467"/>
            <a:ext cx="355600" cy="369332"/>
          </a:xfrm>
          <a:prstGeom prst="rect">
            <a:avLst/>
          </a:prstGeom>
          <a:noFill/>
        </p:spPr>
        <p:txBody>
          <a:bodyPr wrap="square" rtlCol="0">
            <a:spAutoFit/>
          </a:bodyPr>
          <a:lstStyle/>
          <a:p>
            <a:r>
              <a:rPr lang="de-DE" dirty="0"/>
              <a:t>2</a:t>
            </a:r>
          </a:p>
        </p:txBody>
      </p:sp>
      <p:pic>
        <p:nvPicPr>
          <p:cNvPr id="15" name="Grafik 14">
            <a:extLst>
              <a:ext uri="{FF2B5EF4-FFF2-40B4-BE49-F238E27FC236}">
                <a16:creationId xmlns:a16="http://schemas.microsoft.com/office/drawing/2014/main" id="{B762FD5F-E1B0-D84F-B3CC-84E4B372C539}"/>
              </a:ext>
            </a:extLst>
          </p:cNvPr>
          <p:cNvPicPr>
            <a:picLocks noChangeAspect="1"/>
          </p:cNvPicPr>
          <p:nvPr/>
        </p:nvPicPr>
        <p:blipFill>
          <a:blip r:embed="rId4"/>
          <a:stretch>
            <a:fillRect/>
          </a:stretch>
        </p:blipFill>
        <p:spPr>
          <a:xfrm>
            <a:off x="6993478" y="3234690"/>
            <a:ext cx="3916996" cy="2937747"/>
          </a:xfrm>
          <a:prstGeom prst="rect">
            <a:avLst/>
          </a:prstGeom>
        </p:spPr>
      </p:pic>
      <p:pic>
        <p:nvPicPr>
          <p:cNvPr id="17" name="Grafik 16" descr="Ein Bild, das Reihe, Diagramm, Screenshot, Schrift enthält.&#10;&#10;KI-generierte Inhalte können fehlerhaft sein.">
            <a:extLst>
              <a:ext uri="{FF2B5EF4-FFF2-40B4-BE49-F238E27FC236}">
                <a16:creationId xmlns:a16="http://schemas.microsoft.com/office/drawing/2014/main" id="{96BA97B5-E07E-6C73-B814-31BF6BF57C2F}"/>
              </a:ext>
            </a:extLst>
          </p:cNvPr>
          <p:cNvPicPr>
            <a:picLocks noChangeAspect="1"/>
          </p:cNvPicPr>
          <p:nvPr/>
        </p:nvPicPr>
        <p:blipFill>
          <a:blip r:embed="rId5"/>
          <a:stretch>
            <a:fillRect/>
          </a:stretch>
        </p:blipFill>
        <p:spPr>
          <a:xfrm>
            <a:off x="844210" y="4997388"/>
            <a:ext cx="5169579" cy="8222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
            <a:ext cx="12191695" cy="838201"/>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Implementation - Multiprocessing</a:t>
            </a:r>
          </a:p>
        </p:txBody>
      </p:sp>
      <p:sp>
        <p:nvSpPr>
          <p:cNvPr id="4" name="Text 2"/>
          <p:cNvSpPr/>
          <p:nvPr/>
        </p:nvSpPr>
        <p:spPr>
          <a:xfrm>
            <a:off x="548640" y="504782"/>
            <a:ext cx="11094415" cy="201168"/>
          </a:xfrm>
          <a:prstGeom prst="rect">
            <a:avLst/>
          </a:prstGeom>
          <a:noFill/>
          <a:ln/>
        </p:spPr>
        <p:txBody>
          <a:bodyPr wrap="square" rtlCol="0" anchor="ctr"/>
          <a:lstStyle/>
          <a:p>
            <a:pPr marL="0" indent="0">
              <a:buNone/>
            </a:pPr>
            <a:r>
              <a:rPr lang="en-US" sz="1400" dirty="0">
                <a:solidFill>
                  <a:schemeClr val="bg1"/>
                </a:solidFill>
              </a:rPr>
              <a:t>Setting up multiprocessing</a:t>
            </a:r>
          </a:p>
        </p:txBody>
      </p:sp>
      <p:sp>
        <p:nvSpPr>
          <p:cNvPr id="6" name="Text 4"/>
          <p:cNvSpPr/>
          <p:nvPr/>
        </p:nvSpPr>
        <p:spPr>
          <a:xfrm>
            <a:off x="914400" y="1207008"/>
            <a:ext cx="4861408" cy="228600"/>
          </a:xfrm>
          <a:prstGeom prst="rect">
            <a:avLst/>
          </a:prstGeom>
          <a:noFill/>
          <a:ln/>
        </p:spPr>
        <p:txBody>
          <a:bodyPr wrap="square" rtlCol="0" anchor="ctr"/>
          <a:lstStyle/>
          <a:p>
            <a:pPr marL="0" indent="0">
              <a:buNone/>
            </a:pPr>
            <a:endParaRPr lang="en-US" sz="1200" dirty="0"/>
          </a:p>
        </p:txBody>
      </p:sp>
      <p:sp>
        <p:nvSpPr>
          <p:cNvPr id="9" name="Text 6"/>
          <p:cNvSpPr/>
          <p:nvPr/>
        </p:nvSpPr>
        <p:spPr>
          <a:xfrm>
            <a:off x="6415888" y="1207008"/>
            <a:ext cx="4861408" cy="228600"/>
          </a:xfrm>
          <a:prstGeom prst="rect">
            <a:avLst/>
          </a:prstGeom>
          <a:noFill/>
          <a:ln/>
        </p:spPr>
        <p:txBody>
          <a:bodyPr wrap="square" rtlCol="0" anchor="ctr"/>
          <a:lstStyle/>
          <a:p>
            <a:pPr marL="0" indent="0">
              <a:buNone/>
            </a:pPr>
            <a:endParaRPr lang="en-US" sz="1200" dirty="0"/>
          </a:p>
        </p:txBody>
      </p:sp>
      <p:pic>
        <p:nvPicPr>
          <p:cNvPr id="13" name="Grafik 12" descr="Ein Bild, das Text, Screenshot, Software enthält.&#10;&#10;KI-generierte Inhalte können fehlerhaft sein.">
            <a:extLst>
              <a:ext uri="{FF2B5EF4-FFF2-40B4-BE49-F238E27FC236}">
                <a16:creationId xmlns:a16="http://schemas.microsoft.com/office/drawing/2014/main" id="{95D68BDE-1E03-798A-7877-CE4CE0E7FCF6}"/>
              </a:ext>
            </a:extLst>
          </p:cNvPr>
          <p:cNvPicPr>
            <a:picLocks noChangeAspect="1"/>
          </p:cNvPicPr>
          <p:nvPr/>
        </p:nvPicPr>
        <p:blipFill>
          <a:blip r:embed="rId3"/>
          <a:stretch>
            <a:fillRect/>
          </a:stretch>
        </p:blipFill>
        <p:spPr>
          <a:xfrm>
            <a:off x="548640" y="1021080"/>
            <a:ext cx="4139652" cy="2500421"/>
          </a:xfrm>
          <a:prstGeom prst="rect">
            <a:avLst/>
          </a:prstGeom>
        </p:spPr>
      </p:pic>
      <p:pic>
        <p:nvPicPr>
          <p:cNvPr id="16" name="Grafik 15" descr="Ein Bild, das Text, Screenshot, Schrift enthält.&#10;&#10;KI-generierte Inhalte können fehlerhaft sein.">
            <a:extLst>
              <a:ext uri="{FF2B5EF4-FFF2-40B4-BE49-F238E27FC236}">
                <a16:creationId xmlns:a16="http://schemas.microsoft.com/office/drawing/2014/main" id="{70FC8FD2-FC69-BB04-E71F-6D4E8BFB0605}"/>
              </a:ext>
            </a:extLst>
          </p:cNvPr>
          <p:cNvPicPr>
            <a:picLocks noChangeAspect="1"/>
          </p:cNvPicPr>
          <p:nvPr/>
        </p:nvPicPr>
        <p:blipFill>
          <a:blip r:embed="rId4"/>
          <a:stretch>
            <a:fillRect/>
          </a:stretch>
        </p:blipFill>
        <p:spPr>
          <a:xfrm>
            <a:off x="548639" y="3595271"/>
            <a:ext cx="4139652" cy="3008512"/>
          </a:xfrm>
          <a:prstGeom prst="rect">
            <a:avLst/>
          </a:prstGeom>
        </p:spPr>
      </p:pic>
      <p:pic>
        <p:nvPicPr>
          <p:cNvPr id="18" name="Grafik 17" descr="Ein Bild, das Text, Screenshot, Software enthält.&#10;&#10;KI-generierte Inhalte können fehlerhaft sein.">
            <a:extLst>
              <a:ext uri="{FF2B5EF4-FFF2-40B4-BE49-F238E27FC236}">
                <a16:creationId xmlns:a16="http://schemas.microsoft.com/office/drawing/2014/main" id="{FC789054-A72E-0AE0-D356-5C6BE494D1C7}"/>
              </a:ext>
            </a:extLst>
          </p:cNvPr>
          <p:cNvPicPr>
            <a:picLocks noChangeAspect="1"/>
          </p:cNvPicPr>
          <p:nvPr/>
        </p:nvPicPr>
        <p:blipFill>
          <a:blip r:embed="rId5"/>
          <a:stretch>
            <a:fillRect/>
          </a:stretch>
        </p:blipFill>
        <p:spPr>
          <a:xfrm>
            <a:off x="5054051" y="1021080"/>
            <a:ext cx="6326927" cy="5582703"/>
          </a:xfrm>
          <a:prstGeom prst="rect">
            <a:avLst/>
          </a:prstGeom>
        </p:spPr>
      </p:pic>
      <p:sp>
        <p:nvSpPr>
          <p:cNvPr id="19" name="Textfeld 18">
            <a:extLst>
              <a:ext uri="{FF2B5EF4-FFF2-40B4-BE49-F238E27FC236}">
                <a16:creationId xmlns:a16="http://schemas.microsoft.com/office/drawing/2014/main" id="{FF8BD688-ADDB-7801-81AC-59E8982E6A7A}"/>
              </a:ext>
            </a:extLst>
          </p:cNvPr>
          <p:cNvSpPr txBox="1"/>
          <p:nvPr/>
        </p:nvSpPr>
        <p:spPr>
          <a:xfrm>
            <a:off x="11836095" y="6485467"/>
            <a:ext cx="355600" cy="369332"/>
          </a:xfrm>
          <a:prstGeom prst="rect">
            <a:avLst/>
          </a:prstGeom>
          <a:noFill/>
        </p:spPr>
        <p:txBody>
          <a:bodyPr wrap="square" rtlCol="0">
            <a:spAutoFit/>
          </a:bodyPr>
          <a:lstStyle/>
          <a:p>
            <a:r>
              <a:rPr lang="de-DE"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8CE92-3BCB-87EA-DA96-04E14ADBC1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BDB2B7-E813-A28D-8351-C1A8565703CF}"/>
              </a:ext>
            </a:extLst>
          </p:cNvPr>
          <p:cNvSpPr/>
          <p:nvPr/>
        </p:nvSpPr>
        <p:spPr>
          <a:xfrm>
            <a:off x="0" y="-1"/>
            <a:ext cx="12191695" cy="872068"/>
          </a:xfrm>
          <a:prstGeom prst="rect">
            <a:avLst/>
          </a:prstGeom>
          <a:solidFill>
            <a:srgbClr val="0B3D91"/>
          </a:solidFill>
          <a:ln w="12700">
            <a:solidFill>
              <a:srgbClr val="0B3D91"/>
            </a:solidFill>
            <a:prstDash val="solid"/>
          </a:ln>
        </p:spPr>
        <p:txBody>
          <a:bodyPr/>
          <a:lstStyle/>
          <a:p>
            <a:endParaRPr lang="en-DE"/>
          </a:p>
        </p:txBody>
      </p:sp>
      <p:sp>
        <p:nvSpPr>
          <p:cNvPr id="3" name="Text 1">
            <a:extLst>
              <a:ext uri="{FF2B5EF4-FFF2-40B4-BE49-F238E27FC236}">
                <a16:creationId xmlns:a16="http://schemas.microsoft.com/office/drawing/2014/main" id="{7CF6B619-572C-80A9-1D15-D60307DAD302}"/>
              </a:ext>
            </a:extLst>
          </p:cNvPr>
          <p:cNvSpPr/>
          <p:nvPr/>
        </p:nvSpPr>
        <p:spPr>
          <a:xfrm>
            <a:off x="548640" y="128016"/>
            <a:ext cx="11094415" cy="329184"/>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Implementation – Multiprocessing and Principal Function</a:t>
            </a:r>
          </a:p>
        </p:txBody>
      </p:sp>
      <p:sp>
        <p:nvSpPr>
          <p:cNvPr id="4" name="Text 2">
            <a:extLst>
              <a:ext uri="{FF2B5EF4-FFF2-40B4-BE49-F238E27FC236}">
                <a16:creationId xmlns:a16="http://schemas.microsoft.com/office/drawing/2014/main" id="{6E3F1CA9-8833-4286-12D7-D6D9EEB3B84D}"/>
              </a:ext>
            </a:extLst>
          </p:cNvPr>
          <p:cNvSpPr/>
          <p:nvPr/>
        </p:nvSpPr>
        <p:spPr>
          <a:xfrm>
            <a:off x="548640" y="504782"/>
            <a:ext cx="11094415" cy="201168"/>
          </a:xfrm>
          <a:prstGeom prst="rect">
            <a:avLst/>
          </a:prstGeom>
          <a:noFill/>
          <a:ln/>
        </p:spPr>
        <p:txBody>
          <a:bodyPr wrap="square" rtlCol="0" anchor="ctr"/>
          <a:lstStyle/>
          <a:p>
            <a:pPr marL="0" indent="0">
              <a:buNone/>
            </a:pPr>
            <a:r>
              <a:rPr lang="en-US" sz="1400" dirty="0">
                <a:solidFill>
                  <a:schemeClr val="bg1"/>
                </a:solidFill>
              </a:rPr>
              <a:t>Implementing the assignment</a:t>
            </a:r>
          </a:p>
        </p:txBody>
      </p:sp>
      <p:sp>
        <p:nvSpPr>
          <p:cNvPr id="6" name="Text 4">
            <a:extLst>
              <a:ext uri="{FF2B5EF4-FFF2-40B4-BE49-F238E27FC236}">
                <a16:creationId xmlns:a16="http://schemas.microsoft.com/office/drawing/2014/main" id="{BD1A98FB-E886-475A-B64E-06F47E8F23F9}"/>
              </a:ext>
            </a:extLst>
          </p:cNvPr>
          <p:cNvSpPr/>
          <p:nvPr/>
        </p:nvSpPr>
        <p:spPr>
          <a:xfrm>
            <a:off x="914400" y="1207008"/>
            <a:ext cx="4861408" cy="228600"/>
          </a:xfrm>
          <a:prstGeom prst="rect">
            <a:avLst/>
          </a:prstGeom>
          <a:noFill/>
          <a:ln/>
        </p:spPr>
        <p:txBody>
          <a:bodyPr wrap="square" rtlCol="0" anchor="ctr"/>
          <a:lstStyle/>
          <a:p>
            <a:pPr marL="0" indent="0">
              <a:buNone/>
            </a:pPr>
            <a:endParaRPr lang="en-US" sz="1200" dirty="0"/>
          </a:p>
        </p:txBody>
      </p:sp>
      <p:sp>
        <p:nvSpPr>
          <p:cNvPr id="9" name="Text 6">
            <a:extLst>
              <a:ext uri="{FF2B5EF4-FFF2-40B4-BE49-F238E27FC236}">
                <a16:creationId xmlns:a16="http://schemas.microsoft.com/office/drawing/2014/main" id="{C5C5B144-D2E4-C246-8621-49D463E93415}"/>
              </a:ext>
            </a:extLst>
          </p:cNvPr>
          <p:cNvSpPr/>
          <p:nvPr/>
        </p:nvSpPr>
        <p:spPr>
          <a:xfrm>
            <a:off x="6415888" y="1207008"/>
            <a:ext cx="4861408" cy="228600"/>
          </a:xfrm>
          <a:prstGeom prst="rect">
            <a:avLst/>
          </a:prstGeom>
          <a:noFill/>
          <a:ln/>
        </p:spPr>
        <p:txBody>
          <a:bodyPr wrap="square" rtlCol="0" anchor="ctr"/>
          <a:lstStyle/>
          <a:p>
            <a:pPr marL="0" indent="0">
              <a:buNone/>
            </a:pPr>
            <a:endParaRPr lang="en-US" sz="1200" dirty="0"/>
          </a:p>
        </p:txBody>
      </p:sp>
      <p:sp>
        <p:nvSpPr>
          <p:cNvPr id="5" name="Textfeld 4">
            <a:extLst>
              <a:ext uri="{FF2B5EF4-FFF2-40B4-BE49-F238E27FC236}">
                <a16:creationId xmlns:a16="http://schemas.microsoft.com/office/drawing/2014/main" id="{A4627FBD-B102-9B0B-828F-76F047FA23BB}"/>
              </a:ext>
            </a:extLst>
          </p:cNvPr>
          <p:cNvSpPr txBox="1"/>
          <p:nvPr/>
        </p:nvSpPr>
        <p:spPr>
          <a:xfrm>
            <a:off x="11836095" y="6485467"/>
            <a:ext cx="355600" cy="369332"/>
          </a:xfrm>
          <a:prstGeom prst="rect">
            <a:avLst/>
          </a:prstGeom>
          <a:noFill/>
        </p:spPr>
        <p:txBody>
          <a:bodyPr wrap="square" rtlCol="0">
            <a:spAutoFit/>
          </a:bodyPr>
          <a:lstStyle/>
          <a:p>
            <a:r>
              <a:rPr lang="de-DE" dirty="0"/>
              <a:t>4</a:t>
            </a:r>
          </a:p>
        </p:txBody>
      </p:sp>
      <p:pic>
        <p:nvPicPr>
          <p:cNvPr id="8" name="Grafik 7" descr="Ein Bild, das Text, Screenshot enthält.&#10;&#10;KI-generierte Inhalte können fehlerhaft sein.">
            <a:extLst>
              <a:ext uri="{FF2B5EF4-FFF2-40B4-BE49-F238E27FC236}">
                <a16:creationId xmlns:a16="http://schemas.microsoft.com/office/drawing/2014/main" id="{353AA98B-CEA1-17E6-C968-F11F757C1EB2}"/>
              </a:ext>
            </a:extLst>
          </p:cNvPr>
          <p:cNvPicPr>
            <a:picLocks noChangeAspect="1"/>
          </p:cNvPicPr>
          <p:nvPr/>
        </p:nvPicPr>
        <p:blipFill>
          <a:blip r:embed="rId3"/>
          <a:stretch>
            <a:fillRect/>
          </a:stretch>
        </p:blipFill>
        <p:spPr>
          <a:xfrm>
            <a:off x="2344369" y="1435608"/>
            <a:ext cx="6862877" cy="4459452"/>
          </a:xfrm>
          <a:prstGeom prst="rect">
            <a:avLst/>
          </a:prstGeom>
        </p:spPr>
      </p:pic>
    </p:spTree>
    <p:extLst>
      <p:ext uri="{BB962C8B-B14F-4D97-AF65-F5344CB8AC3E}">
        <p14:creationId xmlns:p14="http://schemas.microsoft.com/office/powerpoint/2010/main" val="1949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Assignment 4 – Quick Overview</a:t>
            </a:r>
          </a:p>
        </p:txBody>
      </p:sp>
      <p:sp>
        <p:nvSpPr>
          <p:cNvPr id="4" name="Text 2"/>
          <p:cNvSpPr/>
          <p:nvPr/>
        </p:nvSpPr>
        <p:spPr>
          <a:xfrm>
            <a:off x="548640" y="402336"/>
            <a:ext cx="11094415" cy="201168"/>
          </a:xfrm>
          <a:prstGeom prst="rect">
            <a:avLst/>
          </a:prstGeom>
          <a:noFill/>
          <a:ln/>
        </p:spPr>
        <p:txBody>
          <a:bodyPr wrap="square" rtlCol="0" anchor="ctr"/>
          <a:lstStyle/>
          <a:p>
            <a:pPr marL="0" indent="0">
              <a:buNone/>
            </a:pPr>
            <a:endParaRPr lang="en-US" sz="1400" dirty="0"/>
          </a:p>
        </p:txBody>
      </p:sp>
      <p:sp>
        <p:nvSpPr>
          <p:cNvPr id="5" name="Shape 3"/>
          <p:cNvSpPr/>
          <p:nvPr/>
        </p:nvSpPr>
        <p:spPr>
          <a:xfrm>
            <a:off x="822960" y="1188720"/>
            <a:ext cx="3108960" cy="914400"/>
          </a:xfrm>
          <a:prstGeom prst="roundRect">
            <a:avLst/>
          </a:prstGeom>
          <a:solidFill>
            <a:srgbClr val="FFFFFF"/>
          </a:solidFill>
          <a:ln w="12700">
            <a:solidFill>
              <a:srgbClr val="CBD5E1"/>
            </a:solidFill>
            <a:prstDash val="solid"/>
          </a:ln>
          <a:effectLst>
            <a:outerShdw blurRad="25400" dist="12700" dir="2700000" algn="bl" rotWithShape="0">
              <a:srgbClr val="000000">
                <a:alpha val="10000"/>
              </a:srgbClr>
            </a:outerShdw>
          </a:effectLst>
        </p:spPr>
        <p:txBody>
          <a:bodyPr/>
          <a:lstStyle/>
          <a:p>
            <a:endParaRPr lang="en-DE"/>
          </a:p>
        </p:txBody>
      </p:sp>
      <p:sp>
        <p:nvSpPr>
          <p:cNvPr id="6" name="Text 4"/>
          <p:cNvSpPr/>
          <p:nvPr/>
        </p:nvSpPr>
        <p:spPr>
          <a:xfrm>
            <a:off x="1005840" y="1280160"/>
            <a:ext cx="2743200" cy="256032"/>
          </a:xfrm>
          <a:prstGeom prst="rect">
            <a:avLst/>
          </a:prstGeom>
          <a:noFill/>
          <a:ln/>
        </p:spPr>
        <p:txBody>
          <a:bodyPr wrap="square" rtlCol="0" anchor="ctr"/>
          <a:lstStyle/>
          <a:p>
            <a:pPr marL="0" indent="0">
              <a:buNone/>
            </a:pPr>
            <a:r>
              <a:rPr lang="en-US" sz="1400" b="1" dirty="0">
                <a:solidFill>
                  <a:srgbClr val="163E6E"/>
                </a:solidFill>
                <a:latin typeface="Calibri" pitchFamily="34" charset="0"/>
                <a:ea typeface="Calibri" pitchFamily="34" charset="-122"/>
                <a:cs typeface="Calibri" pitchFamily="34" charset="-120"/>
              </a:rPr>
              <a:t>1) Perturb precipitation</a:t>
            </a:r>
            <a:endParaRPr lang="en-US" sz="1400" dirty="0"/>
          </a:p>
        </p:txBody>
      </p:sp>
      <p:sp>
        <p:nvSpPr>
          <p:cNvPr id="7" name="Text 5"/>
          <p:cNvSpPr/>
          <p:nvPr/>
        </p:nvSpPr>
        <p:spPr>
          <a:xfrm>
            <a:off x="1005840" y="1554480"/>
            <a:ext cx="27432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C ~ N(1, σ)</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C = max(C, 0.05) to avoid negative/zero</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P* = P × C</a:t>
            </a:r>
            <a:endParaRPr lang="en-US" sz="1200" dirty="0"/>
          </a:p>
        </p:txBody>
      </p:sp>
      <p:sp>
        <p:nvSpPr>
          <p:cNvPr id="8" name="Shape 6"/>
          <p:cNvSpPr/>
          <p:nvPr/>
        </p:nvSpPr>
        <p:spPr>
          <a:xfrm>
            <a:off x="4251960" y="1188720"/>
            <a:ext cx="3108960" cy="914400"/>
          </a:xfrm>
          <a:prstGeom prst="roundRect">
            <a:avLst/>
          </a:prstGeom>
          <a:solidFill>
            <a:srgbClr val="FFFFFF"/>
          </a:solidFill>
          <a:ln w="12700">
            <a:solidFill>
              <a:srgbClr val="CBD5E1"/>
            </a:solidFill>
            <a:prstDash val="solid"/>
          </a:ln>
          <a:effectLst>
            <a:outerShdw blurRad="25400" dist="12700" dir="2700000" algn="bl" rotWithShape="0">
              <a:srgbClr val="000000">
                <a:alpha val="10000"/>
              </a:srgbClr>
            </a:outerShdw>
          </a:effectLst>
        </p:spPr>
        <p:txBody>
          <a:bodyPr/>
          <a:lstStyle/>
          <a:p>
            <a:endParaRPr lang="en-DE"/>
          </a:p>
        </p:txBody>
      </p:sp>
      <p:sp>
        <p:nvSpPr>
          <p:cNvPr id="9" name="Text 7"/>
          <p:cNvSpPr/>
          <p:nvPr/>
        </p:nvSpPr>
        <p:spPr>
          <a:xfrm>
            <a:off x="4434840" y="1280160"/>
            <a:ext cx="2743200" cy="256032"/>
          </a:xfrm>
          <a:prstGeom prst="rect">
            <a:avLst/>
          </a:prstGeom>
          <a:noFill/>
          <a:ln/>
        </p:spPr>
        <p:txBody>
          <a:bodyPr wrap="square" rtlCol="0" anchor="ctr"/>
          <a:lstStyle/>
          <a:p>
            <a:pPr marL="0" indent="0">
              <a:buNone/>
            </a:pPr>
            <a:r>
              <a:rPr lang="en-US" sz="1400" b="1" dirty="0">
                <a:solidFill>
                  <a:srgbClr val="163E6E"/>
                </a:solidFill>
                <a:latin typeface="Calibri" pitchFamily="34" charset="0"/>
                <a:ea typeface="Calibri" pitchFamily="34" charset="-122"/>
                <a:cs typeface="Calibri" pitchFamily="34" charset="-120"/>
              </a:rPr>
              <a:t>2) Scenario A: fixed params</a:t>
            </a:r>
            <a:endParaRPr lang="en-US" sz="1400" dirty="0"/>
          </a:p>
        </p:txBody>
      </p:sp>
      <p:sp>
        <p:nvSpPr>
          <p:cNvPr id="10" name="Text 8"/>
          <p:cNvSpPr/>
          <p:nvPr/>
        </p:nvSpPr>
        <p:spPr>
          <a:xfrm>
            <a:off x="4434840" y="1554480"/>
            <a:ext cx="27432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Run HBV with P* and BEST_PARAMS</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Compute NSE_fixed, OFV_fixed</a:t>
            </a:r>
            <a:endParaRPr lang="en-US" sz="1200" dirty="0"/>
          </a:p>
        </p:txBody>
      </p:sp>
      <p:sp>
        <p:nvSpPr>
          <p:cNvPr id="11" name="Shape 9"/>
          <p:cNvSpPr/>
          <p:nvPr/>
        </p:nvSpPr>
        <p:spPr>
          <a:xfrm>
            <a:off x="7680960" y="1188720"/>
            <a:ext cx="3108960" cy="914400"/>
          </a:xfrm>
          <a:prstGeom prst="roundRect">
            <a:avLst/>
          </a:prstGeom>
          <a:solidFill>
            <a:srgbClr val="FFFFFF"/>
          </a:solidFill>
          <a:ln w="12700">
            <a:solidFill>
              <a:srgbClr val="CBD5E1"/>
            </a:solidFill>
            <a:prstDash val="solid"/>
          </a:ln>
          <a:effectLst>
            <a:outerShdw blurRad="25400" dist="12700" dir="2700000" algn="bl" rotWithShape="0">
              <a:srgbClr val="000000">
                <a:alpha val="10000"/>
              </a:srgbClr>
            </a:outerShdw>
          </a:effectLst>
        </p:spPr>
        <p:txBody>
          <a:bodyPr/>
          <a:lstStyle/>
          <a:p>
            <a:endParaRPr lang="en-DE"/>
          </a:p>
        </p:txBody>
      </p:sp>
      <p:sp>
        <p:nvSpPr>
          <p:cNvPr id="12" name="Text 10"/>
          <p:cNvSpPr/>
          <p:nvPr/>
        </p:nvSpPr>
        <p:spPr>
          <a:xfrm>
            <a:off x="7863840" y="1280160"/>
            <a:ext cx="2743200" cy="256032"/>
          </a:xfrm>
          <a:prstGeom prst="rect">
            <a:avLst/>
          </a:prstGeom>
          <a:noFill/>
          <a:ln/>
        </p:spPr>
        <p:txBody>
          <a:bodyPr wrap="square" rtlCol="0" anchor="ctr"/>
          <a:lstStyle/>
          <a:p>
            <a:pPr marL="0" indent="0">
              <a:buNone/>
            </a:pPr>
            <a:r>
              <a:rPr lang="en-US" sz="1400" b="1" dirty="0">
                <a:solidFill>
                  <a:srgbClr val="163E6E"/>
                </a:solidFill>
                <a:latin typeface="Calibri" pitchFamily="34" charset="0"/>
                <a:ea typeface="Calibri" pitchFamily="34" charset="-122"/>
                <a:cs typeface="Calibri" pitchFamily="34" charset="-120"/>
              </a:rPr>
              <a:t>3) Scenario B: recalibrate</a:t>
            </a:r>
            <a:endParaRPr lang="en-US" sz="1400" dirty="0"/>
          </a:p>
        </p:txBody>
      </p:sp>
      <p:sp>
        <p:nvSpPr>
          <p:cNvPr id="13" name="Text 11"/>
          <p:cNvSpPr/>
          <p:nvPr/>
        </p:nvSpPr>
        <p:spPr>
          <a:xfrm>
            <a:off x="7863840" y="1554480"/>
            <a:ext cx="27432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Optimize params for P*</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(L-BFGS-B, bounded)</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Compute NSE_recal, OFV_recal</a:t>
            </a:r>
            <a:endParaRPr lang="en-US" sz="1200" dirty="0"/>
          </a:p>
        </p:txBody>
      </p:sp>
      <p:sp>
        <p:nvSpPr>
          <p:cNvPr id="14" name="Shape 12"/>
          <p:cNvSpPr/>
          <p:nvPr/>
        </p:nvSpPr>
        <p:spPr>
          <a:xfrm rot="5400000">
            <a:off x="4018788" y="1536192"/>
            <a:ext cx="164592" cy="219456"/>
          </a:xfrm>
          <a:prstGeom prst="rtTriangle">
            <a:avLst/>
          </a:prstGeom>
          <a:solidFill>
            <a:srgbClr val="163E6E"/>
          </a:solidFill>
          <a:ln w="12700">
            <a:solidFill>
              <a:srgbClr val="163E6E"/>
            </a:solidFill>
            <a:prstDash val="solid"/>
          </a:ln>
        </p:spPr>
        <p:txBody>
          <a:bodyPr/>
          <a:lstStyle/>
          <a:p>
            <a:endParaRPr lang="en-DE"/>
          </a:p>
        </p:txBody>
      </p:sp>
      <p:sp>
        <p:nvSpPr>
          <p:cNvPr id="15" name="Shape 13"/>
          <p:cNvSpPr/>
          <p:nvPr/>
        </p:nvSpPr>
        <p:spPr>
          <a:xfrm rot="5400000">
            <a:off x="7447788" y="1536192"/>
            <a:ext cx="164592" cy="219456"/>
          </a:xfrm>
          <a:prstGeom prst="rtTriangle">
            <a:avLst/>
          </a:prstGeom>
          <a:solidFill>
            <a:srgbClr val="163E6E"/>
          </a:solidFill>
          <a:ln w="12700">
            <a:solidFill>
              <a:srgbClr val="163E6E"/>
            </a:solidFill>
            <a:prstDash val="solid"/>
          </a:ln>
        </p:spPr>
        <p:txBody>
          <a:bodyPr/>
          <a:lstStyle/>
          <a:p>
            <a:endParaRPr lang="en-DE"/>
          </a:p>
        </p:txBody>
      </p:sp>
      <p:sp>
        <p:nvSpPr>
          <p:cNvPr id="16" name="Shape 14"/>
          <p:cNvSpPr/>
          <p:nvPr/>
        </p:nvSpPr>
        <p:spPr>
          <a:xfrm>
            <a:off x="548640" y="3442547"/>
            <a:ext cx="5715000" cy="2054352"/>
          </a:xfrm>
          <a:prstGeom prst="roundRect">
            <a:avLst/>
          </a:prstGeom>
          <a:solidFill>
            <a:srgbClr val="FFFFFF"/>
          </a:solidFill>
          <a:ln w="12700">
            <a:solidFill>
              <a:srgbClr val="163E6E"/>
            </a:solidFill>
            <a:prstDash val="solid"/>
          </a:ln>
          <a:effectLst>
            <a:outerShdw blurRad="38100" dist="15240" dir="2700000" algn="bl" rotWithShape="0">
              <a:srgbClr val="000000">
                <a:alpha val="18000"/>
              </a:srgbClr>
            </a:outerShdw>
          </a:effectLst>
        </p:spPr>
        <p:txBody>
          <a:bodyPr/>
          <a:lstStyle/>
          <a:p>
            <a:endParaRPr lang="en-DE"/>
          </a:p>
        </p:txBody>
      </p:sp>
      <p:sp>
        <p:nvSpPr>
          <p:cNvPr id="17" name="Text 15"/>
          <p:cNvSpPr/>
          <p:nvPr/>
        </p:nvSpPr>
        <p:spPr>
          <a:xfrm>
            <a:off x="713232" y="3607139"/>
            <a:ext cx="5385816" cy="165811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If OFV_recal &lt; OFV_fixed (points above the 1:1 line in the scatter), recalibration “compensates” for input uncertainty.</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If many parameters stay constant, the model is less sensitive (or the optimizer converges to the same local optimum).</a:t>
            </a:r>
            <a:endParaRPr lang="en-US" sz="1200" dirty="0"/>
          </a:p>
        </p:txBody>
      </p:sp>
      <p:pic>
        <p:nvPicPr>
          <p:cNvPr id="18" name="Grafik 17">
            <a:extLst>
              <a:ext uri="{FF2B5EF4-FFF2-40B4-BE49-F238E27FC236}">
                <a16:creationId xmlns:a16="http://schemas.microsoft.com/office/drawing/2014/main" id="{3FFE6237-C196-18F8-5FB0-1323DE4D47E4}"/>
              </a:ext>
            </a:extLst>
          </p:cNvPr>
          <p:cNvPicPr>
            <a:picLocks noChangeAspect="1"/>
          </p:cNvPicPr>
          <p:nvPr/>
        </p:nvPicPr>
        <p:blipFill>
          <a:blip r:embed="rId3"/>
          <a:stretch>
            <a:fillRect/>
          </a:stretch>
        </p:blipFill>
        <p:spPr>
          <a:xfrm>
            <a:off x="6599429" y="2916936"/>
            <a:ext cx="5171244" cy="3443121"/>
          </a:xfrm>
          <a:prstGeom prst="rect">
            <a:avLst/>
          </a:prstGeom>
        </p:spPr>
      </p:pic>
      <p:sp>
        <p:nvSpPr>
          <p:cNvPr id="19" name="Textfeld 4">
            <a:extLst>
              <a:ext uri="{FF2B5EF4-FFF2-40B4-BE49-F238E27FC236}">
                <a16:creationId xmlns:a16="http://schemas.microsoft.com/office/drawing/2014/main" id="{A037ECEA-4688-652B-E8EF-C21F6D8758DF}"/>
              </a:ext>
            </a:extLst>
          </p:cNvPr>
          <p:cNvSpPr txBox="1"/>
          <p:nvPr/>
        </p:nvSpPr>
        <p:spPr>
          <a:xfrm>
            <a:off x="11836095" y="6485467"/>
            <a:ext cx="355600" cy="369332"/>
          </a:xfrm>
          <a:prstGeom prst="rect">
            <a:avLst/>
          </a:prstGeom>
          <a:noFill/>
        </p:spPr>
        <p:txBody>
          <a:bodyPr wrap="square" rtlCol="0">
            <a:spAutoFit/>
          </a:bodyPr>
          <a:lstStyle/>
          <a:p>
            <a:r>
              <a:rPr lang="de-DE"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Performance distributions (OFV = 1 − NSE)</a:t>
            </a:r>
            <a:endParaRPr lang="en-US" sz="2600" dirty="0"/>
          </a:p>
        </p:txBody>
      </p:sp>
      <p:sp>
        <p:nvSpPr>
          <p:cNvPr id="4" name="Text 2"/>
          <p:cNvSpPr/>
          <p:nvPr/>
        </p:nvSpPr>
        <p:spPr>
          <a:xfrm>
            <a:off x="548640" y="402336"/>
            <a:ext cx="11094415" cy="201168"/>
          </a:xfrm>
          <a:prstGeom prst="rect">
            <a:avLst/>
          </a:prstGeom>
          <a:noFill/>
          <a:ln/>
        </p:spPr>
        <p:txBody>
          <a:bodyPr wrap="square" rtlCol="0" anchor="ctr"/>
          <a:lstStyle/>
          <a:p>
            <a:pPr marL="0" indent="0">
              <a:buNone/>
            </a:pPr>
            <a:r>
              <a:rPr lang="en-US" sz="1400" dirty="0">
                <a:solidFill>
                  <a:srgbClr val="E5E7EB"/>
                </a:solidFill>
                <a:latin typeface="Calibri" pitchFamily="34" charset="0"/>
                <a:ea typeface="Calibri" pitchFamily="34" charset="-122"/>
                <a:cs typeface="Calibri" pitchFamily="34" charset="-120"/>
              </a:rPr>
              <a:t>CDFs summarize variability across perturbations</a:t>
            </a:r>
            <a:endParaRPr lang="en-US" sz="1400" dirty="0"/>
          </a:p>
        </p:txBody>
      </p:sp>
      <p:sp>
        <p:nvSpPr>
          <p:cNvPr id="7" name="Text 4"/>
          <p:cNvSpPr/>
          <p:nvPr/>
        </p:nvSpPr>
        <p:spPr>
          <a:xfrm>
            <a:off x="8485632" y="1014984"/>
            <a:ext cx="3282696" cy="1813560"/>
          </a:xfrm>
          <a:prstGeom prst="rect">
            <a:avLst/>
          </a:prstGeom>
          <a:noFill/>
          <a:ln/>
        </p:spPr>
        <p:txBody>
          <a:bodyPr wrap="square" rtlCol="0" anchor="ctr"/>
          <a:lstStyle/>
          <a:p>
            <a:pPr marL="0" indent="0">
              <a:buNone/>
            </a:pP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Left shift = lower OFV = better</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Blue curve: perturbed PPT + fixed params</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Orange curve: perturbed PPT + recalibrated params</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Green line: reference OFV (orig PPT + BEST_PARAMS)</a:t>
            </a:r>
            <a:endParaRPr lang="en-US" sz="1200" dirty="0"/>
          </a:p>
        </p:txBody>
      </p:sp>
      <p:sp>
        <p:nvSpPr>
          <p:cNvPr id="9" name="Text 6"/>
          <p:cNvSpPr/>
          <p:nvPr/>
        </p:nvSpPr>
        <p:spPr>
          <a:xfrm>
            <a:off x="8485632" y="3355848"/>
            <a:ext cx="3282696" cy="420624"/>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Typical outcome: recalibration shifts the distribution slightly toward the reference line, but does not fully recover baseline performance.</a:t>
            </a:r>
            <a:endParaRPr lang="en-US" sz="1200" dirty="0"/>
          </a:p>
        </p:txBody>
      </p:sp>
      <p:pic>
        <p:nvPicPr>
          <p:cNvPr id="11" name="Picture 10" descr="A graph of a function&#10;&#10;AI-generated content may be incorrect.">
            <a:extLst>
              <a:ext uri="{FF2B5EF4-FFF2-40B4-BE49-F238E27FC236}">
                <a16:creationId xmlns:a16="http://schemas.microsoft.com/office/drawing/2014/main" id="{9266C7D3-5BB0-B544-76A0-CE4019858654}"/>
              </a:ext>
            </a:extLst>
          </p:cNvPr>
          <p:cNvPicPr>
            <a:picLocks noChangeAspect="1"/>
          </p:cNvPicPr>
          <p:nvPr/>
        </p:nvPicPr>
        <p:blipFill>
          <a:blip r:embed="rId3"/>
          <a:stretch>
            <a:fillRect/>
          </a:stretch>
        </p:blipFill>
        <p:spPr>
          <a:xfrm>
            <a:off x="668190" y="1143000"/>
            <a:ext cx="7315200" cy="4572000"/>
          </a:xfrm>
          <a:prstGeom prst="rect">
            <a:avLst/>
          </a:prstGeom>
        </p:spPr>
      </p:pic>
      <p:pic>
        <p:nvPicPr>
          <p:cNvPr id="6" name="Grafik 5">
            <a:extLst>
              <a:ext uri="{FF2B5EF4-FFF2-40B4-BE49-F238E27FC236}">
                <a16:creationId xmlns:a16="http://schemas.microsoft.com/office/drawing/2014/main" id="{A4F71DC8-FD2E-0ED7-D52B-FFA04CF4D649}"/>
              </a:ext>
            </a:extLst>
          </p:cNvPr>
          <p:cNvPicPr>
            <a:picLocks noChangeAspect="1"/>
          </p:cNvPicPr>
          <p:nvPr/>
        </p:nvPicPr>
        <p:blipFill>
          <a:blip r:embed="rId4"/>
          <a:stretch>
            <a:fillRect/>
          </a:stretch>
        </p:blipFill>
        <p:spPr>
          <a:xfrm>
            <a:off x="1768343" y="3131813"/>
            <a:ext cx="5404115" cy="3598171"/>
          </a:xfrm>
          <a:prstGeom prst="rect">
            <a:avLst/>
          </a:prstGeom>
        </p:spPr>
      </p:pic>
      <p:sp>
        <p:nvSpPr>
          <p:cNvPr id="5" name="Textfeld 4">
            <a:extLst>
              <a:ext uri="{FF2B5EF4-FFF2-40B4-BE49-F238E27FC236}">
                <a16:creationId xmlns:a16="http://schemas.microsoft.com/office/drawing/2014/main" id="{E1CC2795-C4DE-ABAA-2593-95BE1A838D55}"/>
              </a:ext>
            </a:extLst>
          </p:cNvPr>
          <p:cNvSpPr txBox="1"/>
          <p:nvPr/>
        </p:nvSpPr>
        <p:spPr>
          <a:xfrm>
            <a:off x="11836095" y="6485467"/>
            <a:ext cx="355600" cy="369332"/>
          </a:xfrm>
          <a:prstGeom prst="rect">
            <a:avLst/>
          </a:prstGeom>
          <a:noFill/>
        </p:spPr>
        <p:txBody>
          <a:bodyPr wrap="square" rtlCol="0">
            <a:spAutoFit/>
          </a:bodyPr>
          <a:lstStyle/>
          <a:p>
            <a:r>
              <a:rPr lang="de-DE" dirty="0"/>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3D91"/>
          </a:solidFill>
          <a:ln w="12700">
            <a:solidFill>
              <a:srgbClr val="0B3D91"/>
            </a:solidFill>
            <a:prstDash val="solid"/>
          </a:ln>
        </p:spPr>
        <p:txBody>
          <a:bodyPr/>
          <a:lstStyle/>
          <a:p>
            <a:endParaRPr lang="en-DE" dirty="0"/>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Fixed vs recalibrated performance – critical review</a:t>
            </a:r>
            <a:endParaRPr lang="en-US" sz="2600" dirty="0"/>
          </a:p>
        </p:txBody>
      </p:sp>
      <p:sp>
        <p:nvSpPr>
          <p:cNvPr id="4" name="Text 2"/>
          <p:cNvSpPr/>
          <p:nvPr/>
        </p:nvSpPr>
        <p:spPr>
          <a:xfrm>
            <a:off x="548640" y="402336"/>
            <a:ext cx="11094415" cy="201168"/>
          </a:xfrm>
          <a:prstGeom prst="rect">
            <a:avLst/>
          </a:prstGeom>
          <a:noFill/>
          <a:ln/>
        </p:spPr>
        <p:txBody>
          <a:bodyPr wrap="square" rtlCol="0" anchor="ctr"/>
          <a:lstStyle/>
          <a:p>
            <a:pPr marL="0" indent="0">
              <a:buNone/>
            </a:pPr>
            <a:endParaRPr lang="en-US" sz="1400" dirty="0"/>
          </a:p>
        </p:txBody>
      </p:sp>
      <p:sp>
        <p:nvSpPr>
          <p:cNvPr id="7" name="Text 4"/>
          <p:cNvSpPr/>
          <p:nvPr/>
        </p:nvSpPr>
        <p:spPr>
          <a:xfrm>
            <a:off x="361684" y="5569882"/>
            <a:ext cx="4910328" cy="1259499"/>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Interpretation:</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Points above 1:1 line → OFV_fixed &gt; OFV_recal → recalibration improved</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Points below 1:1 line → recalibration worse</a:t>
            </a:r>
            <a:endParaRPr lang="en-US" sz="1200" dirty="0"/>
          </a:p>
          <a:p>
            <a:pPr marL="0" indent="0">
              <a:buNone/>
            </a:pPr>
            <a:endParaRPr lang="en-US" sz="1200" dirty="0"/>
          </a:p>
        </p:txBody>
      </p:sp>
      <p:pic>
        <p:nvPicPr>
          <p:cNvPr id="9" name="Picture 8" descr="A graph with blue dots&#10;&#10;AI-generated content may be incorrect.">
            <a:extLst>
              <a:ext uri="{FF2B5EF4-FFF2-40B4-BE49-F238E27FC236}">
                <a16:creationId xmlns:a16="http://schemas.microsoft.com/office/drawing/2014/main" id="{8E0B7EBE-4240-02AE-5589-2C756EB20B58}"/>
              </a:ext>
            </a:extLst>
          </p:cNvPr>
          <p:cNvPicPr>
            <a:picLocks noChangeAspect="1"/>
          </p:cNvPicPr>
          <p:nvPr/>
        </p:nvPicPr>
        <p:blipFill>
          <a:blip r:embed="rId3"/>
          <a:stretch>
            <a:fillRect/>
          </a:stretch>
        </p:blipFill>
        <p:spPr>
          <a:xfrm>
            <a:off x="7289800" y="1261886"/>
            <a:ext cx="3912999" cy="3912999"/>
          </a:xfrm>
          <a:prstGeom prst="rect">
            <a:avLst/>
          </a:prstGeom>
        </p:spPr>
      </p:pic>
      <p:pic>
        <p:nvPicPr>
          <p:cNvPr id="6" name="Grafik 5">
            <a:extLst>
              <a:ext uri="{FF2B5EF4-FFF2-40B4-BE49-F238E27FC236}">
                <a16:creationId xmlns:a16="http://schemas.microsoft.com/office/drawing/2014/main" id="{73DEFABA-BA34-ABA9-88CE-D54276F46C26}"/>
              </a:ext>
            </a:extLst>
          </p:cNvPr>
          <p:cNvPicPr>
            <a:picLocks noChangeAspect="1"/>
          </p:cNvPicPr>
          <p:nvPr/>
        </p:nvPicPr>
        <p:blipFill>
          <a:blip r:embed="rId4"/>
          <a:stretch>
            <a:fillRect/>
          </a:stretch>
        </p:blipFill>
        <p:spPr>
          <a:xfrm>
            <a:off x="361684" y="1519987"/>
            <a:ext cx="5734316" cy="3818026"/>
          </a:xfrm>
          <a:prstGeom prst="rect">
            <a:avLst/>
          </a:prstGeom>
        </p:spPr>
      </p:pic>
      <p:sp>
        <p:nvSpPr>
          <p:cNvPr id="8" name="Textfeld 7">
            <a:extLst>
              <a:ext uri="{FF2B5EF4-FFF2-40B4-BE49-F238E27FC236}">
                <a16:creationId xmlns:a16="http://schemas.microsoft.com/office/drawing/2014/main" id="{5610240B-1853-2169-D6C1-8986A2EC1BF0}"/>
              </a:ext>
            </a:extLst>
          </p:cNvPr>
          <p:cNvSpPr txBox="1"/>
          <p:nvPr/>
        </p:nvSpPr>
        <p:spPr>
          <a:xfrm>
            <a:off x="2700882" y="5330007"/>
            <a:ext cx="2015067" cy="307777"/>
          </a:xfrm>
          <a:prstGeom prst="rect">
            <a:avLst/>
          </a:prstGeom>
          <a:noFill/>
        </p:spPr>
        <p:txBody>
          <a:bodyPr wrap="square" rtlCol="0">
            <a:spAutoFit/>
          </a:bodyPr>
          <a:lstStyle/>
          <a:p>
            <a:r>
              <a:rPr lang="de-DE" sz="1400" b="1" dirty="0" err="1"/>
              <a:t>Using</a:t>
            </a:r>
            <a:r>
              <a:rPr lang="de-DE" sz="1400" b="1" dirty="0"/>
              <a:t> 2000 </a:t>
            </a:r>
            <a:r>
              <a:rPr lang="de-DE" sz="1400" b="1" dirty="0" err="1"/>
              <a:t>sim</a:t>
            </a:r>
            <a:r>
              <a:rPr lang="de-DE" sz="1400" b="1" dirty="0"/>
              <a:t> and DE</a:t>
            </a:r>
          </a:p>
        </p:txBody>
      </p:sp>
      <p:sp>
        <p:nvSpPr>
          <p:cNvPr id="10" name="Textfeld 9">
            <a:extLst>
              <a:ext uri="{FF2B5EF4-FFF2-40B4-BE49-F238E27FC236}">
                <a16:creationId xmlns:a16="http://schemas.microsoft.com/office/drawing/2014/main" id="{CC03DE47-CCD6-3C73-3229-012D8449DB96}"/>
              </a:ext>
            </a:extLst>
          </p:cNvPr>
          <p:cNvSpPr txBox="1"/>
          <p:nvPr/>
        </p:nvSpPr>
        <p:spPr>
          <a:xfrm>
            <a:off x="8172731" y="5330006"/>
            <a:ext cx="2767601" cy="307777"/>
          </a:xfrm>
          <a:prstGeom prst="rect">
            <a:avLst/>
          </a:prstGeom>
          <a:noFill/>
        </p:spPr>
        <p:txBody>
          <a:bodyPr wrap="square" rtlCol="0">
            <a:spAutoFit/>
          </a:bodyPr>
          <a:lstStyle/>
          <a:p>
            <a:r>
              <a:rPr lang="de-DE" sz="1400" b="1" dirty="0" err="1"/>
              <a:t>Using</a:t>
            </a:r>
            <a:r>
              <a:rPr lang="de-DE" sz="1400" b="1" dirty="0"/>
              <a:t> 200 </a:t>
            </a:r>
            <a:r>
              <a:rPr lang="de-DE" sz="1400" b="1" dirty="0" err="1"/>
              <a:t>sim</a:t>
            </a:r>
            <a:r>
              <a:rPr lang="de-DE" sz="1400" b="1" dirty="0"/>
              <a:t> and </a:t>
            </a:r>
            <a:r>
              <a:rPr lang="de-DE" sz="1400" b="1" dirty="0" err="1"/>
              <a:t>local</a:t>
            </a:r>
            <a:r>
              <a:rPr lang="de-DE" sz="1400" b="1" dirty="0"/>
              <a:t> </a:t>
            </a:r>
            <a:r>
              <a:rPr lang="de-DE" sz="1400" b="1" dirty="0" err="1"/>
              <a:t>optimizer</a:t>
            </a:r>
            <a:endParaRPr lang="de-DE" sz="1400" b="1" dirty="0"/>
          </a:p>
        </p:txBody>
      </p:sp>
      <p:sp>
        <p:nvSpPr>
          <p:cNvPr id="5" name="Textfeld 4">
            <a:extLst>
              <a:ext uri="{FF2B5EF4-FFF2-40B4-BE49-F238E27FC236}">
                <a16:creationId xmlns:a16="http://schemas.microsoft.com/office/drawing/2014/main" id="{FB4F4AF8-1C4C-87F5-4C94-B9D1A0C57A1F}"/>
              </a:ext>
            </a:extLst>
          </p:cNvPr>
          <p:cNvSpPr txBox="1"/>
          <p:nvPr/>
        </p:nvSpPr>
        <p:spPr>
          <a:xfrm>
            <a:off x="11836095" y="6485467"/>
            <a:ext cx="355600" cy="369332"/>
          </a:xfrm>
          <a:prstGeom prst="rect">
            <a:avLst/>
          </a:prstGeom>
          <a:noFill/>
        </p:spPr>
        <p:txBody>
          <a:bodyPr wrap="square" rtlCol="0">
            <a:spAutoFit/>
          </a:bodyPr>
          <a:lstStyle/>
          <a:p>
            <a:r>
              <a:rPr lang="de-DE"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
            <a:ext cx="12191695" cy="805543"/>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Recalibration method: why L-BFGS-B is acceptable</a:t>
            </a:r>
            <a:endParaRPr lang="en-US" sz="2600" dirty="0"/>
          </a:p>
        </p:txBody>
      </p:sp>
      <p:sp>
        <p:nvSpPr>
          <p:cNvPr id="4" name="Text 2"/>
          <p:cNvSpPr/>
          <p:nvPr/>
        </p:nvSpPr>
        <p:spPr>
          <a:xfrm>
            <a:off x="548640" y="484633"/>
            <a:ext cx="11094415" cy="201168"/>
          </a:xfrm>
          <a:prstGeom prst="rect">
            <a:avLst/>
          </a:prstGeom>
          <a:noFill/>
          <a:ln/>
        </p:spPr>
        <p:txBody>
          <a:bodyPr wrap="square" rtlCol="0" anchor="ctr"/>
          <a:lstStyle/>
          <a:p>
            <a:pPr marL="0" indent="0">
              <a:buNone/>
            </a:pPr>
            <a:r>
              <a:rPr lang="en-US" sz="1400" dirty="0">
                <a:solidFill>
                  <a:srgbClr val="E5E7EB"/>
                </a:solidFill>
                <a:latin typeface="Calibri" pitchFamily="34" charset="0"/>
                <a:ea typeface="Calibri" pitchFamily="34" charset="-122"/>
                <a:cs typeface="Calibri" pitchFamily="34" charset="-120"/>
              </a:rPr>
              <a:t>Tradeoff: speed vs global optimality</a:t>
            </a:r>
            <a:endParaRPr lang="en-US" sz="1400" dirty="0"/>
          </a:p>
        </p:txBody>
      </p:sp>
      <p:sp>
        <p:nvSpPr>
          <p:cNvPr id="6" name="Shape 3"/>
          <p:cNvSpPr/>
          <p:nvPr/>
        </p:nvSpPr>
        <p:spPr>
          <a:xfrm>
            <a:off x="740229" y="1097278"/>
            <a:ext cx="10689771" cy="5172891"/>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endParaRPr lang="en-DE"/>
          </a:p>
        </p:txBody>
      </p:sp>
      <p:sp>
        <p:nvSpPr>
          <p:cNvPr id="7" name="Text 4"/>
          <p:cNvSpPr/>
          <p:nvPr/>
        </p:nvSpPr>
        <p:spPr>
          <a:xfrm>
            <a:off x="7132320" y="1234440"/>
            <a:ext cx="4023360" cy="274320"/>
          </a:xfrm>
          <a:prstGeom prst="rect">
            <a:avLst/>
          </a:prstGeom>
          <a:noFill/>
          <a:ln/>
        </p:spPr>
        <p:txBody>
          <a:bodyPr wrap="square" rtlCol="0" anchor="ctr"/>
          <a:lstStyle/>
          <a:p>
            <a:pPr marL="0" indent="0">
              <a:buNone/>
            </a:pPr>
            <a:endParaRPr lang="en-US" sz="1800" dirty="0"/>
          </a:p>
        </p:txBody>
      </p:sp>
      <p:sp>
        <p:nvSpPr>
          <p:cNvPr id="8" name="Text 5"/>
          <p:cNvSpPr/>
          <p:nvPr/>
        </p:nvSpPr>
        <p:spPr>
          <a:xfrm>
            <a:off x="1036320" y="1480456"/>
            <a:ext cx="5733143" cy="4406537"/>
          </a:xfrm>
          <a:prstGeom prst="rect">
            <a:avLst/>
          </a:prstGeom>
          <a:noFill/>
          <a:ln/>
        </p:spPr>
        <p:txBody>
          <a:bodyPr wrap="square" rtlCol="0" anchor="ctr"/>
          <a:lstStyle/>
          <a:p>
            <a:pPr>
              <a:lnSpc>
                <a:spcPct val="150000"/>
              </a:lnSpc>
              <a:buSzPct val="100000"/>
            </a:pPr>
            <a:r>
              <a:rPr lang="en-US" sz="1600" dirty="0">
                <a:solidFill>
                  <a:srgbClr val="1F2937"/>
                </a:solidFill>
                <a:latin typeface="Calibri" pitchFamily="34" charset="0"/>
                <a:ea typeface="Calibri" pitchFamily="34" charset="-122"/>
                <a:cs typeface="Calibri" pitchFamily="34" charset="-120"/>
              </a:rPr>
              <a:t>L-BFGS-B (local, bounded):</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Fast → feasible to recalibrate 200–2000 times</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Works well when starting from a good reference solution</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Downside: can miss better global minima</a:t>
            </a:r>
            <a:endParaRPr lang="en-US" sz="1600" dirty="0"/>
          </a:p>
          <a:p>
            <a:pPr marL="228600" indent="-228600">
              <a:lnSpc>
                <a:spcPct val="150000"/>
              </a:lnSpc>
              <a:buSzPct val="100000"/>
              <a:buChar char="•"/>
            </a:pPr>
            <a:endParaRPr lang="en-US" sz="1600" dirty="0"/>
          </a:p>
          <a:p>
            <a:pPr>
              <a:lnSpc>
                <a:spcPct val="150000"/>
              </a:lnSpc>
              <a:buSzPct val="100000"/>
            </a:pPr>
            <a:r>
              <a:rPr lang="en-US" sz="1600" dirty="0">
                <a:solidFill>
                  <a:srgbClr val="1F2937"/>
                </a:solidFill>
                <a:latin typeface="Calibri" pitchFamily="34" charset="0"/>
                <a:ea typeface="Calibri" pitchFamily="34" charset="-122"/>
                <a:cs typeface="Calibri" pitchFamily="34" charset="-120"/>
              </a:rPr>
              <a:t>Differential Evolution (global):</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More robust to local minima</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Much slower per recalibration</a:t>
            </a:r>
            <a:endParaRPr lang="en-US" sz="1600" dirty="0"/>
          </a:p>
          <a:p>
            <a:pPr marL="228600" indent="-228600">
              <a:lnSpc>
                <a:spcPct val="150000"/>
              </a:lnSpc>
              <a:buSzPct val="100000"/>
              <a:buChar char="•"/>
            </a:pPr>
            <a:endParaRPr lang="en-US" sz="1600" dirty="0"/>
          </a:p>
          <a:p>
            <a:pPr>
              <a:lnSpc>
                <a:spcPct val="150000"/>
              </a:lnSpc>
              <a:buSzPct val="100000"/>
            </a:pPr>
            <a:r>
              <a:rPr lang="en-US" sz="1600" dirty="0">
                <a:solidFill>
                  <a:srgbClr val="1F2937"/>
                </a:solidFill>
                <a:latin typeface="Calibri" pitchFamily="34" charset="0"/>
                <a:ea typeface="Calibri" pitchFamily="34" charset="-122"/>
                <a:cs typeface="Calibri" pitchFamily="34" charset="-120"/>
              </a:rPr>
              <a:t>Practical compromise:</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Use L-BFGS-B for many perturbations</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Validate with occasional DE or multi-start checks</a:t>
            </a:r>
            <a:endParaRPr lang="en-US" sz="1600" dirty="0"/>
          </a:p>
        </p:txBody>
      </p:sp>
      <p:sp>
        <p:nvSpPr>
          <p:cNvPr id="5" name="Textfeld 4">
            <a:extLst>
              <a:ext uri="{FF2B5EF4-FFF2-40B4-BE49-F238E27FC236}">
                <a16:creationId xmlns:a16="http://schemas.microsoft.com/office/drawing/2014/main" id="{23605233-538D-DDD1-5078-77E0C206DC33}"/>
              </a:ext>
            </a:extLst>
          </p:cNvPr>
          <p:cNvSpPr txBox="1"/>
          <p:nvPr/>
        </p:nvSpPr>
        <p:spPr>
          <a:xfrm>
            <a:off x="11836095" y="6485467"/>
            <a:ext cx="355600" cy="369332"/>
          </a:xfrm>
          <a:prstGeom prst="rect">
            <a:avLst/>
          </a:prstGeom>
          <a:noFill/>
        </p:spPr>
        <p:txBody>
          <a:bodyPr wrap="square" rtlCol="0">
            <a:spAutoFit/>
          </a:bodyPr>
          <a:lstStyle/>
          <a:p>
            <a:r>
              <a:rPr lang="de-DE" dirty="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Hydrographs: baseline vs perturbed + recalibrated</a:t>
            </a:r>
            <a:endParaRPr lang="en-US" sz="2600" dirty="0"/>
          </a:p>
        </p:txBody>
      </p:sp>
      <p:sp>
        <p:nvSpPr>
          <p:cNvPr id="4" name="Text 2"/>
          <p:cNvSpPr/>
          <p:nvPr/>
        </p:nvSpPr>
        <p:spPr>
          <a:xfrm>
            <a:off x="548640" y="402336"/>
            <a:ext cx="11094415" cy="201168"/>
          </a:xfrm>
          <a:prstGeom prst="rect">
            <a:avLst/>
          </a:prstGeom>
          <a:noFill/>
          <a:ln/>
        </p:spPr>
        <p:txBody>
          <a:bodyPr wrap="square" rtlCol="0" anchor="ctr"/>
          <a:lstStyle/>
          <a:p>
            <a:pPr marL="0" indent="0">
              <a:buNone/>
            </a:pPr>
            <a:endParaRPr lang="en-US" sz="1400" dirty="0"/>
          </a:p>
        </p:txBody>
      </p:sp>
      <p:sp>
        <p:nvSpPr>
          <p:cNvPr id="5" name="Shape 3"/>
          <p:cNvSpPr/>
          <p:nvPr/>
        </p:nvSpPr>
        <p:spPr>
          <a:xfrm>
            <a:off x="477251" y="1097280"/>
            <a:ext cx="5440680" cy="5440680"/>
          </a:xfrm>
          <a:prstGeom prst="roundRect">
            <a:avLst/>
          </a:prstGeom>
          <a:solidFill>
            <a:srgbClr val="FFFFFF"/>
          </a:solidFill>
          <a:ln w="12700">
            <a:solidFill>
              <a:srgbClr val="D1D5DB"/>
            </a:solidFill>
            <a:prstDash val="solid"/>
          </a:ln>
        </p:spPr>
        <p:txBody>
          <a:bodyPr/>
          <a:lstStyle/>
          <a:p>
            <a:endParaRPr lang="en-DE"/>
          </a:p>
        </p:txBody>
      </p:sp>
      <p:sp>
        <p:nvSpPr>
          <p:cNvPr id="6" name="Text 4"/>
          <p:cNvSpPr/>
          <p:nvPr/>
        </p:nvSpPr>
        <p:spPr>
          <a:xfrm>
            <a:off x="960120" y="1188720"/>
            <a:ext cx="4892040" cy="274320"/>
          </a:xfrm>
          <a:prstGeom prst="rect">
            <a:avLst/>
          </a:prstGeom>
          <a:noFill/>
          <a:ln/>
        </p:spPr>
        <p:txBody>
          <a:bodyPr wrap="square" rtlCol="0" anchor="ctr"/>
          <a:lstStyle/>
          <a:p>
            <a:pPr marL="0" indent="0">
              <a:buNone/>
            </a:pPr>
            <a:endParaRPr lang="en-US" sz="1400" dirty="0"/>
          </a:p>
        </p:txBody>
      </p:sp>
      <p:sp>
        <p:nvSpPr>
          <p:cNvPr id="8" name="Shape 5"/>
          <p:cNvSpPr/>
          <p:nvPr/>
        </p:nvSpPr>
        <p:spPr>
          <a:xfrm>
            <a:off x="6400800" y="1097280"/>
            <a:ext cx="5440680" cy="5440680"/>
          </a:xfrm>
          <a:prstGeom prst="roundRect">
            <a:avLst/>
          </a:prstGeom>
          <a:solidFill>
            <a:srgbClr val="FFFFFF"/>
          </a:solidFill>
          <a:ln w="12700">
            <a:solidFill>
              <a:srgbClr val="D1D5DB"/>
            </a:solidFill>
            <a:prstDash val="solid"/>
          </a:ln>
        </p:spPr>
        <p:txBody>
          <a:bodyPr/>
          <a:lstStyle/>
          <a:p>
            <a:endParaRPr lang="en-DE"/>
          </a:p>
        </p:txBody>
      </p:sp>
      <p:sp>
        <p:nvSpPr>
          <p:cNvPr id="9" name="Text 6"/>
          <p:cNvSpPr/>
          <p:nvPr/>
        </p:nvSpPr>
        <p:spPr>
          <a:xfrm>
            <a:off x="6629400" y="1188720"/>
            <a:ext cx="4617720" cy="274320"/>
          </a:xfrm>
          <a:prstGeom prst="rect">
            <a:avLst/>
          </a:prstGeom>
          <a:noFill/>
          <a:ln/>
        </p:spPr>
        <p:txBody>
          <a:bodyPr wrap="square" rtlCol="0" anchor="ctr"/>
          <a:lstStyle/>
          <a:p>
            <a:pPr marL="0" indent="0">
              <a:buNone/>
            </a:pPr>
            <a:endParaRPr lang="en-US" sz="1400" dirty="0"/>
          </a:p>
        </p:txBody>
      </p:sp>
      <p:pic>
        <p:nvPicPr>
          <p:cNvPr id="11" name="Grafik 3" descr="Ein Bild, das Text, Reihe, Diagramm, Screenshot enthält.&#10;&#10;KI-generierte Inhalte können fehlerhaft sein.">
            <a:extLst>
              <a:ext uri="{FF2B5EF4-FFF2-40B4-BE49-F238E27FC236}">
                <a16:creationId xmlns:a16="http://schemas.microsoft.com/office/drawing/2014/main" id="{FDD16810-9630-7712-4AB5-CA51ACA6B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120" y="2718842"/>
            <a:ext cx="4519507" cy="2225106"/>
          </a:xfrm>
          <a:prstGeom prst="rect">
            <a:avLst/>
          </a:prstGeom>
        </p:spPr>
      </p:pic>
      <p:pic>
        <p:nvPicPr>
          <p:cNvPr id="12" name="Grafik 11">
            <a:extLst>
              <a:ext uri="{FF2B5EF4-FFF2-40B4-BE49-F238E27FC236}">
                <a16:creationId xmlns:a16="http://schemas.microsoft.com/office/drawing/2014/main" id="{B763C1BF-08DC-3874-8DF2-6A97A298959A}"/>
              </a:ext>
            </a:extLst>
          </p:cNvPr>
          <p:cNvPicPr>
            <a:picLocks noChangeAspect="1"/>
          </p:cNvPicPr>
          <p:nvPr/>
        </p:nvPicPr>
        <p:blipFill>
          <a:blip r:embed="rId4"/>
          <a:stretch>
            <a:fillRect/>
          </a:stretch>
        </p:blipFill>
        <p:spPr>
          <a:xfrm>
            <a:off x="6547653" y="1901952"/>
            <a:ext cx="5144948" cy="3077619"/>
          </a:xfrm>
          <a:prstGeom prst="rect">
            <a:avLst/>
          </a:prstGeom>
        </p:spPr>
      </p:pic>
      <p:pic>
        <p:nvPicPr>
          <p:cNvPr id="13" name="Grafik 12" descr="Ein Bild, das Reihe, Diagramm, Screenshot, Schrift enthält.&#10;&#10;KI-generierte Inhalte können fehlerhaft sein.">
            <a:extLst>
              <a:ext uri="{FF2B5EF4-FFF2-40B4-BE49-F238E27FC236}">
                <a16:creationId xmlns:a16="http://schemas.microsoft.com/office/drawing/2014/main" id="{D7F4E516-97BA-4D3F-21FC-5C82F4FB0248}"/>
              </a:ext>
            </a:extLst>
          </p:cNvPr>
          <p:cNvPicPr>
            <a:picLocks noChangeAspect="1"/>
          </p:cNvPicPr>
          <p:nvPr/>
        </p:nvPicPr>
        <p:blipFill>
          <a:blip r:embed="rId5"/>
          <a:stretch>
            <a:fillRect/>
          </a:stretch>
        </p:blipFill>
        <p:spPr>
          <a:xfrm>
            <a:off x="6781467" y="5040300"/>
            <a:ext cx="4677319" cy="743943"/>
          </a:xfrm>
          <a:prstGeom prst="rect">
            <a:avLst/>
          </a:prstGeom>
        </p:spPr>
      </p:pic>
      <p:pic>
        <p:nvPicPr>
          <p:cNvPr id="15" name="Grafik 14" descr="Ein Bild, das Reihe, Diagramm, Screenshot, Schrift enthält.&#10;&#10;KI-generierte Inhalte können fehlerhaft sein.">
            <a:extLst>
              <a:ext uri="{FF2B5EF4-FFF2-40B4-BE49-F238E27FC236}">
                <a16:creationId xmlns:a16="http://schemas.microsoft.com/office/drawing/2014/main" id="{9C1D21EC-CA1C-E42C-4B99-07B728A4B3EC}"/>
              </a:ext>
            </a:extLst>
          </p:cNvPr>
          <p:cNvPicPr>
            <a:picLocks noChangeAspect="1"/>
          </p:cNvPicPr>
          <p:nvPr/>
        </p:nvPicPr>
        <p:blipFill>
          <a:blip r:embed="rId6"/>
          <a:stretch>
            <a:fillRect/>
          </a:stretch>
        </p:blipFill>
        <p:spPr>
          <a:xfrm>
            <a:off x="6849366" y="5743419"/>
            <a:ext cx="4609420" cy="604157"/>
          </a:xfrm>
          <a:prstGeom prst="rect">
            <a:avLst/>
          </a:prstGeom>
        </p:spPr>
      </p:pic>
      <p:sp>
        <p:nvSpPr>
          <p:cNvPr id="7" name="Textfeld 4">
            <a:extLst>
              <a:ext uri="{FF2B5EF4-FFF2-40B4-BE49-F238E27FC236}">
                <a16:creationId xmlns:a16="http://schemas.microsoft.com/office/drawing/2014/main" id="{9183F547-ACE8-8F86-6874-E5B66CBC934A}"/>
              </a:ext>
            </a:extLst>
          </p:cNvPr>
          <p:cNvSpPr txBox="1"/>
          <p:nvPr/>
        </p:nvSpPr>
        <p:spPr>
          <a:xfrm>
            <a:off x="11836095" y="6485467"/>
            <a:ext cx="355600" cy="369332"/>
          </a:xfrm>
          <a:prstGeom prst="rect">
            <a:avLst/>
          </a:prstGeom>
          <a:noFill/>
        </p:spPr>
        <p:txBody>
          <a:bodyPr wrap="square" rtlCol="0">
            <a:spAutoFit/>
          </a:bodyPr>
          <a:lstStyle/>
          <a:p>
            <a:r>
              <a:rPr lang="de-DE"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Input Uncertainty of Parameters – Snow module</a:t>
            </a:r>
          </a:p>
        </p:txBody>
      </p:sp>
      <p:sp>
        <p:nvSpPr>
          <p:cNvPr id="4" name="Text 2"/>
          <p:cNvSpPr/>
          <p:nvPr/>
        </p:nvSpPr>
        <p:spPr>
          <a:xfrm>
            <a:off x="548640" y="502920"/>
            <a:ext cx="11094415" cy="201168"/>
          </a:xfrm>
          <a:prstGeom prst="rect">
            <a:avLst/>
          </a:prstGeom>
          <a:noFill/>
          <a:ln/>
        </p:spPr>
        <p:txBody>
          <a:bodyPr wrap="square" rtlCol="0" anchor="ctr"/>
          <a:lstStyle/>
          <a:p>
            <a:pPr marL="0" indent="0">
              <a:buNone/>
            </a:pPr>
            <a:r>
              <a:rPr lang="en-US" sz="1400" dirty="0">
                <a:solidFill>
                  <a:schemeClr val="bg1"/>
                </a:solidFill>
              </a:rPr>
              <a:t>Analysis of input uncertainty</a:t>
            </a:r>
          </a:p>
        </p:txBody>
      </p:sp>
      <p:pic>
        <p:nvPicPr>
          <p:cNvPr id="1028" name="Picture 4">
            <a:extLst>
              <a:ext uri="{FF2B5EF4-FFF2-40B4-BE49-F238E27FC236}">
                <a16:creationId xmlns:a16="http://schemas.microsoft.com/office/drawing/2014/main" id="{37BCFA85-5F2F-E925-FFAE-EBD53D198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34" y="1105854"/>
            <a:ext cx="4123266" cy="2433761"/>
          </a:xfrm>
          <a:prstGeom prst="rect">
            <a:avLst/>
          </a:prstGeom>
          <a:noFill/>
          <a:ln w="28575">
            <a:solidFill>
              <a:srgbClr val="002060"/>
            </a:solidFill>
          </a:ln>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54EDFB4-CA44-765B-68D6-3FB631D57B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093" y="3862791"/>
            <a:ext cx="4181507" cy="2492289"/>
          </a:xfrm>
          <a:prstGeom prst="rect">
            <a:avLst/>
          </a:prstGeom>
          <a:noFill/>
          <a:ln w="28575">
            <a:solidFill>
              <a:srgbClr val="002060"/>
            </a:solidFill>
          </a:ln>
          <a:extLst>
            <a:ext uri="{909E8E84-426E-40DD-AFC4-6F175D3DCCD1}">
              <a14:hiddenFill xmlns:a14="http://schemas.microsoft.com/office/drawing/2010/main">
                <a:solidFill>
                  <a:srgbClr val="FFFFFF"/>
                </a:solidFill>
              </a14:hiddenFill>
            </a:ext>
          </a:extLst>
        </p:spPr>
      </p:pic>
      <p:pic>
        <p:nvPicPr>
          <p:cNvPr id="10" name="Grafik 9" descr="Ein Bild, das Text, Reihe, Diagramm, Screenshot enthält.&#10;&#10;KI-generierte Inhalte können fehlerhaft sein.">
            <a:extLst>
              <a:ext uri="{FF2B5EF4-FFF2-40B4-BE49-F238E27FC236}">
                <a16:creationId xmlns:a16="http://schemas.microsoft.com/office/drawing/2014/main" id="{3F5B7DD6-9932-B279-CC8A-F838F97181F5}"/>
              </a:ext>
            </a:extLst>
          </p:cNvPr>
          <p:cNvPicPr>
            <a:picLocks noChangeAspect="1"/>
          </p:cNvPicPr>
          <p:nvPr/>
        </p:nvPicPr>
        <p:blipFill>
          <a:blip r:embed="rId5"/>
          <a:stretch>
            <a:fillRect/>
          </a:stretch>
        </p:blipFill>
        <p:spPr>
          <a:xfrm>
            <a:off x="5118795" y="3876545"/>
            <a:ext cx="4534591" cy="2492289"/>
          </a:xfrm>
          <a:prstGeom prst="rect">
            <a:avLst/>
          </a:prstGeom>
          <a:ln w="28575">
            <a:solidFill>
              <a:srgbClr val="002060"/>
            </a:solidFill>
          </a:ln>
        </p:spPr>
      </p:pic>
      <p:pic>
        <p:nvPicPr>
          <p:cNvPr id="17" name="Grafik 16" descr="Ein Bild, das Text, Reihe, Screenshot, Diagramm enthält.&#10;&#10;KI-generierte Inhalte können fehlerhaft sein.">
            <a:extLst>
              <a:ext uri="{FF2B5EF4-FFF2-40B4-BE49-F238E27FC236}">
                <a16:creationId xmlns:a16="http://schemas.microsoft.com/office/drawing/2014/main" id="{2AC0F520-B324-30F6-871C-0B3A8F46FF63}"/>
              </a:ext>
            </a:extLst>
          </p:cNvPr>
          <p:cNvPicPr>
            <a:picLocks noChangeAspect="1"/>
          </p:cNvPicPr>
          <p:nvPr/>
        </p:nvPicPr>
        <p:blipFill>
          <a:blip r:embed="rId6"/>
          <a:stretch>
            <a:fillRect/>
          </a:stretch>
        </p:blipFill>
        <p:spPr>
          <a:xfrm>
            <a:off x="5118794" y="1105855"/>
            <a:ext cx="4534591" cy="2433761"/>
          </a:xfrm>
          <a:prstGeom prst="rect">
            <a:avLst/>
          </a:prstGeom>
          <a:ln w="28575">
            <a:solidFill>
              <a:srgbClr val="002060"/>
            </a:solidFill>
          </a:ln>
        </p:spPr>
      </p:pic>
      <p:sp>
        <p:nvSpPr>
          <p:cNvPr id="19" name="Textfeld 18">
            <a:extLst>
              <a:ext uri="{FF2B5EF4-FFF2-40B4-BE49-F238E27FC236}">
                <a16:creationId xmlns:a16="http://schemas.microsoft.com/office/drawing/2014/main" id="{8395C08F-4B4D-1DCA-FAAA-B9912F80B543}"/>
              </a:ext>
            </a:extLst>
          </p:cNvPr>
          <p:cNvSpPr txBox="1"/>
          <p:nvPr/>
        </p:nvSpPr>
        <p:spPr>
          <a:xfrm>
            <a:off x="9982200" y="1092101"/>
            <a:ext cx="1938866" cy="5293757"/>
          </a:xfrm>
          <a:prstGeom prst="rect">
            <a:avLst/>
          </a:prstGeom>
          <a:noFill/>
          <a:ln w="28575">
            <a:solidFill>
              <a:srgbClr val="002060"/>
            </a:solidFill>
          </a:ln>
        </p:spPr>
        <p:txBody>
          <a:bodyPr wrap="square" rtlCol="0">
            <a:spAutoFit/>
          </a:bodyPr>
          <a:lstStyle/>
          <a:p>
            <a:pPr marL="285750" indent="-285750">
              <a:buFont typeface="Wingdings" panose="05000000000000000000" pitchFamily="2" charset="2"/>
              <a:buChar char="Ø"/>
            </a:pPr>
            <a:r>
              <a:rPr lang="de-DE" sz="1200" dirty="0"/>
              <a:t>HBV </a:t>
            </a:r>
            <a:r>
              <a:rPr lang="de-DE" sz="1200" dirty="0" err="1"/>
              <a:t>goes</a:t>
            </a:r>
            <a:r>
              <a:rPr lang="de-DE" sz="1200" dirty="0"/>
              <a:t> </a:t>
            </a:r>
            <a:r>
              <a:rPr lang="de-DE" sz="1200" dirty="0" err="1"/>
              <a:t>for</a:t>
            </a:r>
            <a:r>
              <a:rPr lang="de-DE" sz="1200" dirty="0"/>
              <a:t> </a:t>
            </a:r>
            <a:r>
              <a:rPr lang="de-DE" sz="1200" dirty="0" err="1"/>
              <a:t>the</a:t>
            </a:r>
            <a:r>
              <a:rPr lang="de-DE" sz="1200" dirty="0"/>
              <a:t> same </a:t>
            </a:r>
            <a:r>
              <a:rPr lang="de-DE" sz="1200" dirty="0" err="1"/>
              <a:t>thresholdtemperature</a:t>
            </a:r>
            <a:r>
              <a:rPr lang="de-DE" sz="1200" dirty="0"/>
              <a:t> </a:t>
            </a:r>
            <a:r>
              <a:rPr lang="de-DE" sz="1200" dirty="0" err="1"/>
              <a:t>which</a:t>
            </a:r>
            <a:r>
              <a:rPr lang="de-DE" sz="1200" dirty="0"/>
              <a:t> </a:t>
            </a:r>
            <a:r>
              <a:rPr lang="de-DE" sz="1200" dirty="0" err="1"/>
              <a:t>makes</a:t>
            </a:r>
            <a:r>
              <a:rPr lang="de-DE" sz="1200" dirty="0"/>
              <a:t> sense </a:t>
            </a:r>
            <a:r>
              <a:rPr lang="de-DE" sz="1200" dirty="0" err="1"/>
              <a:t>as</a:t>
            </a:r>
            <a:r>
              <a:rPr lang="de-DE" sz="1200" dirty="0"/>
              <a:t> </a:t>
            </a:r>
            <a:r>
              <a:rPr lang="de-DE" sz="1200" dirty="0" err="1"/>
              <a:t>the</a:t>
            </a:r>
            <a:r>
              <a:rPr lang="de-DE" sz="1200" dirty="0"/>
              <a:t> </a:t>
            </a:r>
            <a:r>
              <a:rPr lang="de-DE" sz="1200" dirty="0" err="1"/>
              <a:t>snow</a:t>
            </a:r>
            <a:r>
              <a:rPr lang="de-DE" sz="1200" dirty="0"/>
              <a:t> </a:t>
            </a:r>
            <a:r>
              <a:rPr lang="de-DE" sz="1200" dirty="0" err="1"/>
              <a:t>melting</a:t>
            </a:r>
            <a:r>
              <a:rPr lang="de-DE" sz="1200" dirty="0"/>
              <a:t> </a:t>
            </a:r>
            <a:r>
              <a:rPr lang="de-DE" sz="1200" dirty="0" err="1"/>
              <a:t>process</a:t>
            </a:r>
            <a:r>
              <a:rPr lang="de-DE" sz="1200" dirty="0"/>
              <a:t> </a:t>
            </a:r>
            <a:r>
              <a:rPr lang="de-DE" sz="1200" dirty="0" err="1"/>
              <a:t>should</a:t>
            </a:r>
            <a:r>
              <a:rPr lang="de-DE" sz="1200" dirty="0"/>
              <a:t> beging </a:t>
            </a:r>
            <a:r>
              <a:rPr lang="de-DE" sz="1200" dirty="0" err="1"/>
              <a:t>independently</a:t>
            </a:r>
            <a:r>
              <a:rPr lang="de-DE" sz="1200" dirty="0"/>
              <a:t> </a:t>
            </a:r>
            <a:r>
              <a:rPr lang="de-DE" sz="1200" dirty="0" err="1"/>
              <a:t>of</a:t>
            </a:r>
            <a:r>
              <a:rPr lang="de-DE" sz="1200" dirty="0"/>
              <a:t> </a:t>
            </a:r>
            <a:r>
              <a:rPr lang="de-DE" sz="1200" dirty="0" err="1"/>
              <a:t>the</a:t>
            </a:r>
            <a:r>
              <a:rPr lang="de-DE" sz="1200" dirty="0"/>
              <a:t> </a:t>
            </a:r>
            <a:r>
              <a:rPr lang="de-DE" sz="1200" dirty="0" err="1"/>
              <a:t>precipitation</a:t>
            </a:r>
            <a:r>
              <a:rPr lang="de-DE" sz="1200" dirty="0"/>
              <a:t>. </a:t>
            </a:r>
          </a:p>
          <a:p>
            <a:endParaRPr lang="de-DE" sz="1200" dirty="0"/>
          </a:p>
          <a:p>
            <a:endParaRPr lang="de-DE" sz="1200" dirty="0"/>
          </a:p>
          <a:p>
            <a:endParaRPr lang="de-DE" sz="1200" dirty="0"/>
          </a:p>
          <a:p>
            <a:endParaRPr lang="de-DE" sz="1200" dirty="0"/>
          </a:p>
          <a:p>
            <a:endParaRPr lang="de-DE" sz="1200" dirty="0"/>
          </a:p>
          <a:p>
            <a:endParaRPr lang="de-DE" sz="1200" dirty="0"/>
          </a:p>
          <a:p>
            <a:endParaRPr lang="de-DE" sz="1200" dirty="0"/>
          </a:p>
          <a:p>
            <a:endParaRPr lang="de-DE" sz="1200" dirty="0"/>
          </a:p>
          <a:p>
            <a:endParaRPr lang="de-DE" sz="1200" dirty="0"/>
          </a:p>
          <a:p>
            <a:pPr marL="285750" indent="-285750">
              <a:buFont typeface="Wingdings" panose="05000000000000000000" pitchFamily="2" charset="2"/>
              <a:buChar char="Ø"/>
            </a:pPr>
            <a:r>
              <a:rPr lang="de-DE" sz="1200" dirty="0"/>
              <a:t>Permanent </a:t>
            </a:r>
            <a:r>
              <a:rPr lang="de-DE" sz="1200" dirty="0" err="1"/>
              <a:t>Melting</a:t>
            </a:r>
            <a:r>
              <a:rPr lang="de-DE" sz="1200" dirty="0"/>
              <a:t> </a:t>
            </a:r>
            <a:r>
              <a:rPr lang="de-DE" sz="1200" dirty="0" err="1"/>
              <a:t>Factor</a:t>
            </a:r>
            <a:r>
              <a:rPr lang="de-DE" sz="1200" dirty="0"/>
              <a:t> also </a:t>
            </a:r>
            <a:r>
              <a:rPr lang="de-DE" sz="1200" dirty="0" err="1"/>
              <a:t>small</a:t>
            </a:r>
            <a:r>
              <a:rPr lang="de-DE" sz="1200" dirty="0"/>
              <a:t> </a:t>
            </a:r>
            <a:r>
              <a:rPr lang="de-DE" sz="1200" dirty="0" err="1"/>
              <a:t>changes</a:t>
            </a:r>
            <a:r>
              <a:rPr lang="de-DE" sz="1200" dirty="0"/>
              <a:t> </a:t>
            </a:r>
            <a:r>
              <a:rPr lang="de-DE" sz="1200" dirty="0" err="1"/>
              <a:t>as</a:t>
            </a:r>
            <a:r>
              <a:rPr lang="de-DE" sz="1200" dirty="0"/>
              <a:t> </a:t>
            </a:r>
            <a:r>
              <a:rPr lang="de-DE" sz="1200" dirty="0" err="1"/>
              <a:t>the</a:t>
            </a:r>
            <a:r>
              <a:rPr lang="de-DE" sz="1200" dirty="0"/>
              <a:t> </a:t>
            </a:r>
            <a:r>
              <a:rPr lang="de-DE" sz="1200" dirty="0" err="1"/>
              <a:t>factor</a:t>
            </a:r>
            <a:r>
              <a:rPr lang="de-DE" sz="1200" dirty="0"/>
              <a:t> </a:t>
            </a:r>
            <a:r>
              <a:rPr lang="de-DE" sz="1200" dirty="0" err="1"/>
              <a:t>is</a:t>
            </a:r>
            <a:r>
              <a:rPr lang="de-DE" sz="1200" dirty="0"/>
              <a:t> </a:t>
            </a:r>
            <a:r>
              <a:rPr lang="de-DE" sz="1200" dirty="0" err="1"/>
              <a:t>related</a:t>
            </a:r>
            <a:r>
              <a:rPr lang="de-DE" sz="1200" dirty="0"/>
              <a:t> </a:t>
            </a:r>
            <a:r>
              <a:rPr lang="de-DE" sz="1200" dirty="0" err="1"/>
              <a:t>to</a:t>
            </a:r>
            <a:r>
              <a:rPr lang="de-DE" sz="1200" dirty="0"/>
              <a:t> </a:t>
            </a:r>
            <a:r>
              <a:rPr lang="de-DE" sz="1200" dirty="0" err="1"/>
              <a:t>the</a:t>
            </a:r>
            <a:r>
              <a:rPr lang="de-DE" sz="1200" dirty="0"/>
              <a:t> </a:t>
            </a:r>
            <a:r>
              <a:rPr lang="de-DE" sz="1200" dirty="0" err="1"/>
              <a:t>pptn</a:t>
            </a:r>
            <a:r>
              <a:rPr lang="de-DE" sz="1200" dirty="0"/>
              <a:t>, </a:t>
            </a:r>
            <a:r>
              <a:rPr lang="de-DE" sz="1200" dirty="0" err="1"/>
              <a:t>however</a:t>
            </a:r>
            <a:r>
              <a:rPr lang="de-DE" sz="1200" dirty="0"/>
              <a:t> </a:t>
            </a:r>
            <a:r>
              <a:rPr lang="de-DE" sz="1200" dirty="0" err="1"/>
              <a:t>should</a:t>
            </a:r>
            <a:r>
              <a:rPr lang="de-DE" sz="1200" dirty="0"/>
              <a:t> not </a:t>
            </a:r>
            <a:r>
              <a:rPr lang="de-DE" sz="1200" dirty="0" err="1"/>
              <a:t>change</a:t>
            </a:r>
            <a:r>
              <a:rPr lang="de-DE" sz="1200" dirty="0"/>
              <a:t> </a:t>
            </a:r>
            <a:r>
              <a:rPr lang="de-DE" sz="1200" dirty="0" err="1"/>
              <a:t>itself</a:t>
            </a:r>
            <a:r>
              <a:rPr lang="de-DE" sz="1200" dirty="0"/>
              <a:t> </a:t>
            </a:r>
            <a:r>
              <a:rPr lang="de-DE" sz="1200" dirty="0" err="1"/>
              <a:t>drastically</a:t>
            </a:r>
            <a:r>
              <a:rPr lang="de-DE" sz="1200" dirty="0"/>
              <a:t> due </a:t>
            </a:r>
            <a:r>
              <a:rPr lang="de-DE" sz="1200" dirty="0" err="1"/>
              <a:t>to</a:t>
            </a:r>
            <a:r>
              <a:rPr lang="de-DE" sz="1200" dirty="0"/>
              <a:t> </a:t>
            </a:r>
            <a:r>
              <a:rPr lang="de-DE" sz="1200" dirty="0" err="1"/>
              <a:t>randomness</a:t>
            </a:r>
            <a:r>
              <a:rPr lang="de-DE" sz="1200" dirty="0"/>
              <a:t> </a:t>
            </a:r>
            <a:r>
              <a:rPr lang="de-DE" sz="1200" dirty="0" err="1"/>
              <a:t>as</a:t>
            </a:r>
            <a:r>
              <a:rPr lang="de-DE" sz="1200" dirty="0"/>
              <a:t> </a:t>
            </a:r>
            <a:r>
              <a:rPr lang="de-DE" sz="1200" dirty="0" err="1"/>
              <a:t>sometimes</a:t>
            </a:r>
            <a:r>
              <a:rPr lang="de-DE" sz="1200" dirty="0"/>
              <a:t> </a:t>
            </a:r>
            <a:r>
              <a:rPr lang="de-DE" sz="1200" dirty="0" err="1"/>
              <a:t>we</a:t>
            </a:r>
            <a:r>
              <a:rPr lang="de-DE" sz="1200" dirty="0"/>
              <a:t> </a:t>
            </a:r>
            <a:r>
              <a:rPr lang="de-DE" sz="1200" dirty="0" err="1"/>
              <a:t>have</a:t>
            </a:r>
            <a:r>
              <a:rPr lang="de-DE" sz="1200" dirty="0"/>
              <a:t> </a:t>
            </a:r>
            <a:r>
              <a:rPr lang="de-DE" sz="1200" dirty="0" err="1"/>
              <a:t>too</a:t>
            </a:r>
            <a:r>
              <a:rPr lang="de-DE" sz="1200" dirty="0"/>
              <a:t> </a:t>
            </a:r>
            <a:r>
              <a:rPr lang="de-DE" sz="1200" dirty="0" err="1"/>
              <a:t>much</a:t>
            </a:r>
            <a:r>
              <a:rPr lang="de-DE" sz="1200" dirty="0"/>
              <a:t> and </a:t>
            </a:r>
            <a:r>
              <a:rPr lang="de-DE" sz="1200" dirty="0" err="1"/>
              <a:t>sometimes</a:t>
            </a:r>
            <a:r>
              <a:rPr lang="de-DE" sz="1200" dirty="0"/>
              <a:t> </a:t>
            </a:r>
            <a:r>
              <a:rPr lang="de-DE" sz="1200" dirty="0" err="1"/>
              <a:t>less</a:t>
            </a:r>
            <a:r>
              <a:rPr lang="de-DE" sz="1200" dirty="0"/>
              <a:t> </a:t>
            </a:r>
            <a:r>
              <a:rPr lang="de-DE" sz="1200" dirty="0" err="1"/>
              <a:t>precipitation</a:t>
            </a:r>
            <a:endParaRPr lang="de-DE" sz="1200" dirty="0"/>
          </a:p>
          <a:p>
            <a:endParaRPr lang="de-DE" sz="1400" dirty="0"/>
          </a:p>
        </p:txBody>
      </p:sp>
      <p:sp>
        <p:nvSpPr>
          <p:cNvPr id="5" name="Textfeld 4">
            <a:extLst>
              <a:ext uri="{FF2B5EF4-FFF2-40B4-BE49-F238E27FC236}">
                <a16:creationId xmlns:a16="http://schemas.microsoft.com/office/drawing/2014/main" id="{3650D68C-3495-18DE-F5F7-E0F117FFEC46}"/>
              </a:ext>
            </a:extLst>
          </p:cNvPr>
          <p:cNvSpPr txBox="1"/>
          <p:nvPr/>
        </p:nvSpPr>
        <p:spPr>
          <a:xfrm>
            <a:off x="11643055" y="6485467"/>
            <a:ext cx="548640" cy="369332"/>
          </a:xfrm>
          <a:prstGeom prst="rect">
            <a:avLst/>
          </a:prstGeom>
          <a:noFill/>
        </p:spPr>
        <p:txBody>
          <a:bodyPr wrap="square" rtlCol="0">
            <a:spAutoFit/>
          </a:bodyPr>
          <a:lstStyle/>
          <a:p>
            <a:r>
              <a:rPr lang="de-DE"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8743F-86CF-72F7-C901-8DACB25CAF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E0DEB8B-0C78-4840-9952-E04D1BA6C72A}"/>
              </a:ext>
            </a:extLst>
          </p:cNvPr>
          <p:cNvSpPr/>
          <p:nvPr/>
        </p:nvSpPr>
        <p:spPr>
          <a:xfrm>
            <a:off x="0" y="0"/>
            <a:ext cx="12191695" cy="822960"/>
          </a:xfrm>
          <a:prstGeom prst="rect">
            <a:avLst/>
          </a:prstGeom>
          <a:solidFill>
            <a:srgbClr val="0B3D91"/>
          </a:solidFill>
          <a:ln w="12700">
            <a:solidFill>
              <a:srgbClr val="0B3D91"/>
            </a:solidFill>
            <a:prstDash val="solid"/>
          </a:ln>
        </p:spPr>
        <p:txBody>
          <a:bodyPr/>
          <a:lstStyle/>
          <a:p>
            <a:endParaRPr lang="en-DE"/>
          </a:p>
        </p:txBody>
      </p:sp>
      <p:sp>
        <p:nvSpPr>
          <p:cNvPr id="3" name="Text 1">
            <a:extLst>
              <a:ext uri="{FF2B5EF4-FFF2-40B4-BE49-F238E27FC236}">
                <a16:creationId xmlns:a16="http://schemas.microsoft.com/office/drawing/2014/main" id="{B80EBDEE-951A-688B-02EC-E77A0D748B80}"/>
              </a:ext>
            </a:extLst>
          </p:cNvPr>
          <p:cNvSpPr/>
          <p:nvPr/>
        </p:nvSpPr>
        <p:spPr>
          <a:xfrm>
            <a:off x="548640" y="128016"/>
            <a:ext cx="11094415" cy="329184"/>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Input Uncertainty of Parameters – Soil module</a:t>
            </a:r>
          </a:p>
        </p:txBody>
      </p:sp>
      <p:sp>
        <p:nvSpPr>
          <p:cNvPr id="4" name="Text 2">
            <a:extLst>
              <a:ext uri="{FF2B5EF4-FFF2-40B4-BE49-F238E27FC236}">
                <a16:creationId xmlns:a16="http://schemas.microsoft.com/office/drawing/2014/main" id="{9B6A4697-3406-3EDC-AE3E-71B4C2180282}"/>
              </a:ext>
            </a:extLst>
          </p:cNvPr>
          <p:cNvSpPr/>
          <p:nvPr/>
        </p:nvSpPr>
        <p:spPr>
          <a:xfrm>
            <a:off x="548640" y="502920"/>
            <a:ext cx="11094415" cy="201168"/>
          </a:xfrm>
          <a:prstGeom prst="rect">
            <a:avLst/>
          </a:prstGeom>
          <a:noFill/>
          <a:ln/>
        </p:spPr>
        <p:txBody>
          <a:bodyPr wrap="square" rtlCol="0" anchor="ctr"/>
          <a:lstStyle/>
          <a:p>
            <a:pPr marL="0" indent="0">
              <a:buNone/>
            </a:pPr>
            <a:r>
              <a:rPr lang="en-US" sz="1400" dirty="0">
                <a:solidFill>
                  <a:schemeClr val="bg1"/>
                </a:solidFill>
              </a:rPr>
              <a:t>Analysis of input uncertainty</a:t>
            </a:r>
          </a:p>
        </p:txBody>
      </p:sp>
      <p:pic>
        <p:nvPicPr>
          <p:cNvPr id="1028" name="Picture 4">
            <a:extLst>
              <a:ext uri="{FF2B5EF4-FFF2-40B4-BE49-F238E27FC236}">
                <a16:creationId xmlns:a16="http://schemas.microsoft.com/office/drawing/2014/main" id="{ABC52CEE-E6E2-A1B9-55D6-F56DFDD39DE0}"/>
              </a:ext>
            </a:extLst>
          </p:cNvPr>
          <p:cNvPicPr>
            <a:picLocks noChangeAspect="1" noChangeArrowheads="1"/>
          </p:cNvPicPr>
          <p:nvPr/>
        </p:nvPicPr>
        <p:blipFill>
          <a:blip r:embed="rId3"/>
          <a:srcRect/>
          <a:stretch/>
        </p:blipFill>
        <p:spPr bwMode="auto">
          <a:xfrm>
            <a:off x="443415" y="1105854"/>
            <a:ext cx="4083103" cy="2433761"/>
          </a:xfrm>
          <a:prstGeom prst="rect">
            <a:avLst/>
          </a:prstGeom>
          <a:noFill/>
          <a:ln w="28575">
            <a:solidFill>
              <a:srgbClr val="002060"/>
            </a:solidFill>
          </a:ln>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E35DE5B-77AA-D4CF-8CC3-B0A1F38E610D}"/>
              </a:ext>
            </a:extLst>
          </p:cNvPr>
          <p:cNvPicPr>
            <a:picLocks noChangeAspect="1" noChangeArrowheads="1"/>
          </p:cNvPicPr>
          <p:nvPr/>
        </p:nvPicPr>
        <p:blipFill>
          <a:blip r:embed="rId4"/>
          <a:srcRect/>
          <a:stretch/>
        </p:blipFill>
        <p:spPr bwMode="auto">
          <a:xfrm>
            <a:off x="365199" y="3862791"/>
            <a:ext cx="4181295" cy="2492289"/>
          </a:xfrm>
          <a:prstGeom prst="rect">
            <a:avLst/>
          </a:prstGeom>
          <a:noFill/>
          <a:ln w="28575">
            <a:solidFill>
              <a:srgbClr val="002060"/>
            </a:solidFill>
          </a:ln>
          <a:extLst>
            <a:ext uri="{909E8E84-426E-40DD-AFC4-6F175D3DCCD1}">
              <a14:hiddenFill xmlns:a14="http://schemas.microsoft.com/office/drawing/2010/main">
                <a:solidFill>
                  <a:srgbClr val="FFFFFF"/>
                </a:solidFill>
              </a14:hiddenFill>
            </a:ext>
          </a:extLst>
        </p:spPr>
      </p:pic>
      <p:pic>
        <p:nvPicPr>
          <p:cNvPr id="10" name="Grafik 9">
            <a:extLst>
              <a:ext uri="{FF2B5EF4-FFF2-40B4-BE49-F238E27FC236}">
                <a16:creationId xmlns:a16="http://schemas.microsoft.com/office/drawing/2014/main" id="{2DB28A40-2EC8-728F-F071-B335A677998D}"/>
              </a:ext>
            </a:extLst>
          </p:cNvPr>
          <p:cNvPicPr>
            <a:picLocks noChangeAspect="1"/>
          </p:cNvPicPr>
          <p:nvPr/>
        </p:nvPicPr>
        <p:blipFill>
          <a:blip r:embed="rId5"/>
          <a:srcRect/>
          <a:stretch/>
        </p:blipFill>
        <p:spPr>
          <a:xfrm>
            <a:off x="5118795" y="3958928"/>
            <a:ext cx="4534591" cy="2327523"/>
          </a:xfrm>
          <a:prstGeom prst="rect">
            <a:avLst/>
          </a:prstGeom>
          <a:ln w="28575">
            <a:solidFill>
              <a:srgbClr val="002060"/>
            </a:solidFill>
          </a:ln>
        </p:spPr>
      </p:pic>
      <p:pic>
        <p:nvPicPr>
          <p:cNvPr id="17" name="Grafik 16">
            <a:extLst>
              <a:ext uri="{FF2B5EF4-FFF2-40B4-BE49-F238E27FC236}">
                <a16:creationId xmlns:a16="http://schemas.microsoft.com/office/drawing/2014/main" id="{BDBA4006-2BCD-1E4C-6D83-D7545FBDA0E7}"/>
              </a:ext>
            </a:extLst>
          </p:cNvPr>
          <p:cNvPicPr>
            <a:picLocks noChangeAspect="1"/>
          </p:cNvPicPr>
          <p:nvPr/>
        </p:nvPicPr>
        <p:blipFill>
          <a:blip r:embed="rId6"/>
          <a:srcRect/>
          <a:stretch/>
        </p:blipFill>
        <p:spPr>
          <a:xfrm>
            <a:off x="5118794" y="1166935"/>
            <a:ext cx="4534591" cy="2311601"/>
          </a:xfrm>
          <a:prstGeom prst="rect">
            <a:avLst/>
          </a:prstGeom>
          <a:ln w="28575">
            <a:solidFill>
              <a:srgbClr val="002060"/>
            </a:solidFill>
          </a:ln>
        </p:spPr>
      </p:pic>
      <p:sp>
        <p:nvSpPr>
          <p:cNvPr id="19" name="Textfeld 18">
            <a:extLst>
              <a:ext uri="{FF2B5EF4-FFF2-40B4-BE49-F238E27FC236}">
                <a16:creationId xmlns:a16="http://schemas.microsoft.com/office/drawing/2014/main" id="{79E543AD-7B09-E0C4-CB70-AC530F4FE847}"/>
              </a:ext>
            </a:extLst>
          </p:cNvPr>
          <p:cNvSpPr txBox="1"/>
          <p:nvPr/>
        </p:nvSpPr>
        <p:spPr>
          <a:xfrm>
            <a:off x="9982200" y="1092101"/>
            <a:ext cx="1938866" cy="5078313"/>
          </a:xfrm>
          <a:prstGeom prst="rect">
            <a:avLst/>
          </a:prstGeom>
          <a:noFill/>
          <a:ln w="28575">
            <a:solidFill>
              <a:srgbClr val="002060"/>
            </a:solidFill>
          </a:ln>
        </p:spPr>
        <p:txBody>
          <a:bodyPr wrap="square" rtlCol="0">
            <a:spAutoFit/>
          </a:bodyPr>
          <a:lstStyle/>
          <a:p>
            <a:pPr marL="285750" indent="-285750">
              <a:buFont typeface="Wingdings" panose="05000000000000000000" pitchFamily="2" charset="2"/>
              <a:buChar char="Ø"/>
            </a:pPr>
            <a:r>
              <a:rPr lang="de-DE" sz="1200" dirty="0"/>
              <a:t>The </a:t>
            </a:r>
            <a:r>
              <a:rPr lang="de-DE" sz="1200" dirty="0" err="1"/>
              <a:t>field</a:t>
            </a:r>
            <a:r>
              <a:rPr lang="de-DE" sz="1200" dirty="0"/>
              <a:t> </a:t>
            </a:r>
            <a:r>
              <a:rPr lang="de-DE" sz="1200" dirty="0" err="1"/>
              <a:t>capacity</a:t>
            </a:r>
            <a:r>
              <a:rPr lang="de-DE" sz="1200" dirty="0"/>
              <a:t> </a:t>
            </a:r>
            <a:r>
              <a:rPr lang="de-DE" sz="1200" dirty="0" err="1"/>
              <a:t>parameter</a:t>
            </a:r>
            <a:r>
              <a:rPr lang="de-DE" sz="1200" dirty="0"/>
              <a:t> </a:t>
            </a:r>
            <a:r>
              <a:rPr lang="de-DE" sz="1200" dirty="0" err="1"/>
              <a:t>seems</a:t>
            </a:r>
            <a:r>
              <a:rPr lang="de-DE" sz="1200" dirty="0"/>
              <a:t> </a:t>
            </a:r>
            <a:r>
              <a:rPr lang="de-DE" sz="1200" dirty="0" err="1"/>
              <a:t>to</a:t>
            </a:r>
            <a:r>
              <a:rPr lang="de-DE" sz="1200" dirty="0"/>
              <a:t> </a:t>
            </a:r>
            <a:r>
              <a:rPr lang="de-DE" sz="1200" dirty="0" err="1"/>
              <a:t>have</a:t>
            </a:r>
            <a:r>
              <a:rPr lang="de-DE" sz="1200" dirty="0"/>
              <a:t> </a:t>
            </a:r>
            <a:r>
              <a:rPr lang="de-DE" sz="1200" dirty="0" err="1"/>
              <a:t>more</a:t>
            </a:r>
            <a:r>
              <a:rPr lang="de-DE" sz="1200" dirty="0"/>
              <a:t> </a:t>
            </a:r>
            <a:r>
              <a:rPr lang="de-DE" sz="1200" dirty="0" err="1"/>
              <a:t>stable</a:t>
            </a:r>
            <a:r>
              <a:rPr lang="de-DE" sz="1200" dirty="0"/>
              <a:t> and </a:t>
            </a:r>
            <a:r>
              <a:rPr lang="de-DE" sz="1200" dirty="0" err="1"/>
              <a:t>less</a:t>
            </a:r>
            <a:r>
              <a:rPr lang="de-DE" sz="1200" dirty="0"/>
              <a:t> </a:t>
            </a:r>
            <a:r>
              <a:rPr lang="de-DE" sz="1200" dirty="0" err="1"/>
              <a:t>stable</a:t>
            </a:r>
            <a:r>
              <a:rPr lang="de-DE" sz="1200" dirty="0"/>
              <a:t> </a:t>
            </a:r>
            <a:r>
              <a:rPr lang="de-DE" sz="1200" dirty="0" err="1"/>
              <a:t>values</a:t>
            </a:r>
            <a:r>
              <a:rPr lang="de-DE" sz="1200" dirty="0"/>
              <a:t>. The </a:t>
            </a:r>
            <a:r>
              <a:rPr lang="de-DE" sz="1200" dirty="0" err="1"/>
              <a:t>reference</a:t>
            </a:r>
            <a:r>
              <a:rPr lang="de-DE" sz="1200" dirty="0"/>
              <a:t> </a:t>
            </a:r>
            <a:r>
              <a:rPr lang="de-DE" sz="1200" dirty="0" err="1"/>
              <a:t>value</a:t>
            </a:r>
            <a:r>
              <a:rPr lang="de-DE" sz="1200" dirty="0"/>
              <a:t> also </a:t>
            </a:r>
            <a:r>
              <a:rPr lang="de-DE" sz="1200" dirty="0" err="1"/>
              <a:t>seems</a:t>
            </a:r>
            <a:r>
              <a:rPr lang="de-DE" sz="1200" dirty="0"/>
              <a:t> </a:t>
            </a:r>
            <a:r>
              <a:rPr lang="de-DE" sz="1200" dirty="0" err="1"/>
              <a:t>to</a:t>
            </a:r>
            <a:r>
              <a:rPr lang="de-DE" sz="1200" dirty="0"/>
              <a:t> </a:t>
            </a:r>
            <a:r>
              <a:rPr lang="de-DE" sz="1200" dirty="0" err="1"/>
              <a:t>be</a:t>
            </a:r>
            <a:r>
              <a:rPr lang="de-DE" sz="1200" dirty="0"/>
              <a:t> </a:t>
            </a:r>
            <a:r>
              <a:rPr lang="de-DE" sz="1200" dirty="0" err="1"/>
              <a:t>way</a:t>
            </a:r>
            <a:r>
              <a:rPr lang="de-DE" sz="1200" dirty="0"/>
              <a:t> off.</a:t>
            </a:r>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r>
              <a:rPr lang="de-DE" sz="1200" dirty="0" err="1"/>
              <a:t>Similarly</a:t>
            </a:r>
            <a:r>
              <a:rPr lang="de-DE" sz="1200" dirty="0"/>
              <a:t>, </a:t>
            </a:r>
            <a:r>
              <a:rPr lang="de-DE" sz="1200" dirty="0" err="1"/>
              <a:t>the</a:t>
            </a:r>
            <a:r>
              <a:rPr lang="de-DE" sz="1200" dirty="0"/>
              <a:t> same </a:t>
            </a:r>
            <a:r>
              <a:rPr lang="de-DE" sz="1200" dirty="0" err="1"/>
              <a:t>can</a:t>
            </a:r>
            <a:r>
              <a:rPr lang="de-DE" sz="1200" dirty="0"/>
              <a:t> </a:t>
            </a:r>
            <a:r>
              <a:rPr lang="de-DE" sz="1200" dirty="0" err="1"/>
              <a:t>be</a:t>
            </a:r>
            <a:r>
              <a:rPr lang="de-DE" sz="1200" dirty="0"/>
              <a:t> </a:t>
            </a:r>
            <a:r>
              <a:rPr lang="de-DE" sz="1200" dirty="0" err="1"/>
              <a:t>seen</a:t>
            </a:r>
            <a:r>
              <a:rPr lang="de-DE" sz="1200" dirty="0"/>
              <a:t> </a:t>
            </a:r>
            <a:r>
              <a:rPr lang="de-DE" sz="1200" dirty="0" err="1"/>
              <a:t>with</a:t>
            </a:r>
            <a:r>
              <a:rPr lang="de-DE" sz="1200" dirty="0"/>
              <a:t> </a:t>
            </a:r>
            <a:r>
              <a:rPr lang="de-DE" sz="1200" dirty="0" err="1"/>
              <a:t>the</a:t>
            </a:r>
            <a:r>
              <a:rPr lang="de-DE" sz="1200" dirty="0"/>
              <a:t> </a:t>
            </a:r>
            <a:r>
              <a:rPr lang="de-DE" sz="1200" dirty="0" err="1"/>
              <a:t>soil</a:t>
            </a:r>
            <a:r>
              <a:rPr lang="de-DE" sz="1200" dirty="0"/>
              <a:t> </a:t>
            </a:r>
            <a:r>
              <a:rPr lang="de-DE" sz="1200" dirty="0" err="1"/>
              <a:t>beta</a:t>
            </a:r>
            <a:r>
              <a:rPr lang="de-DE" sz="1200" dirty="0"/>
              <a:t>. Here </a:t>
            </a:r>
            <a:r>
              <a:rPr lang="de-DE" sz="1200" dirty="0" err="1"/>
              <a:t>however</a:t>
            </a:r>
            <a:r>
              <a:rPr lang="de-DE" sz="1200" dirty="0"/>
              <a:t> </a:t>
            </a:r>
            <a:r>
              <a:rPr lang="de-DE" sz="1200" dirty="0" err="1"/>
              <a:t>the</a:t>
            </a:r>
            <a:r>
              <a:rPr lang="de-DE" sz="1200" dirty="0"/>
              <a:t> </a:t>
            </a:r>
            <a:r>
              <a:rPr lang="de-DE" sz="1200" dirty="0" err="1"/>
              <a:t>reference</a:t>
            </a:r>
            <a:r>
              <a:rPr lang="de-DE" sz="1200" dirty="0"/>
              <a:t> </a:t>
            </a:r>
            <a:r>
              <a:rPr lang="de-DE" sz="1200" dirty="0" err="1"/>
              <a:t>value</a:t>
            </a:r>
            <a:r>
              <a:rPr lang="de-DE" sz="1200" dirty="0"/>
              <a:t> lies </a:t>
            </a:r>
            <a:r>
              <a:rPr lang="de-DE" sz="1200" dirty="0" err="1"/>
              <a:t>within</a:t>
            </a:r>
            <a:r>
              <a:rPr lang="de-DE" sz="1200" dirty="0"/>
              <a:t> a </a:t>
            </a:r>
            <a:r>
              <a:rPr lang="de-DE" sz="1200" dirty="0" err="1"/>
              <a:t>stable</a:t>
            </a:r>
            <a:r>
              <a:rPr lang="de-DE" sz="1200" dirty="0"/>
              <a:t> </a:t>
            </a:r>
            <a:r>
              <a:rPr lang="de-DE" sz="1200" dirty="0" err="1"/>
              <a:t>zone</a:t>
            </a:r>
            <a:r>
              <a:rPr lang="de-DE" sz="1200" dirty="0"/>
              <a:t>. This </a:t>
            </a:r>
            <a:r>
              <a:rPr lang="de-DE" sz="1200" dirty="0" err="1"/>
              <a:t>implicates</a:t>
            </a:r>
            <a:r>
              <a:rPr lang="de-DE" sz="1200" dirty="0"/>
              <a:t> sensitive </a:t>
            </a:r>
            <a:r>
              <a:rPr lang="de-DE" sz="1200" dirty="0" err="1"/>
              <a:t>parameters</a:t>
            </a:r>
            <a:r>
              <a:rPr lang="de-DE" sz="1200" dirty="0"/>
              <a:t>, </a:t>
            </a:r>
            <a:r>
              <a:rPr lang="de-DE" sz="1200" dirty="0" err="1"/>
              <a:t>which</a:t>
            </a:r>
            <a:r>
              <a:rPr lang="de-DE" sz="1200" dirty="0"/>
              <a:t> </a:t>
            </a:r>
            <a:r>
              <a:rPr lang="de-DE" sz="1200" dirty="0" err="1"/>
              <a:t>confirms</a:t>
            </a:r>
            <a:r>
              <a:rPr lang="de-DE" sz="1200" dirty="0"/>
              <a:t> </a:t>
            </a:r>
            <a:r>
              <a:rPr lang="de-DE" sz="1200" dirty="0" err="1"/>
              <a:t>the</a:t>
            </a:r>
            <a:r>
              <a:rPr lang="de-DE" sz="1200" dirty="0"/>
              <a:t> </a:t>
            </a:r>
            <a:r>
              <a:rPr lang="de-DE" sz="1200" dirty="0" err="1"/>
              <a:t>results</a:t>
            </a:r>
            <a:r>
              <a:rPr lang="de-DE" sz="1200" dirty="0"/>
              <a:t> </a:t>
            </a:r>
            <a:r>
              <a:rPr lang="de-DE" sz="1200" dirty="0" err="1"/>
              <a:t>of</a:t>
            </a:r>
            <a:r>
              <a:rPr lang="de-DE" sz="1200" dirty="0"/>
              <a:t> </a:t>
            </a:r>
            <a:r>
              <a:rPr lang="de-DE" sz="1200" dirty="0" err="1"/>
              <a:t>the</a:t>
            </a:r>
            <a:r>
              <a:rPr lang="de-DE" sz="1200" dirty="0"/>
              <a:t> </a:t>
            </a:r>
            <a:r>
              <a:rPr lang="de-DE" sz="1200" dirty="0" err="1"/>
              <a:t>previous</a:t>
            </a:r>
            <a:r>
              <a:rPr lang="de-DE" sz="1200" dirty="0"/>
              <a:t> </a:t>
            </a:r>
            <a:r>
              <a:rPr lang="de-DE" sz="1200" dirty="0" err="1"/>
              <a:t>assignments</a:t>
            </a:r>
            <a:r>
              <a:rPr lang="de-DE" sz="1200" dirty="0"/>
              <a:t>.</a:t>
            </a:r>
          </a:p>
          <a:p>
            <a:endParaRPr lang="de-DE" sz="1200" dirty="0"/>
          </a:p>
        </p:txBody>
      </p:sp>
      <p:sp>
        <p:nvSpPr>
          <p:cNvPr id="5" name="Textfeld 4">
            <a:extLst>
              <a:ext uri="{FF2B5EF4-FFF2-40B4-BE49-F238E27FC236}">
                <a16:creationId xmlns:a16="http://schemas.microsoft.com/office/drawing/2014/main" id="{26E1D449-EFE3-1DF1-22AA-A26F254355BB}"/>
              </a:ext>
            </a:extLst>
          </p:cNvPr>
          <p:cNvSpPr txBox="1"/>
          <p:nvPr/>
        </p:nvSpPr>
        <p:spPr>
          <a:xfrm>
            <a:off x="11643055" y="6485467"/>
            <a:ext cx="548640" cy="369332"/>
          </a:xfrm>
          <a:prstGeom prst="rect">
            <a:avLst/>
          </a:prstGeom>
          <a:noFill/>
        </p:spPr>
        <p:txBody>
          <a:bodyPr wrap="square" rtlCol="0">
            <a:spAutoFit/>
          </a:bodyPr>
          <a:lstStyle/>
          <a:p>
            <a:r>
              <a:rPr lang="de-DE" dirty="0"/>
              <a:t>11</a:t>
            </a:r>
          </a:p>
        </p:txBody>
      </p:sp>
    </p:spTree>
    <p:extLst>
      <p:ext uri="{BB962C8B-B14F-4D97-AF65-F5344CB8AC3E}">
        <p14:creationId xmlns:p14="http://schemas.microsoft.com/office/powerpoint/2010/main" val="184698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EEA8D-B373-B5F7-FEAD-D386EA0BB1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930986F-7AD2-D2BE-D1DD-FBF51A0569A7}"/>
              </a:ext>
            </a:extLst>
          </p:cNvPr>
          <p:cNvSpPr/>
          <p:nvPr/>
        </p:nvSpPr>
        <p:spPr>
          <a:xfrm>
            <a:off x="0" y="0"/>
            <a:ext cx="12191695" cy="822960"/>
          </a:xfrm>
          <a:prstGeom prst="rect">
            <a:avLst/>
          </a:prstGeom>
          <a:solidFill>
            <a:srgbClr val="0B3D91"/>
          </a:solidFill>
          <a:ln w="12700">
            <a:solidFill>
              <a:srgbClr val="0B3D91"/>
            </a:solidFill>
            <a:prstDash val="solid"/>
          </a:ln>
        </p:spPr>
        <p:txBody>
          <a:bodyPr/>
          <a:lstStyle/>
          <a:p>
            <a:endParaRPr lang="en-DE"/>
          </a:p>
        </p:txBody>
      </p:sp>
      <p:sp>
        <p:nvSpPr>
          <p:cNvPr id="3" name="Text 1">
            <a:extLst>
              <a:ext uri="{FF2B5EF4-FFF2-40B4-BE49-F238E27FC236}">
                <a16:creationId xmlns:a16="http://schemas.microsoft.com/office/drawing/2014/main" id="{86082B73-499C-CB72-6627-A2F79C8B1CE4}"/>
              </a:ext>
            </a:extLst>
          </p:cNvPr>
          <p:cNvSpPr/>
          <p:nvPr/>
        </p:nvSpPr>
        <p:spPr>
          <a:xfrm>
            <a:off x="548640" y="128016"/>
            <a:ext cx="11094415" cy="329184"/>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Input Uncertainty of Parameters – Run-off Response Module </a:t>
            </a:r>
          </a:p>
        </p:txBody>
      </p:sp>
      <p:sp>
        <p:nvSpPr>
          <p:cNvPr id="4" name="Text 2">
            <a:extLst>
              <a:ext uri="{FF2B5EF4-FFF2-40B4-BE49-F238E27FC236}">
                <a16:creationId xmlns:a16="http://schemas.microsoft.com/office/drawing/2014/main" id="{2E12A1B1-B210-F62E-8F8C-31C31437B83E}"/>
              </a:ext>
            </a:extLst>
          </p:cNvPr>
          <p:cNvSpPr/>
          <p:nvPr/>
        </p:nvSpPr>
        <p:spPr>
          <a:xfrm>
            <a:off x="548640" y="502920"/>
            <a:ext cx="11094415" cy="201168"/>
          </a:xfrm>
          <a:prstGeom prst="rect">
            <a:avLst/>
          </a:prstGeom>
          <a:noFill/>
          <a:ln/>
        </p:spPr>
        <p:txBody>
          <a:bodyPr wrap="square" rtlCol="0" anchor="ctr"/>
          <a:lstStyle/>
          <a:p>
            <a:pPr marL="0" indent="0">
              <a:buNone/>
            </a:pPr>
            <a:r>
              <a:rPr lang="en-US" sz="1400" dirty="0">
                <a:solidFill>
                  <a:schemeClr val="bg1"/>
                </a:solidFill>
              </a:rPr>
              <a:t>Analysis of input uncertainty</a:t>
            </a:r>
          </a:p>
        </p:txBody>
      </p:sp>
      <p:sp>
        <p:nvSpPr>
          <p:cNvPr id="19" name="Textfeld 18">
            <a:extLst>
              <a:ext uri="{FF2B5EF4-FFF2-40B4-BE49-F238E27FC236}">
                <a16:creationId xmlns:a16="http://schemas.microsoft.com/office/drawing/2014/main" id="{799B6E03-6AE3-4804-778C-60FB57994A72}"/>
              </a:ext>
            </a:extLst>
          </p:cNvPr>
          <p:cNvSpPr txBox="1"/>
          <p:nvPr/>
        </p:nvSpPr>
        <p:spPr>
          <a:xfrm>
            <a:off x="9982199" y="1437214"/>
            <a:ext cx="1841939" cy="4955203"/>
          </a:xfrm>
          <a:prstGeom prst="rect">
            <a:avLst/>
          </a:prstGeom>
          <a:noFill/>
          <a:ln w="28575">
            <a:solidFill>
              <a:srgbClr val="002060"/>
            </a:solidFill>
          </a:ln>
        </p:spPr>
        <p:txBody>
          <a:bodyPr wrap="square" rtlCol="0">
            <a:spAutoFit/>
          </a:bodyPr>
          <a:lstStyle/>
          <a:p>
            <a:pPr marL="285750" indent="-285750">
              <a:buFont typeface="Wingdings" panose="05000000000000000000" pitchFamily="2" charset="2"/>
              <a:buChar char="Ø"/>
            </a:pPr>
            <a:endParaRPr lang="de-DE" sz="1100" dirty="0"/>
          </a:p>
          <a:p>
            <a:pPr marL="285750" indent="-285750">
              <a:buFont typeface="Wingdings" panose="05000000000000000000" pitchFamily="2" charset="2"/>
              <a:buChar char="Ø"/>
            </a:pPr>
            <a:r>
              <a:rPr lang="de-DE" sz="1100" dirty="0" err="1"/>
              <a:t>urr_ulc</a:t>
            </a:r>
            <a:r>
              <a:rPr lang="de-DE" sz="1100" dirty="0"/>
              <a:t> </a:t>
            </a:r>
            <a:r>
              <a:rPr lang="en-DE" altLang="en-DE" sz="1100" dirty="0">
                <a:solidFill>
                  <a:srgbClr val="000000"/>
                </a:solidFill>
              </a:rPr>
              <a:t>is mostly stable but occasionally jumps to extreme values</a:t>
            </a:r>
            <a:r>
              <a:rPr lang="de-DE" altLang="en-DE" sz="1100" dirty="0">
                <a:solidFill>
                  <a:srgbClr val="000000"/>
                </a:solidFill>
              </a:rPr>
              <a:t>. </a:t>
            </a:r>
            <a:r>
              <a:rPr lang="de-DE" altLang="en-DE" sz="1100" dirty="0" err="1">
                <a:solidFill>
                  <a:srgbClr val="000000"/>
                </a:solidFill>
              </a:rPr>
              <a:t>It</a:t>
            </a:r>
            <a:r>
              <a:rPr lang="de-DE" altLang="en-DE" sz="1100" dirty="0">
                <a:solidFill>
                  <a:srgbClr val="000000"/>
                </a:solidFill>
              </a:rPr>
              <a:t> </a:t>
            </a:r>
            <a:r>
              <a:rPr lang="en-GB" sz="1100" dirty="0"/>
              <a:t>usually stays stable, but sometimes recalibration uses it strongly to recover fit when precipitation perturbation creates larger mismatches.</a:t>
            </a:r>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endParaRPr lang="de-DE" sz="1200" dirty="0"/>
          </a:p>
          <a:p>
            <a:pPr marL="285750" indent="-285750">
              <a:buFont typeface="Wingdings" panose="05000000000000000000" pitchFamily="2" charset="2"/>
              <a:buChar char="Ø"/>
            </a:pPr>
            <a:r>
              <a:rPr lang="de-DE" sz="1200" dirty="0" err="1"/>
              <a:t>lrr_dre</a:t>
            </a:r>
            <a:r>
              <a:rPr lang="de-DE" altLang="en-DE" sz="1100" dirty="0">
                <a:solidFill>
                  <a:srgbClr val="000000"/>
                </a:solidFill>
                <a:latin typeface="-webkit-standard"/>
              </a:rPr>
              <a:t> </a:t>
            </a:r>
            <a:r>
              <a:rPr lang="en-GB" sz="1100" dirty="0"/>
              <a:t>contributes little to compensation because it remains close to the reference and varies only slightly across runs. It is less sensitive to precipitation perturbation.</a:t>
            </a:r>
            <a:endParaRPr lang="de-DE" sz="1100" dirty="0"/>
          </a:p>
          <a:p>
            <a:pPr marL="285750" indent="-285750">
              <a:buFont typeface="Wingdings" panose="05000000000000000000" pitchFamily="2" charset="2"/>
              <a:buChar char="Ø"/>
            </a:pPr>
            <a:endParaRPr lang="de-DE" sz="1100" dirty="0"/>
          </a:p>
        </p:txBody>
      </p:sp>
      <p:pic>
        <p:nvPicPr>
          <p:cNvPr id="6" name="Picture 5" descr="A screenshot of a graph&#10;&#10;AI-generated content may be incorrect.">
            <a:extLst>
              <a:ext uri="{FF2B5EF4-FFF2-40B4-BE49-F238E27FC236}">
                <a16:creationId xmlns:a16="http://schemas.microsoft.com/office/drawing/2014/main" id="{B511EAE1-F122-D1A9-4275-FC1109ADF117}"/>
              </a:ext>
            </a:extLst>
          </p:cNvPr>
          <p:cNvPicPr>
            <a:picLocks noChangeAspect="1"/>
          </p:cNvPicPr>
          <p:nvPr/>
        </p:nvPicPr>
        <p:blipFill>
          <a:blip r:embed="rId3"/>
          <a:stretch>
            <a:fillRect/>
          </a:stretch>
        </p:blipFill>
        <p:spPr>
          <a:xfrm>
            <a:off x="511599" y="3862791"/>
            <a:ext cx="4185166" cy="2492289"/>
          </a:xfrm>
          <a:prstGeom prst="rect">
            <a:avLst/>
          </a:prstGeom>
          <a:ln w="25400">
            <a:solidFill>
              <a:schemeClr val="tx1"/>
            </a:solidFill>
          </a:ln>
        </p:spPr>
      </p:pic>
      <p:pic>
        <p:nvPicPr>
          <p:cNvPr id="8" name="Picture 7" descr="A screen shot of a diagram&#10;&#10;AI-generated content may be incorrect.">
            <a:extLst>
              <a:ext uri="{FF2B5EF4-FFF2-40B4-BE49-F238E27FC236}">
                <a16:creationId xmlns:a16="http://schemas.microsoft.com/office/drawing/2014/main" id="{79EE0571-18A0-C35D-8AE8-78BE494DA0BC}"/>
              </a:ext>
            </a:extLst>
          </p:cNvPr>
          <p:cNvPicPr>
            <a:picLocks noChangeAspect="1"/>
          </p:cNvPicPr>
          <p:nvPr/>
        </p:nvPicPr>
        <p:blipFill>
          <a:blip r:embed="rId4"/>
          <a:stretch>
            <a:fillRect/>
          </a:stretch>
        </p:blipFill>
        <p:spPr>
          <a:xfrm>
            <a:off x="511599" y="1253249"/>
            <a:ext cx="4185165" cy="2492289"/>
          </a:xfrm>
          <a:prstGeom prst="rect">
            <a:avLst/>
          </a:prstGeom>
          <a:ln w="25400">
            <a:solidFill>
              <a:schemeClr val="tx1"/>
            </a:solidFill>
          </a:ln>
        </p:spPr>
      </p:pic>
      <p:pic>
        <p:nvPicPr>
          <p:cNvPr id="11" name="Picture 10" descr="A graph with a blue line&#10;&#10;AI-generated content may be incorrect.">
            <a:extLst>
              <a:ext uri="{FF2B5EF4-FFF2-40B4-BE49-F238E27FC236}">
                <a16:creationId xmlns:a16="http://schemas.microsoft.com/office/drawing/2014/main" id="{8254AA43-8E35-A728-1004-F0E9E17C9908}"/>
              </a:ext>
            </a:extLst>
          </p:cNvPr>
          <p:cNvPicPr>
            <a:picLocks noChangeAspect="1"/>
          </p:cNvPicPr>
          <p:nvPr/>
        </p:nvPicPr>
        <p:blipFill>
          <a:blip r:embed="rId5"/>
          <a:stretch>
            <a:fillRect/>
          </a:stretch>
        </p:blipFill>
        <p:spPr>
          <a:xfrm>
            <a:off x="4941622" y="3862790"/>
            <a:ext cx="4795720" cy="2492289"/>
          </a:xfrm>
          <a:prstGeom prst="rect">
            <a:avLst/>
          </a:prstGeom>
          <a:ln w="25400">
            <a:solidFill>
              <a:schemeClr val="tx1"/>
            </a:solidFill>
          </a:ln>
        </p:spPr>
      </p:pic>
      <p:pic>
        <p:nvPicPr>
          <p:cNvPr id="13" name="Picture 12" descr="A graph with blue lines and white text&#10;&#10;AI-generated content may be incorrect.">
            <a:extLst>
              <a:ext uri="{FF2B5EF4-FFF2-40B4-BE49-F238E27FC236}">
                <a16:creationId xmlns:a16="http://schemas.microsoft.com/office/drawing/2014/main" id="{F4E8D521-5884-5DBF-9948-0A70A6E1A8EA}"/>
              </a:ext>
            </a:extLst>
          </p:cNvPr>
          <p:cNvPicPr>
            <a:picLocks noChangeAspect="1"/>
          </p:cNvPicPr>
          <p:nvPr/>
        </p:nvPicPr>
        <p:blipFill>
          <a:blip r:embed="rId6"/>
          <a:srcRect t="1833" b="1833"/>
          <a:stretch>
            <a:fillRect/>
          </a:stretch>
        </p:blipFill>
        <p:spPr>
          <a:xfrm>
            <a:off x="4906884" y="1253249"/>
            <a:ext cx="4858291" cy="2427605"/>
          </a:xfrm>
          <a:prstGeom prst="rect">
            <a:avLst/>
          </a:prstGeom>
          <a:ln w="25400">
            <a:solidFill>
              <a:schemeClr val="tx1"/>
            </a:solidFill>
          </a:ln>
        </p:spPr>
      </p:pic>
      <p:sp>
        <p:nvSpPr>
          <p:cNvPr id="16" name="Textfeld 4">
            <a:extLst>
              <a:ext uri="{FF2B5EF4-FFF2-40B4-BE49-F238E27FC236}">
                <a16:creationId xmlns:a16="http://schemas.microsoft.com/office/drawing/2014/main" id="{8E3B88E3-2953-404F-5F02-96D0DA4D112E}"/>
              </a:ext>
            </a:extLst>
          </p:cNvPr>
          <p:cNvSpPr txBox="1"/>
          <p:nvPr/>
        </p:nvSpPr>
        <p:spPr>
          <a:xfrm>
            <a:off x="11643055" y="6485467"/>
            <a:ext cx="548640" cy="369332"/>
          </a:xfrm>
          <a:prstGeom prst="rect">
            <a:avLst/>
          </a:prstGeom>
          <a:noFill/>
        </p:spPr>
        <p:txBody>
          <a:bodyPr wrap="square" rtlCol="0">
            <a:spAutoFit/>
          </a:bodyPr>
          <a:lstStyle/>
          <a:p>
            <a:r>
              <a:rPr lang="de-DE" dirty="0"/>
              <a:t>12</a:t>
            </a:r>
          </a:p>
        </p:txBody>
      </p:sp>
    </p:spTree>
    <p:extLst>
      <p:ext uri="{BB962C8B-B14F-4D97-AF65-F5344CB8AC3E}">
        <p14:creationId xmlns:p14="http://schemas.microsoft.com/office/powerpoint/2010/main" val="3324541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DFECF-6F66-820C-4C7F-BA3B0744F4E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8D317AC-59C6-400F-4E9F-2E2CD4EC0E50}"/>
              </a:ext>
            </a:extLst>
          </p:cNvPr>
          <p:cNvSpPr/>
          <p:nvPr/>
        </p:nvSpPr>
        <p:spPr>
          <a:xfrm>
            <a:off x="0" y="-1"/>
            <a:ext cx="12191695" cy="870035"/>
          </a:xfrm>
          <a:prstGeom prst="rect">
            <a:avLst/>
          </a:prstGeom>
          <a:solidFill>
            <a:srgbClr val="0B3D91"/>
          </a:solidFill>
          <a:ln w="12700">
            <a:solidFill>
              <a:srgbClr val="0B3D91"/>
            </a:solidFill>
            <a:prstDash val="solid"/>
          </a:ln>
        </p:spPr>
        <p:txBody>
          <a:bodyPr/>
          <a:lstStyle/>
          <a:p>
            <a:endParaRPr lang="en-DE"/>
          </a:p>
        </p:txBody>
      </p:sp>
      <p:sp>
        <p:nvSpPr>
          <p:cNvPr id="3" name="Text 1">
            <a:extLst>
              <a:ext uri="{FF2B5EF4-FFF2-40B4-BE49-F238E27FC236}">
                <a16:creationId xmlns:a16="http://schemas.microsoft.com/office/drawing/2014/main" id="{96E59591-82D8-CF70-E4D7-57385B0165A9}"/>
              </a:ext>
            </a:extLst>
          </p:cNvPr>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Assignment 4 answers (Q1–Q4)</a:t>
            </a:r>
            <a:endParaRPr lang="en-US" sz="2600" dirty="0"/>
          </a:p>
        </p:txBody>
      </p:sp>
      <p:sp>
        <p:nvSpPr>
          <p:cNvPr id="4" name="Text 2">
            <a:extLst>
              <a:ext uri="{FF2B5EF4-FFF2-40B4-BE49-F238E27FC236}">
                <a16:creationId xmlns:a16="http://schemas.microsoft.com/office/drawing/2014/main" id="{9B64CA9A-B241-3346-36E5-58DBE1E63E0E}"/>
              </a:ext>
            </a:extLst>
          </p:cNvPr>
          <p:cNvSpPr/>
          <p:nvPr/>
        </p:nvSpPr>
        <p:spPr>
          <a:xfrm>
            <a:off x="548639" y="513420"/>
            <a:ext cx="11094415" cy="201168"/>
          </a:xfrm>
          <a:prstGeom prst="rect">
            <a:avLst/>
          </a:prstGeom>
          <a:noFill/>
          <a:ln/>
        </p:spPr>
        <p:txBody>
          <a:bodyPr wrap="square" rtlCol="0" anchor="ctr"/>
          <a:lstStyle/>
          <a:p>
            <a:pPr marL="0" indent="0">
              <a:buNone/>
            </a:pPr>
            <a:r>
              <a:rPr lang="en-US" sz="1400" dirty="0">
                <a:solidFill>
                  <a:srgbClr val="E5E7EB"/>
                </a:solidFill>
                <a:latin typeface="Calibri" pitchFamily="34" charset="0"/>
                <a:ea typeface="Calibri" pitchFamily="34" charset="-122"/>
                <a:cs typeface="Calibri" pitchFamily="34" charset="-120"/>
              </a:rPr>
              <a:t>Numbers below match your run output</a:t>
            </a:r>
            <a:endParaRPr lang="en-US" sz="1400" dirty="0"/>
          </a:p>
        </p:txBody>
      </p:sp>
      <p:sp>
        <p:nvSpPr>
          <p:cNvPr id="5" name="Shape 3">
            <a:extLst>
              <a:ext uri="{FF2B5EF4-FFF2-40B4-BE49-F238E27FC236}">
                <a16:creationId xmlns:a16="http://schemas.microsoft.com/office/drawing/2014/main" id="{88A8C482-6DC5-58EE-59DA-8DE158ABB264}"/>
              </a:ext>
            </a:extLst>
          </p:cNvPr>
          <p:cNvSpPr/>
          <p:nvPr/>
        </p:nvSpPr>
        <p:spPr>
          <a:xfrm>
            <a:off x="822960" y="1234440"/>
            <a:ext cx="5090008" cy="2423160"/>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endParaRPr lang="en-DE"/>
          </a:p>
        </p:txBody>
      </p:sp>
      <p:sp>
        <p:nvSpPr>
          <p:cNvPr id="7" name="Text 5">
            <a:extLst>
              <a:ext uri="{FF2B5EF4-FFF2-40B4-BE49-F238E27FC236}">
                <a16:creationId xmlns:a16="http://schemas.microsoft.com/office/drawing/2014/main" id="{0DBDE7DB-875C-2118-7950-BC0E0016BA59}"/>
              </a:ext>
            </a:extLst>
          </p:cNvPr>
          <p:cNvSpPr/>
          <p:nvPr/>
        </p:nvSpPr>
        <p:spPr>
          <a:xfrm>
            <a:off x="1078992" y="1417320"/>
            <a:ext cx="4632808" cy="320040"/>
          </a:xfrm>
          <a:prstGeom prst="rect">
            <a:avLst/>
          </a:prstGeom>
          <a:noFill/>
          <a:ln/>
        </p:spPr>
        <p:txBody>
          <a:bodyPr wrap="square" rtlCol="0" anchor="ctr"/>
          <a:lstStyle/>
          <a:p>
            <a:pPr marL="0" indent="0">
              <a:buNone/>
            </a:pPr>
            <a:r>
              <a:rPr lang="en-US" sz="1600" b="1" dirty="0">
                <a:solidFill>
                  <a:srgbClr val="163E6E"/>
                </a:solidFill>
                <a:latin typeface="Calibri" pitchFamily="34" charset="0"/>
                <a:ea typeface="Calibri" pitchFamily="34" charset="-122"/>
                <a:cs typeface="Calibri" pitchFamily="34" charset="-120"/>
              </a:rPr>
              <a:t>Q1 — How often better by chance?</a:t>
            </a:r>
            <a:endParaRPr lang="en-US" sz="1600" dirty="0"/>
          </a:p>
        </p:txBody>
      </p:sp>
      <p:sp>
        <p:nvSpPr>
          <p:cNvPr id="8" name="Text 6">
            <a:extLst>
              <a:ext uri="{FF2B5EF4-FFF2-40B4-BE49-F238E27FC236}">
                <a16:creationId xmlns:a16="http://schemas.microsoft.com/office/drawing/2014/main" id="{BE36F967-0038-8FF7-BEAC-B1D49EC2318E}"/>
              </a:ext>
            </a:extLst>
          </p:cNvPr>
          <p:cNvSpPr/>
          <p:nvPr/>
        </p:nvSpPr>
        <p:spPr>
          <a:xfrm>
            <a:off x="1078992" y="1903307"/>
            <a:ext cx="4712208" cy="1207008"/>
          </a:xfrm>
          <a:prstGeom prst="rect">
            <a:avLst/>
          </a:prstGeom>
          <a:noFill/>
          <a:ln/>
        </p:spPr>
        <p:txBody>
          <a:bodyPr wrap="square" rtlCol="0" anchor="ctr"/>
          <a:lstStyle/>
          <a:p>
            <a:pPr marL="0" indent="0">
              <a:lnSpc>
                <a:spcPct val="150000"/>
              </a:lnSpc>
              <a:buNone/>
            </a:pPr>
            <a:r>
              <a:rPr lang="en-US" sz="1400" dirty="0">
                <a:solidFill>
                  <a:srgbClr val="1F2937"/>
                </a:solidFill>
                <a:latin typeface="Calibri" pitchFamily="34" charset="0"/>
                <a:ea typeface="Calibri" pitchFamily="34" charset="-122"/>
                <a:cs typeface="Calibri" pitchFamily="34" charset="-120"/>
              </a:rPr>
              <a:t>Fixed better than ref: 470/2000 (33.5%)</a:t>
            </a:r>
            <a:endParaRPr lang="en-US" sz="1400" dirty="0"/>
          </a:p>
          <a:p>
            <a:pPr>
              <a:lnSpc>
                <a:spcPct val="150000"/>
              </a:lnSpc>
            </a:pPr>
            <a:r>
              <a:rPr lang="en-US" sz="1400" dirty="0">
                <a:solidFill>
                  <a:srgbClr val="1F2937"/>
                </a:solidFill>
                <a:latin typeface="Calibri" pitchFamily="34" charset="0"/>
                <a:ea typeface="Calibri" pitchFamily="34" charset="-122"/>
                <a:cs typeface="Calibri" pitchFamily="34" charset="-120"/>
              </a:rPr>
              <a:t>Recalibration improved compared to ref: 1530 / 2000 (76.5 %)</a:t>
            </a:r>
            <a:endParaRPr lang="en-US" sz="1400" dirty="0"/>
          </a:p>
        </p:txBody>
      </p:sp>
      <p:sp>
        <p:nvSpPr>
          <p:cNvPr id="9" name="Shape 7">
            <a:extLst>
              <a:ext uri="{FF2B5EF4-FFF2-40B4-BE49-F238E27FC236}">
                <a16:creationId xmlns:a16="http://schemas.microsoft.com/office/drawing/2014/main" id="{9D7A5697-1195-EFD3-65DB-FCF246EA1227}"/>
              </a:ext>
            </a:extLst>
          </p:cNvPr>
          <p:cNvSpPr/>
          <p:nvPr/>
        </p:nvSpPr>
        <p:spPr>
          <a:xfrm>
            <a:off x="6278728" y="1234440"/>
            <a:ext cx="5090008" cy="2423160"/>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endParaRPr lang="en-DE"/>
          </a:p>
        </p:txBody>
      </p:sp>
      <p:sp>
        <p:nvSpPr>
          <p:cNvPr id="11" name="Text 9">
            <a:extLst>
              <a:ext uri="{FF2B5EF4-FFF2-40B4-BE49-F238E27FC236}">
                <a16:creationId xmlns:a16="http://schemas.microsoft.com/office/drawing/2014/main" id="{28F248ED-325C-0677-4130-126F4C4B7213}"/>
              </a:ext>
            </a:extLst>
          </p:cNvPr>
          <p:cNvSpPr/>
          <p:nvPr/>
        </p:nvSpPr>
        <p:spPr>
          <a:xfrm>
            <a:off x="6534760" y="1417320"/>
            <a:ext cx="4632808" cy="320040"/>
          </a:xfrm>
          <a:prstGeom prst="rect">
            <a:avLst/>
          </a:prstGeom>
          <a:noFill/>
          <a:ln/>
        </p:spPr>
        <p:txBody>
          <a:bodyPr wrap="square" rtlCol="0" anchor="ctr"/>
          <a:lstStyle/>
          <a:p>
            <a:pPr marL="0" indent="0">
              <a:buNone/>
            </a:pPr>
            <a:r>
              <a:rPr lang="en-US" sz="1600" b="1" dirty="0">
                <a:solidFill>
                  <a:srgbClr val="163E6E"/>
                </a:solidFill>
                <a:latin typeface="Calibri" pitchFamily="34" charset="0"/>
                <a:ea typeface="Calibri" pitchFamily="34" charset="-122"/>
                <a:cs typeface="Calibri" pitchFamily="34" charset="-120"/>
              </a:rPr>
              <a:t>Q2 — Compensation amount</a:t>
            </a:r>
            <a:endParaRPr lang="en-US" sz="1600" dirty="0"/>
          </a:p>
        </p:txBody>
      </p:sp>
      <p:sp>
        <p:nvSpPr>
          <p:cNvPr id="12" name="Text 10">
            <a:extLst>
              <a:ext uri="{FF2B5EF4-FFF2-40B4-BE49-F238E27FC236}">
                <a16:creationId xmlns:a16="http://schemas.microsoft.com/office/drawing/2014/main" id="{B2F24FB0-70B8-AD27-9F3F-34DEE6971FB1}"/>
              </a:ext>
            </a:extLst>
          </p:cNvPr>
          <p:cNvSpPr/>
          <p:nvPr/>
        </p:nvSpPr>
        <p:spPr>
          <a:xfrm>
            <a:off x="6557620" y="1737360"/>
            <a:ext cx="4587088" cy="1691640"/>
          </a:xfrm>
          <a:prstGeom prst="rect">
            <a:avLst/>
          </a:prstGeom>
          <a:noFill/>
          <a:ln/>
        </p:spPr>
        <p:txBody>
          <a:bodyPr wrap="square" rtlCol="0" anchor="ctr"/>
          <a:lstStyle/>
          <a:p>
            <a:pPr marL="0" indent="0">
              <a:lnSpc>
                <a:spcPct val="150000"/>
              </a:lnSpc>
              <a:buNone/>
            </a:pPr>
            <a:r>
              <a:rPr lang="en-US" sz="1400" dirty="0">
                <a:solidFill>
                  <a:srgbClr val="1F2937"/>
                </a:solidFill>
                <a:latin typeface="Calibri" pitchFamily="34" charset="0"/>
                <a:ea typeface="Calibri" pitchFamily="34" charset="-122"/>
                <a:cs typeface="Calibri" pitchFamily="34" charset="-120"/>
              </a:rPr>
              <a:t>Mean degradation (fixed): 0.0010</a:t>
            </a:r>
            <a:endParaRPr lang="en-US" sz="1400" dirty="0"/>
          </a:p>
          <a:p>
            <a:pPr marL="0" indent="0">
              <a:lnSpc>
                <a:spcPct val="150000"/>
              </a:lnSpc>
              <a:buNone/>
            </a:pPr>
            <a:r>
              <a:rPr lang="en-US" sz="1400" dirty="0">
                <a:solidFill>
                  <a:srgbClr val="1F2937"/>
                </a:solidFill>
                <a:latin typeface="Calibri" pitchFamily="34" charset="0"/>
                <a:ea typeface="Calibri" pitchFamily="34" charset="-122"/>
                <a:cs typeface="Calibri" pitchFamily="34" charset="-120"/>
              </a:rPr>
              <a:t>Mean degradation (recal): 0.0008</a:t>
            </a:r>
            <a:endParaRPr lang="en-US" sz="1400" dirty="0"/>
          </a:p>
          <a:p>
            <a:pPr marL="0" indent="0">
              <a:lnSpc>
                <a:spcPct val="150000"/>
              </a:lnSpc>
              <a:buNone/>
            </a:pPr>
            <a:r>
              <a:rPr lang="en-US" sz="1400" dirty="0">
                <a:solidFill>
                  <a:srgbClr val="1F2937"/>
                </a:solidFill>
                <a:latin typeface="Calibri" pitchFamily="34" charset="0"/>
                <a:ea typeface="Calibri" pitchFamily="34" charset="-122"/>
                <a:cs typeface="Calibri" pitchFamily="34" charset="-120"/>
              </a:rPr>
              <a:t>Compensation: 21.9%</a:t>
            </a:r>
            <a:endParaRPr lang="en-US" sz="1400" dirty="0"/>
          </a:p>
        </p:txBody>
      </p:sp>
      <p:sp>
        <p:nvSpPr>
          <p:cNvPr id="13" name="Shape 11">
            <a:extLst>
              <a:ext uri="{FF2B5EF4-FFF2-40B4-BE49-F238E27FC236}">
                <a16:creationId xmlns:a16="http://schemas.microsoft.com/office/drawing/2014/main" id="{50C43F27-663F-5309-D8C7-F100E3B83710}"/>
              </a:ext>
            </a:extLst>
          </p:cNvPr>
          <p:cNvSpPr/>
          <p:nvPr/>
        </p:nvSpPr>
        <p:spPr>
          <a:xfrm>
            <a:off x="822960" y="4035213"/>
            <a:ext cx="5090008" cy="2423160"/>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endParaRPr lang="en-DE"/>
          </a:p>
        </p:txBody>
      </p:sp>
      <p:sp>
        <p:nvSpPr>
          <p:cNvPr id="15" name="Text 13">
            <a:extLst>
              <a:ext uri="{FF2B5EF4-FFF2-40B4-BE49-F238E27FC236}">
                <a16:creationId xmlns:a16="http://schemas.microsoft.com/office/drawing/2014/main" id="{EE9E33A3-FE77-090D-71FB-144F59C79494}"/>
              </a:ext>
            </a:extLst>
          </p:cNvPr>
          <p:cNvSpPr/>
          <p:nvPr/>
        </p:nvSpPr>
        <p:spPr>
          <a:xfrm>
            <a:off x="1078992" y="4251960"/>
            <a:ext cx="4632808" cy="320040"/>
          </a:xfrm>
          <a:prstGeom prst="rect">
            <a:avLst/>
          </a:prstGeom>
          <a:noFill/>
          <a:ln/>
        </p:spPr>
        <p:txBody>
          <a:bodyPr wrap="square" rtlCol="0" anchor="ctr"/>
          <a:lstStyle/>
          <a:p>
            <a:pPr marL="0" indent="0">
              <a:buNone/>
            </a:pPr>
            <a:r>
              <a:rPr lang="en-US" sz="1600" b="1" dirty="0">
                <a:solidFill>
                  <a:srgbClr val="163E6E"/>
                </a:solidFill>
                <a:latin typeface="Calibri" pitchFamily="34" charset="0"/>
                <a:ea typeface="Calibri" pitchFamily="34" charset="-122"/>
                <a:cs typeface="Calibri" pitchFamily="34" charset="-120"/>
              </a:rPr>
              <a:t>Q3 — Use input uncertainty in calibration?</a:t>
            </a:r>
            <a:endParaRPr lang="en-US" sz="1600" dirty="0"/>
          </a:p>
        </p:txBody>
      </p:sp>
      <p:sp>
        <p:nvSpPr>
          <p:cNvPr id="16" name="Text 14">
            <a:extLst>
              <a:ext uri="{FF2B5EF4-FFF2-40B4-BE49-F238E27FC236}">
                <a16:creationId xmlns:a16="http://schemas.microsoft.com/office/drawing/2014/main" id="{B901C2F5-B52A-A011-36C6-D7B67D5B3996}"/>
              </a:ext>
            </a:extLst>
          </p:cNvPr>
          <p:cNvSpPr/>
          <p:nvPr/>
        </p:nvSpPr>
        <p:spPr>
          <a:xfrm>
            <a:off x="1074420" y="4577079"/>
            <a:ext cx="4587088" cy="1566333"/>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Yes. Recalibration recovered only ~22% of the average loss.</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This suggests parameters cannot fully compensate for forcing errors, so the uncertainty should be accounted for during calibration and evaluation.</a:t>
            </a:r>
            <a:endParaRPr lang="en-US" sz="1400" dirty="0"/>
          </a:p>
        </p:txBody>
      </p:sp>
      <p:sp>
        <p:nvSpPr>
          <p:cNvPr id="6" name="Shape 7">
            <a:extLst>
              <a:ext uri="{FF2B5EF4-FFF2-40B4-BE49-F238E27FC236}">
                <a16:creationId xmlns:a16="http://schemas.microsoft.com/office/drawing/2014/main" id="{43393BA1-AF01-6561-F618-628358289200}"/>
              </a:ext>
            </a:extLst>
          </p:cNvPr>
          <p:cNvSpPr/>
          <p:nvPr/>
        </p:nvSpPr>
        <p:spPr>
          <a:xfrm>
            <a:off x="6306160" y="4032504"/>
            <a:ext cx="5090008" cy="2423160"/>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r>
              <a:rPr lang="de-DE" sz="1600" b="1" dirty="0">
                <a:solidFill>
                  <a:srgbClr val="163E6E"/>
                </a:solidFill>
                <a:latin typeface="Calibri" pitchFamily="34" charset="0"/>
                <a:ea typeface="Calibri" pitchFamily="34" charset="-122"/>
                <a:cs typeface="Calibri" pitchFamily="34" charset="-120"/>
              </a:rPr>
              <a:t>Q4</a:t>
            </a:r>
            <a:r>
              <a:rPr lang="de-DE" dirty="0"/>
              <a:t> </a:t>
            </a:r>
            <a:r>
              <a:rPr lang="de-DE" sz="1600" b="1" dirty="0">
                <a:solidFill>
                  <a:srgbClr val="163E6E"/>
                </a:solidFill>
                <a:latin typeface="Calibri" pitchFamily="34" charset="0"/>
                <a:ea typeface="Calibri" pitchFamily="34" charset="-122"/>
                <a:cs typeface="Calibri" pitchFamily="34" charset="-120"/>
              </a:rPr>
              <a:t>– </a:t>
            </a:r>
            <a:r>
              <a:rPr lang="de-DE" sz="1600" b="1" dirty="0" err="1">
                <a:solidFill>
                  <a:srgbClr val="163E6E"/>
                </a:solidFill>
                <a:latin typeface="Calibri" pitchFamily="34" charset="0"/>
                <a:ea typeface="Calibri" pitchFamily="34" charset="-122"/>
                <a:cs typeface="Calibri" pitchFamily="34" charset="-120"/>
              </a:rPr>
              <a:t>Difference</a:t>
            </a:r>
            <a:r>
              <a:rPr lang="de-DE" sz="1600" b="1" dirty="0">
                <a:solidFill>
                  <a:srgbClr val="163E6E"/>
                </a:solidFill>
                <a:latin typeface="Calibri" pitchFamily="34" charset="0"/>
                <a:ea typeface="Calibri" pitchFamily="34" charset="-122"/>
                <a:cs typeface="Calibri" pitchFamily="34" charset="-120"/>
              </a:rPr>
              <a:t> </a:t>
            </a:r>
            <a:r>
              <a:rPr lang="de-DE" sz="1600" b="1" dirty="0" err="1">
                <a:solidFill>
                  <a:srgbClr val="163E6E"/>
                </a:solidFill>
                <a:latin typeface="Calibri" pitchFamily="34" charset="0"/>
                <a:ea typeface="Calibri" pitchFamily="34" charset="-122"/>
                <a:cs typeface="Calibri" pitchFamily="34" charset="-120"/>
              </a:rPr>
              <a:t>to</a:t>
            </a:r>
            <a:r>
              <a:rPr lang="de-DE" sz="1600" b="1" dirty="0">
                <a:solidFill>
                  <a:srgbClr val="163E6E"/>
                </a:solidFill>
                <a:latin typeface="Calibri" pitchFamily="34" charset="0"/>
                <a:ea typeface="Calibri" pitchFamily="34" charset="-122"/>
                <a:cs typeface="Calibri" pitchFamily="34" charset="-120"/>
              </a:rPr>
              <a:t> OUDIN</a:t>
            </a:r>
          </a:p>
          <a:p>
            <a:endParaRPr lang="de-DE" sz="1600" b="1" dirty="0">
              <a:solidFill>
                <a:srgbClr val="163E6E"/>
              </a:solidFill>
              <a:latin typeface="Calibri" pitchFamily="34" charset="0"/>
              <a:ea typeface="Calibri" pitchFamily="34" charset="-122"/>
              <a:cs typeface="Calibri" pitchFamily="34" charset="-120"/>
            </a:endParaRPr>
          </a:p>
          <a:p>
            <a:endParaRPr lang="de-DE" sz="1600" b="1" dirty="0">
              <a:solidFill>
                <a:srgbClr val="163E6E"/>
              </a:solidFill>
              <a:latin typeface="Calibri" pitchFamily="34" charset="0"/>
              <a:ea typeface="Calibri" pitchFamily="34" charset="-122"/>
              <a:cs typeface="Calibri" pitchFamily="34" charset="-120"/>
            </a:endParaRPr>
          </a:p>
          <a:p>
            <a:endParaRPr lang="en-DE" sz="1600" b="1" dirty="0">
              <a:solidFill>
                <a:srgbClr val="163E6E"/>
              </a:solidFill>
              <a:latin typeface="Calibri" pitchFamily="34" charset="0"/>
              <a:ea typeface="Calibri" pitchFamily="34" charset="-122"/>
              <a:cs typeface="Calibri" pitchFamily="34" charset="-120"/>
            </a:endParaRPr>
          </a:p>
        </p:txBody>
      </p:sp>
      <p:sp>
        <p:nvSpPr>
          <p:cNvPr id="10" name="Text 14">
            <a:extLst>
              <a:ext uri="{FF2B5EF4-FFF2-40B4-BE49-F238E27FC236}">
                <a16:creationId xmlns:a16="http://schemas.microsoft.com/office/drawing/2014/main" id="{9529C81B-1FEB-0CA3-485F-360843DA33BF}"/>
              </a:ext>
            </a:extLst>
          </p:cNvPr>
          <p:cNvSpPr/>
          <p:nvPr/>
        </p:nvSpPr>
        <p:spPr>
          <a:xfrm>
            <a:off x="6525920" y="4572000"/>
            <a:ext cx="4587088" cy="1566333"/>
          </a:xfrm>
          <a:prstGeom prst="rect">
            <a:avLst/>
          </a:prstGeom>
          <a:noFill/>
          <a:ln/>
        </p:spPr>
        <p:txBody>
          <a:bodyPr wrap="square" rtlCol="0" anchor="ctr"/>
          <a:lstStyle/>
          <a:p>
            <a:r>
              <a:rPr lang="en-US" sz="1400" dirty="0">
                <a:solidFill>
                  <a:srgbClr val="1F2937"/>
                </a:solidFill>
                <a:latin typeface="Calibri" pitchFamily="34" charset="0"/>
                <a:ea typeface="Calibri" pitchFamily="34" charset="-122"/>
                <a:cs typeface="Calibri" pitchFamily="34" charset="-120"/>
              </a:rPr>
              <a:t>The models are different. Both models in the paper use fewer parameters and disregard snow. GR4J can also take water from an underground basin, in addition to rainfall. PE and rainfall were perturbed. Usage of both random and systematic error.</a:t>
            </a:r>
            <a:endParaRPr lang="en-US" sz="1400" dirty="0"/>
          </a:p>
        </p:txBody>
      </p:sp>
      <p:sp>
        <p:nvSpPr>
          <p:cNvPr id="14" name="Textfeld 4">
            <a:extLst>
              <a:ext uri="{FF2B5EF4-FFF2-40B4-BE49-F238E27FC236}">
                <a16:creationId xmlns:a16="http://schemas.microsoft.com/office/drawing/2014/main" id="{0CF80EA6-1D38-AE34-D405-50EDF2A9AC33}"/>
              </a:ext>
            </a:extLst>
          </p:cNvPr>
          <p:cNvSpPr txBox="1"/>
          <p:nvPr/>
        </p:nvSpPr>
        <p:spPr>
          <a:xfrm>
            <a:off x="11643055" y="6485467"/>
            <a:ext cx="548640" cy="369332"/>
          </a:xfrm>
          <a:prstGeom prst="rect">
            <a:avLst/>
          </a:prstGeom>
          <a:noFill/>
        </p:spPr>
        <p:txBody>
          <a:bodyPr wrap="square" rtlCol="0">
            <a:spAutoFit/>
          </a:bodyPr>
          <a:lstStyle/>
          <a:p>
            <a:r>
              <a:rPr lang="de-DE" dirty="0"/>
              <a:t>13</a:t>
            </a:r>
          </a:p>
        </p:txBody>
      </p:sp>
    </p:spTree>
    <p:extLst>
      <p:ext uri="{BB962C8B-B14F-4D97-AF65-F5344CB8AC3E}">
        <p14:creationId xmlns:p14="http://schemas.microsoft.com/office/powerpoint/2010/main" val="2721295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2196A-928A-E1F3-F2CA-AC066363148F}"/>
              </a:ext>
            </a:extLst>
          </p:cNvPr>
          <p:cNvSpPr txBox="1"/>
          <p:nvPr/>
        </p:nvSpPr>
        <p:spPr>
          <a:xfrm>
            <a:off x="5075528" y="3136612"/>
            <a:ext cx="2040943" cy="584775"/>
          </a:xfrm>
          <a:prstGeom prst="rect">
            <a:avLst/>
          </a:prstGeom>
          <a:noFill/>
        </p:spPr>
        <p:txBody>
          <a:bodyPr wrap="none" rtlCol="0">
            <a:spAutoFit/>
          </a:bodyPr>
          <a:lstStyle/>
          <a:p>
            <a:r>
              <a:rPr lang="en-DE" sz="3200" dirty="0"/>
              <a:t>Thank you!</a:t>
            </a:r>
          </a:p>
        </p:txBody>
      </p:sp>
    </p:spTree>
    <p:extLst>
      <p:ext uri="{BB962C8B-B14F-4D97-AF65-F5344CB8AC3E}">
        <p14:creationId xmlns:p14="http://schemas.microsoft.com/office/powerpoint/2010/main" val="1032530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1249</Words>
  <Application>Microsoft Macintosh PowerPoint</Application>
  <PresentationFormat>Widescreen</PresentationFormat>
  <Paragraphs>159</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-webkit-standard</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Nafisa Raihana</cp:lastModifiedBy>
  <cp:revision>16</cp:revision>
  <dcterms:created xsi:type="dcterms:W3CDTF">2026-01-18T21:24:06Z</dcterms:created>
  <dcterms:modified xsi:type="dcterms:W3CDTF">2026-01-19T22:57:11Z</dcterms:modified>
</cp:coreProperties>
</file>