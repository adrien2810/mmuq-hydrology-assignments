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7" r:id="rId5"/>
    <p:sldId id="258" r:id="rId6"/>
    <p:sldId id="259" r:id="rId7"/>
    <p:sldId id="260" r:id="rId8"/>
    <p:sldId id="263" r:id="rId9"/>
    <p:sldId id="261" r:id="rId10"/>
    <p:sldId id="264" r:id="rId11"/>
    <p:sldId id="268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53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plots and exported slides from prior assignment (local files).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Baseline figure: extracted from user-provided Assignment_3_Improved.pptx (slide 5).
- A4 precipitation CDF: user-generated plot (1_cdf_precipitation.png).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Boxplots: user-generated (6_boxplot_*.png).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1BAD-0A93-6BEE-8FB1-C80E93A7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C291F-1DAA-B5E0-F980-4A768DBC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12423-6577-DDA5-885F-CB7499DAF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Boxplots: user-generated (6_boxplot_*.png).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81FB8-1F4A-A1FA-F9AF-F518B9473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7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A4 scatter plot: user-generated (5_scatter_relative_change.png).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A4 OFV CDF: user-generated (2_cdf_ofvs.png).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A4 OFV scatter: user-generated (4_scatter_ofvs.png).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Method slide excerpt: extracted from user-provided Assignment_3_Improved.pptx (slide 15).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Baseline: extracted from user-provided Assignment_3_Improved.pptx (slide 5).
- A4 hydrograph: user-generated (7_hydrograph.png).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Q1–Q3 numbers: user-provided run output in chat.
- CDF figure: user-generated (2_cdf_ofvs.png).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AAA5-7EC5-47A5-5C8F-F2264CD9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29556-71CE-0EB2-C1C5-C2F944C3B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AA713-57B1-5405-62C0-C9C671688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Q1–Q3 numbers: user-provided run output in chat.
- CDF figure: user-generated (2_cdf_ofvs.png).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65171-286E-AB93-9090-70C53DCD8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34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Parameter CDF grid: user-generated (3_cdf_parameters_all.png).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 Input Uncertainty: Assignment 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989159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precipitation uncertainty and recalibration</a:t>
            </a:r>
          </a:p>
          <a:p>
            <a:pPr marL="0" indent="0">
              <a:buNone/>
            </a:pPr>
            <a:endParaRPr lang="en-US" dirty="0">
              <a:solidFill>
                <a:srgbClr val="E5E7E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Adrien, Nafisa, Vincent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8"/>
          <p:cNvSpPr/>
          <p:nvPr/>
        </p:nvSpPr>
        <p:spPr>
          <a:xfrm>
            <a:off x="548640" y="6638544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MMUQ – Assignment 4 summary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1695" cy="806779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compared?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39" y="484633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input calibration (A1) vs precipitation-uncertainty experiment (A4)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5778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Assignment 1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HBV on reference forcing using DE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“best” parameter set (BEST_PARAMS)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baseline NSE / OFV and hydrograph fit</a:t>
            </a:r>
            <a:endParaRPr lang="en-US" sz="1400" dirty="0"/>
          </a:p>
        </p:txBody>
      </p:sp>
      <p:pic>
        <p:nvPicPr>
          <p:cNvPr id="8" name="Image 0" descr="/mnt/data/asg1_slides_png2/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59" y="2575921"/>
            <a:ext cx="5356871" cy="30141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1097280"/>
            <a:ext cx="519379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662940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(Uncertainty)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29400" y="1600200"/>
            <a:ext cx="4919472" cy="193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Perturb precipitation:  P* = P × C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~ N(1, 0.05) </a:t>
            </a:r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 A: </a:t>
            </a:r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Perturbed precipitation series + parameters from assignment 1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 B: </a:t>
            </a:r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Perturbed precipitation series + parameters from recalibration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OFV/NSE + parameter distributions</a:t>
            </a:r>
          </a:p>
          <a:p>
            <a:pPr>
              <a:buSzPct val="100000"/>
            </a:pPr>
            <a:endParaRPr lang="en-US" sz="14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0B515BE-D08E-03C5-1C53-712CF2DE28B1}"/>
              </a:ext>
            </a:extLst>
          </p:cNvPr>
          <p:cNvSpPr txBox="1"/>
          <p:nvPr/>
        </p:nvSpPr>
        <p:spPr>
          <a:xfrm>
            <a:off x="11836095" y="6485467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B762FD5F-E1B0-D84F-B3CC-84E4B372C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478" y="3234690"/>
            <a:ext cx="3916996" cy="2937747"/>
          </a:xfrm>
          <a:prstGeom prst="rect">
            <a:avLst/>
          </a:prstGeom>
        </p:spPr>
      </p:pic>
      <p:pic>
        <p:nvPicPr>
          <p:cNvPr id="17" name="Grafik 16" descr="Ein Bild, das Reihe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6BA97B5-E07E-6C73-B814-31BF6BF57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0" y="4997388"/>
            <a:ext cx="5169579" cy="822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1695" cy="838201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Multiprocessing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50478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Setting up multiprocessing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486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15888" y="1207008"/>
            <a:ext cx="486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13" name="Grafik 12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95D68BDE-1E03-798A-7877-CE4CE0E7F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1080"/>
            <a:ext cx="4139652" cy="2500421"/>
          </a:xfrm>
          <a:prstGeom prst="rect">
            <a:avLst/>
          </a:prstGeom>
        </p:spPr>
      </p:pic>
      <p:pic>
        <p:nvPicPr>
          <p:cNvPr id="16" name="Grafik 1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0FC8FD2-FC69-BB04-E71F-6D4E8BFB0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3595271"/>
            <a:ext cx="4139652" cy="3008512"/>
          </a:xfrm>
          <a:prstGeom prst="rect">
            <a:avLst/>
          </a:prstGeom>
        </p:spPr>
      </p:pic>
      <p:pic>
        <p:nvPicPr>
          <p:cNvPr id="18" name="Grafik 17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FC789054-A72E-0AE0-D356-5C6BE494D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051" y="1021080"/>
            <a:ext cx="6326927" cy="558270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FF8BD688-ADDB-7801-81AC-59E8982E6A7A}"/>
              </a:ext>
            </a:extLst>
          </p:cNvPr>
          <p:cNvSpPr txBox="1"/>
          <p:nvPr/>
        </p:nvSpPr>
        <p:spPr>
          <a:xfrm>
            <a:off x="11836095" y="6485467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CE92-3BCB-87EA-DA96-04E14ADB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BDB2B7-E813-A28D-8351-C1A8565703CF}"/>
              </a:ext>
            </a:extLst>
          </p:cNvPr>
          <p:cNvSpPr/>
          <p:nvPr/>
        </p:nvSpPr>
        <p:spPr>
          <a:xfrm>
            <a:off x="0" y="-1"/>
            <a:ext cx="12191695" cy="8720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F6B619-572C-80A9-1D15-D60307DAD302}"/>
              </a:ext>
            </a:extLst>
          </p:cNvPr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Multiprocessing and Principal Function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3F1CA9-8833-4286-12D7-D6D9EEB3B84D}"/>
              </a:ext>
            </a:extLst>
          </p:cNvPr>
          <p:cNvSpPr/>
          <p:nvPr/>
        </p:nvSpPr>
        <p:spPr>
          <a:xfrm>
            <a:off x="548640" y="50478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Implementing the assignment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1A98FB-E886-475A-B64E-06F47E8F23F9}"/>
              </a:ext>
            </a:extLst>
          </p:cNvPr>
          <p:cNvSpPr/>
          <p:nvPr/>
        </p:nvSpPr>
        <p:spPr>
          <a:xfrm>
            <a:off x="914400" y="1207008"/>
            <a:ext cx="486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C5B144-D2E4-C246-8621-49D463E93415}"/>
              </a:ext>
            </a:extLst>
          </p:cNvPr>
          <p:cNvSpPr/>
          <p:nvPr/>
        </p:nvSpPr>
        <p:spPr>
          <a:xfrm>
            <a:off x="6415888" y="1207008"/>
            <a:ext cx="486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4627FBD-B102-9B0B-828F-76F047FA23BB}"/>
              </a:ext>
            </a:extLst>
          </p:cNvPr>
          <p:cNvSpPr txBox="1"/>
          <p:nvPr/>
        </p:nvSpPr>
        <p:spPr>
          <a:xfrm>
            <a:off x="11836095" y="6485467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</a:p>
        </p:txBody>
      </p:sp>
      <p:pic>
        <p:nvPicPr>
          <p:cNvPr id="8" name="Grafik 7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353AA98B-CEA1-17E6-C968-F11F757C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69" y="1435608"/>
            <a:ext cx="6862877" cy="445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Quick Overview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Perturb precipitation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~ N(1, σ)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max(C, 0.05) to avoid negative/zero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P* = P × 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434840" y="1280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Scenario A: fixed params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HBV with P* and BEST_PARAMS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NSE_fixed, OFV_fixed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18872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863840" y="1280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Scenario B: recalibrate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params for P*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(L-BFGS-B, bounded)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NSE_recal, OFV_recal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018788" y="1536192"/>
            <a:ext cx="164592" cy="219456"/>
          </a:xfrm>
          <a:prstGeom prst="rtTriangle">
            <a:avLst/>
          </a:prstGeom>
          <a:solidFill>
            <a:srgbClr val="163E6E"/>
          </a:solidFill>
          <a:ln w="12700">
            <a:solidFill>
              <a:srgbClr val="163E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 rot="5400000">
            <a:off x="7447788" y="1536192"/>
            <a:ext cx="164592" cy="219456"/>
          </a:xfrm>
          <a:prstGeom prst="rtTriangle">
            <a:avLst/>
          </a:prstGeom>
          <a:solidFill>
            <a:srgbClr val="163E6E"/>
          </a:solidFill>
          <a:ln w="12700">
            <a:solidFill>
              <a:srgbClr val="163E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548640" y="3442547"/>
            <a:ext cx="5715000" cy="2054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E6E"/>
            </a:solidFill>
            <a:prstDash val="solid"/>
          </a:ln>
          <a:effectLst>
            <a:outerShdw blurRad="3810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13232" y="3607139"/>
            <a:ext cx="5385816" cy="1658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OFV_recal &lt; OFV_fixed (points above the 1:1 line in the scatter), recalibration “compensates” for input uncertainty.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many parameters stay constant, the model is less sensitive (or the optimizer converges to the same local optimum).</a:t>
            </a:r>
            <a:endParaRPr lang="en-US" sz="12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FFE6237-C196-18F8-5FB0-1323DE4D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429" y="2916936"/>
            <a:ext cx="5171244" cy="34431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distributions (OFV = 1 − NSE)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CDFs summarize variability across perturbations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85632" y="1014984"/>
            <a:ext cx="3282696" cy="1813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shift = lower OFV = better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curve: perturbed PPT + fixed 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Orange curve: perturbed PPT + recalibrated 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line: reference OFV (orig PPT + BEST_PARAMS)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85632" y="3355848"/>
            <a:ext cx="32826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outcome: recalibration shifts the distribution slightly toward the reference line, but does not fully recover baseline performance.</a:t>
            </a:r>
            <a:endParaRPr lang="en-US" sz="1200" dirty="0"/>
          </a:p>
        </p:txBody>
      </p:sp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9266C7D3-5BB0-B544-76A0-CE401985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90" y="1143000"/>
            <a:ext cx="7315200" cy="457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4F71DC8-FD2E-0ED7-D52B-FFA04CF4D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343" y="3131813"/>
            <a:ext cx="5404115" cy="3598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vs recalibrated performance – critical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1684" y="5569882"/>
            <a:ext cx="4910328" cy="1259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 above 1:1 line → OFV_fixed &gt; OFV_recal → recalibration improved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 below 1:1 line → recalibration worse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8E0B7EBE-4240-02AE-5589-2C756EB2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1261886"/>
            <a:ext cx="3912999" cy="39129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3DEFABA-BA34-ABA9-88CE-D54276F4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84" y="1519987"/>
            <a:ext cx="5734316" cy="381802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610240B-1853-2169-D6C1-8986A2EC1BF0}"/>
              </a:ext>
            </a:extLst>
          </p:cNvPr>
          <p:cNvSpPr txBox="1"/>
          <p:nvPr/>
        </p:nvSpPr>
        <p:spPr>
          <a:xfrm>
            <a:off x="2700882" y="5330007"/>
            <a:ext cx="2015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/>
              <a:t>Using</a:t>
            </a:r>
            <a:r>
              <a:rPr lang="de-DE" sz="1400" b="1" dirty="0"/>
              <a:t> 2000 </a:t>
            </a:r>
            <a:r>
              <a:rPr lang="de-DE" sz="1400" b="1" dirty="0" err="1"/>
              <a:t>sim</a:t>
            </a:r>
            <a:r>
              <a:rPr lang="de-DE" sz="1400" b="1" dirty="0"/>
              <a:t> and DE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C03DE47-CCD6-3C73-3229-012D8449DB96}"/>
              </a:ext>
            </a:extLst>
          </p:cNvPr>
          <p:cNvSpPr txBox="1"/>
          <p:nvPr/>
        </p:nvSpPr>
        <p:spPr>
          <a:xfrm>
            <a:off x="8172731" y="5330006"/>
            <a:ext cx="2767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/>
              <a:t>Using</a:t>
            </a:r>
            <a:r>
              <a:rPr lang="de-DE" sz="1400" b="1" dirty="0"/>
              <a:t> 200 </a:t>
            </a:r>
            <a:r>
              <a:rPr lang="de-DE" sz="1400" b="1" dirty="0" err="1"/>
              <a:t>sim</a:t>
            </a:r>
            <a:r>
              <a:rPr lang="de-DE" sz="1400" b="1" dirty="0"/>
              <a:t> and </a:t>
            </a:r>
            <a:r>
              <a:rPr lang="de-DE" sz="1400" b="1" dirty="0" err="1"/>
              <a:t>local</a:t>
            </a:r>
            <a:r>
              <a:rPr lang="de-DE" sz="1400" b="1" dirty="0"/>
              <a:t> </a:t>
            </a:r>
            <a:r>
              <a:rPr lang="de-DE" sz="1400" b="1" dirty="0" err="1"/>
              <a:t>optimizer</a:t>
            </a:r>
            <a:endParaRPr lang="de-DE" sz="1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1695" cy="805543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Recalibration method: why L-BFGS-B is acceptable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4633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speed vs global optimality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0229" y="1097278"/>
            <a:ext cx="10689771" cy="51728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13232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6320" y="1480456"/>
            <a:ext cx="5733143" cy="440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L-BFGS-B (local, bounded):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→ feasible to recalibrate 200–2000 times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starting from a good reference solution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can miss better global minima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(global):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local minima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slower per recalibration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compromise: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L-BFGS-B for many perturbations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occasional DE or multi-start checks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Hydrographs: baseline vs perturbed + recalibrated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7251" y="1097280"/>
            <a:ext cx="5440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097280"/>
            <a:ext cx="5440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629400" y="11887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1" name="Grafik 3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DD16810-9630-7712-4AB5-CA51ACA6B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718842"/>
            <a:ext cx="4519507" cy="22251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763C1BF-08DC-3874-8DF2-6A97A2989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653" y="1901952"/>
            <a:ext cx="5144948" cy="3077619"/>
          </a:xfrm>
          <a:prstGeom prst="rect">
            <a:avLst/>
          </a:prstGeom>
        </p:spPr>
      </p:pic>
      <p:pic>
        <p:nvPicPr>
          <p:cNvPr id="13" name="Grafik 12" descr="Ein Bild, das Reihe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7F4E516-97BA-4D3F-21FC-5C82F4FB0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467" y="5040300"/>
            <a:ext cx="4677319" cy="743943"/>
          </a:xfrm>
          <a:prstGeom prst="rect">
            <a:avLst/>
          </a:prstGeom>
        </p:spPr>
      </p:pic>
      <p:pic>
        <p:nvPicPr>
          <p:cNvPr id="15" name="Grafik 14" descr="Ein Bild, das Reihe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C1D21EC-CA1C-E42C-4B99-07B728A4B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366" y="5743419"/>
            <a:ext cx="4609420" cy="604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Uncertainty of Parameters – Snow module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Analysis of input uncertainty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BCFA85-5F2F-E925-FFAE-EBD53D198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34" y="1105854"/>
            <a:ext cx="4123266" cy="2433761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54EDFB4-CA44-765B-68D6-3FB631D5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93" y="3862791"/>
            <a:ext cx="4181507" cy="2492289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3F5B7DD6-9932-B279-CC8A-F838F9718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795" y="3876545"/>
            <a:ext cx="4534591" cy="2492289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pic>
        <p:nvPicPr>
          <p:cNvPr id="17" name="Grafik 1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2AC0F520-B324-30F6-871C-0B3A8F46FF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794" y="1105855"/>
            <a:ext cx="4534591" cy="2433761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8395C08F-4B4D-1DCA-FAAA-B9912F80B543}"/>
              </a:ext>
            </a:extLst>
          </p:cNvPr>
          <p:cNvSpPr txBox="1"/>
          <p:nvPr/>
        </p:nvSpPr>
        <p:spPr>
          <a:xfrm>
            <a:off x="9982200" y="1092101"/>
            <a:ext cx="1938866" cy="529375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200" dirty="0"/>
              <a:t>HBV </a:t>
            </a:r>
            <a:r>
              <a:rPr lang="de-DE" sz="1200" dirty="0" err="1"/>
              <a:t>goes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same </a:t>
            </a:r>
            <a:r>
              <a:rPr lang="de-DE" sz="1200" dirty="0" err="1"/>
              <a:t>thresholdtemperature</a:t>
            </a:r>
            <a:r>
              <a:rPr lang="de-DE" sz="1200" dirty="0"/>
              <a:t> </a:t>
            </a:r>
            <a:r>
              <a:rPr lang="de-DE" sz="1200" dirty="0" err="1"/>
              <a:t>which</a:t>
            </a:r>
            <a:r>
              <a:rPr lang="de-DE" sz="1200" dirty="0"/>
              <a:t> </a:t>
            </a:r>
            <a:r>
              <a:rPr lang="de-DE" sz="1200" dirty="0" err="1"/>
              <a:t>makes</a:t>
            </a:r>
            <a:r>
              <a:rPr lang="de-DE" sz="1200" dirty="0"/>
              <a:t> sense </a:t>
            </a:r>
            <a:r>
              <a:rPr lang="de-DE" sz="1200" dirty="0" err="1"/>
              <a:t>as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snow</a:t>
            </a:r>
            <a:r>
              <a:rPr lang="de-DE" sz="1200" dirty="0"/>
              <a:t> </a:t>
            </a:r>
            <a:r>
              <a:rPr lang="de-DE" sz="1200" dirty="0" err="1"/>
              <a:t>melting</a:t>
            </a:r>
            <a:r>
              <a:rPr lang="de-DE" sz="1200" dirty="0"/>
              <a:t> </a:t>
            </a:r>
            <a:r>
              <a:rPr lang="de-DE" sz="1200" dirty="0" err="1"/>
              <a:t>process</a:t>
            </a:r>
            <a:r>
              <a:rPr lang="de-DE" sz="1200" dirty="0"/>
              <a:t> </a:t>
            </a:r>
            <a:r>
              <a:rPr lang="de-DE" sz="1200" dirty="0" err="1"/>
              <a:t>should</a:t>
            </a:r>
            <a:r>
              <a:rPr lang="de-DE" sz="1200" dirty="0"/>
              <a:t> beging </a:t>
            </a:r>
            <a:r>
              <a:rPr lang="de-DE" sz="1200" dirty="0" err="1"/>
              <a:t>independently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precipitation</a:t>
            </a:r>
            <a:r>
              <a:rPr lang="de-DE" sz="1200" dirty="0"/>
              <a:t>. </a:t>
            </a:r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200" dirty="0"/>
              <a:t>Permanent </a:t>
            </a:r>
            <a:r>
              <a:rPr lang="de-DE" sz="1200" dirty="0" err="1"/>
              <a:t>Melting</a:t>
            </a:r>
            <a:r>
              <a:rPr lang="de-DE" sz="1200" dirty="0"/>
              <a:t> </a:t>
            </a:r>
            <a:r>
              <a:rPr lang="de-DE" sz="1200" dirty="0" err="1"/>
              <a:t>Factor</a:t>
            </a:r>
            <a:r>
              <a:rPr lang="de-DE" sz="1200" dirty="0"/>
              <a:t> also </a:t>
            </a:r>
            <a:r>
              <a:rPr lang="de-DE" sz="1200" dirty="0" err="1"/>
              <a:t>small</a:t>
            </a:r>
            <a:r>
              <a:rPr lang="de-DE" sz="1200" dirty="0"/>
              <a:t> </a:t>
            </a:r>
            <a:r>
              <a:rPr lang="de-DE" sz="1200" dirty="0" err="1"/>
              <a:t>changes</a:t>
            </a:r>
            <a:r>
              <a:rPr lang="de-DE" sz="1200" dirty="0"/>
              <a:t> </a:t>
            </a:r>
            <a:r>
              <a:rPr lang="de-DE" sz="1200" dirty="0" err="1"/>
              <a:t>as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factor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related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pptn</a:t>
            </a:r>
            <a:r>
              <a:rPr lang="de-DE" sz="1200" dirty="0"/>
              <a:t>, </a:t>
            </a:r>
            <a:r>
              <a:rPr lang="de-DE" sz="1200" dirty="0" err="1"/>
              <a:t>however</a:t>
            </a:r>
            <a:r>
              <a:rPr lang="de-DE" sz="1200" dirty="0"/>
              <a:t> </a:t>
            </a:r>
            <a:r>
              <a:rPr lang="de-DE" sz="1200" dirty="0" err="1"/>
              <a:t>should</a:t>
            </a:r>
            <a:r>
              <a:rPr lang="de-DE" sz="1200" dirty="0"/>
              <a:t> not </a:t>
            </a:r>
            <a:r>
              <a:rPr lang="de-DE" sz="1200" dirty="0" err="1"/>
              <a:t>change</a:t>
            </a:r>
            <a:r>
              <a:rPr lang="de-DE" sz="1200" dirty="0"/>
              <a:t> </a:t>
            </a:r>
            <a:r>
              <a:rPr lang="de-DE" sz="1200" dirty="0" err="1"/>
              <a:t>itself</a:t>
            </a:r>
            <a:r>
              <a:rPr lang="de-DE" sz="1200" dirty="0"/>
              <a:t> </a:t>
            </a:r>
            <a:r>
              <a:rPr lang="de-DE" sz="1200" dirty="0" err="1"/>
              <a:t>drastically</a:t>
            </a:r>
            <a:r>
              <a:rPr lang="de-DE" sz="1200" dirty="0"/>
              <a:t> due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randomness</a:t>
            </a:r>
            <a:r>
              <a:rPr lang="de-DE" sz="1200" dirty="0"/>
              <a:t> </a:t>
            </a:r>
            <a:r>
              <a:rPr lang="de-DE" sz="1200" dirty="0" err="1"/>
              <a:t>as</a:t>
            </a:r>
            <a:r>
              <a:rPr lang="de-DE" sz="1200" dirty="0"/>
              <a:t> </a:t>
            </a:r>
            <a:r>
              <a:rPr lang="de-DE" sz="1200" dirty="0" err="1"/>
              <a:t>sometimes</a:t>
            </a:r>
            <a:r>
              <a:rPr lang="de-DE" sz="1200" dirty="0"/>
              <a:t>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have</a:t>
            </a:r>
            <a:r>
              <a:rPr lang="de-DE" sz="1200" dirty="0"/>
              <a:t> </a:t>
            </a:r>
            <a:r>
              <a:rPr lang="de-DE" sz="1200" dirty="0" err="1"/>
              <a:t>too</a:t>
            </a:r>
            <a:r>
              <a:rPr lang="de-DE" sz="1200" dirty="0"/>
              <a:t> </a:t>
            </a:r>
            <a:r>
              <a:rPr lang="de-DE" sz="1200" dirty="0" err="1"/>
              <a:t>much</a:t>
            </a:r>
            <a:r>
              <a:rPr lang="de-DE" sz="1200" dirty="0"/>
              <a:t> and </a:t>
            </a:r>
            <a:r>
              <a:rPr lang="de-DE" sz="1200" dirty="0" err="1"/>
              <a:t>sometimes</a:t>
            </a:r>
            <a:r>
              <a:rPr lang="de-DE" sz="1200" dirty="0"/>
              <a:t> </a:t>
            </a:r>
            <a:r>
              <a:rPr lang="de-DE" sz="1200" dirty="0" err="1"/>
              <a:t>less</a:t>
            </a:r>
            <a:r>
              <a:rPr lang="de-DE" sz="1200" dirty="0"/>
              <a:t> </a:t>
            </a:r>
            <a:r>
              <a:rPr lang="de-DE" sz="1200" dirty="0" err="1"/>
              <a:t>precipitation</a:t>
            </a:r>
            <a:endParaRPr lang="de-DE" sz="1200" dirty="0"/>
          </a:p>
          <a:p>
            <a:endParaRPr lang="de-DE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FECF-6F66-820C-4C7F-BA3B0744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D317AC-59C6-400F-4E9F-2E2CD4EC0E50}"/>
              </a:ext>
            </a:extLst>
          </p:cNvPr>
          <p:cNvSpPr/>
          <p:nvPr/>
        </p:nvSpPr>
        <p:spPr>
          <a:xfrm>
            <a:off x="0" y="-1"/>
            <a:ext cx="12191695" cy="870035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E59591-82D8-CF70-E4D7-57385B0165A9}"/>
              </a:ext>
            </a:extLst>
          </p:cNvPr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answers (Q1–Q3)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64CA9A-B241-3346-36E5-58DBE1E63E0E}"/>
              </a:ext>
            </a:extLst>
          </p:cNvPr>
          <p:cNvSpPr/>
          <p:nvPr/>
        </p:nvSpPr>
        <p:spPr>
          <a:xfrm>
            <a:off x="548639" y="5134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below match your run output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A8C482-6DC5-58EE-59DA-8DE158ABB264}"/>
              </a:ext>
            </a:extLst>
          </p:cNvPr>
          <p:cNvSpPr/>
          <p:nvPr/>
        </p:nvSpPr>
        <p:spPr>
          <a:xfrm>
            <a:off x="822960" y="1234440"/>
            <a:ext cx="50900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BDE7DB-875C-2118-7950-BC0E0016BA59}"/>
              </a:ext>
            </a:extLst>
          </p:cNvPr>
          <p:cNvSpPr/>
          <p:nvPr/>
        </p:nvSpPr>
        <p:spPr>
          <a:xfrm>
            <a:off x="1078992" y="1417320"/>
            <a:ext cx="4632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How often better by chance?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36F967-0038-8FF7-BEAC-B1D49EC2318E}"/>
              </a:ext>
            </a:extLst>
          </p:cNvPr>
          <p:cNvSpPr/>
          <p:nvPr/>
        </p:nvSpPr>
        <p:spPr>
          <a:xfrm>
            <a:off x="1078992" y="1903307"/>
            <a:ext cx="471220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better than ref: 470/2000 (33.5%)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Recalibration improved compared to ref: 1530 / 2000 (76.5 %)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7A5697-1195-EFD3-65DB-FCF246EA1227}"/>
              </a:ext>
            </a:extLst>
          </p:cNvPr>
          <p:cNvSpPr/>
          <p:nvPr/>
        </p:nvSpPr>
        <p:spPr>
          <a:xfrm>
            <a:off x="6278728" y="1234440"/>
            <a:ext cx="50900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F248ED-325C-0677-4130-126F4C4B7213}"/>
              </a:ext>
            </a:extLst>
          </p:cNvPr>
          <p:cNvSpPr/>
          <p:nvPr/>
        </p:nvSpPr>
        <p:spPr>
          <a:xfrm>
            <a:off x="6534760" y="1417320"/>
            <a:ext cx="4632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Compensation amount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F24FB0-70B8-AD27-9F3F-34DEE6971FB1}"/>
              </a:ext>
            </a:extLst>
          </p:cNvPr>
          <p:cNvSpPr/>
          <p:nvPr/>
        </p:nvSpPr>
        <p:spPr>
          <a:xfrm>
            <a:off x="6557620" y="1737360"/>
            <a:ext cx="45870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degradation (fixed): 0.0010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degradation (recal): 0.0008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21.9%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C43F27-663F-5309-D8C7-F100E3B83710}"/>
              </a:ext>
            </a:extLst>
          </p:cNvPr>
          <p:cNvSpPr/>
          <p:nvPr/>
        </p:nvSpPr>
        <p:spPr>
          <a:xfrm>
            <a:off x="822960" y="4035213"/>
            <a:ext cx="50900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9E33A3-FE77-090D-71FB-144F59C79494}"/>
              </a:ext>
            </a:extLst>
          </p:cNvPr>
          <p:cNvSpPr/>
          <p:nvPr/>
        </p:nvSpPr>
        <p:spPr>
          <a:xfrm>
            <a:off x="1078992" y="4251960"/>
            <a:ext cx="4632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Use input uncertainty in calibration?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01C2F5-B52A-A011-36C6-D7B67D5B3996}"/>
              </a:ext>
            </a:extLst>
          </p:cNvPr>
          <p:cNvSpPr/>
          <p:nvPr/>
        </p:nvSpPr>
        <p:spPr>
          <a:xfrm>
            <a:off x="1074420" y="4577079"/>
            <a:ext cx="4587088" cy="1566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Recalibration recovered only ~22% of the average loss.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suggests parameters cannot fully compensate for forcing errors, so the uncertainty should be accounted for during calibration and evaluation.</a:t>
            </a:r>
            <a:endParaRPr lang="en-US" sz="14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43393BA1-AF01-6561-F618-628358289200}"/>
              </a:ext>
            </a:extLst>
          </p:cNvPr>
          <p:cNvSpPr/>
          <p:nvPr/>
        </p:nvSpPr>
        <p:spPr>
          <a:xfrm>
            <a:off x="6306160" y="4032504"/>
            <a:ext cx="50900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de-DE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r>
              <a:rPr lang="de-DE" dirty="0"/>
              <a:t> </a:t>
            </a:r>
            <a:r>
              <a:rPr lang="de-DE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de-DE" sz="1600" b="1" dirty="0" err="1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r>
              <a:rPr lang="de-DE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600" b="1" dirty="0" err="1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de-DE" sz="1600" b="1" dirty="0">
                <a:solidFill>
                  <a:srgbClr val="16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OUDIN</a:t>
            </a:r>
            <a:endParaRPr lang="en-DE" sz="1600" b="1" dirty="0">
              <a:solidFill>
                <a:srgbClr val="163E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129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CDFs of all 18 parameters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panel: blue = recalibrated distribution, red = reference value</a:t>
            </a:r>
            <a:endParaRPr lang="en-US" sz="1400" dirty="0"/>
          </a:p>
        </p:txBody>
      </p:sp>
      <p:pic>
        <p:nvPicPr>
          <p:cNvPr id="5" name="Image 0" descr="/mnt/data/3_cdf_parameter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97" y="1051560"/>
            <a:ext cx="838766" cy="5669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234440"/>
            <a:ext cx="3291840" cy="15523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E6E"/>
            </a:solidFill>
            <a:prstDash val="solid"/>
          </a:ln>
          <a:effectLst>
            <a:outerShdw blurRad="3810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8759952" y="1033271"/>
            <a:ext cx="2962656" cy="1753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Office PowerPoint</Application>
  <PresentationFormat>Breitbild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Adrien Thébault</cp:lastModifiedBy>
  <cp:revision>13</cp:revision>
  <dcterms:created xsi:type="dcterms:W3CDTF">2026-01-18T21:24:06Z</dcterms:created>
  <dcterms:modified xsi:type="dcterms:W3CDTF">2026-01-19T21:44:22Z</dcterms:modified>
</cp:coreProperties>
</file>