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saveSubsetFonts="1">
  <p:sldMasterIdLst>
    <p:sldMasterId id="2147483650" r:id="rId1"/>
  </p:sldMasterIdLst>
  <p:notesMasterIdLst>
    <p:notesMasterId r:id="rId2"/>
  </p:notesMasterIdLst>
  <p:sldIdLst>
    <p:sldId id="285" r:id="rId3"/>
    <p:sldId id="286" r:id="rId4"/>
    <p:sldId id="287" r:id="rId5"/>
    <p:sldId id="288" r:id="rId6"/>
    <p:sldId id="289" r:id="rId7"/>
    <p:sldId id="290" r:id="rId8"/>
    <p:sldId id="291" r:id="rId9"/>
    <p:sldId id="292" r:id="rId10"/>
    <p:sldId id="293" r:id="rId11"/>
    <p:sldId id="294" r:id="rId12"/>
    <p:sldId id="295" r:id="rId13"/>
    <p:sldId id="296" r:id="rId14"/>
    <p:sldId id="297" r:id="rId15"/>
    <p:sldId id="298" r:id="rId16"/>
  </p:sldIdLst>
  <p:sldSz type="screen16x9" cy="6858000" cx="12192000"/>
  <p:notesSz cx="6858000" cy="12192000"/>
  <p:defaultTextStyle>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ThumbnailView">
  <p:normalViewPr horzBarState="maximized">
    <p:restoredLeft sz="21478"/>
    <p:restoredTop sz="94610"/>
  </p:normalViewPr>
  <p:slideViewPr>
    <p:cSldViewPr snapToGrid="0" snapToObjects="1">
      <p:cViewPr varScale="1">
        <p:scale>
          <a:sx n="105" d="100"/>
          <a:sy n="105" d="100"/>
        </p:scale>
        <p:origin x="504" y="168"/>
      </p:cViewPr>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tableStyles" Target="tableStyles.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59" name=""/>
        <p:cNvGrpSpPr/>
        <p:nvPr/>
      </p:nvGrpSpPr>
      <p:grpSpPr>
        <a:xfrm>
          <a:off x="0" y="0"/>
          <a:ext cx="0" cy="0"/>
          <a:chOff x="0" y="0"/>
          <a:chExt cx="0" cy="0"/>
        </a:xfrm>
      </p:grpSpPr>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sp>
        <p:nvSpPr>
          <p:cNvPr id="1048646" name="Slide Image Placeholder 1"/>
          <p:cNvSpPr>
            <a:spLocks noChangeAspect="1" noRot="1" noGrp="1"/>
          </p:cNvSpPr>
          <p:nvPr>
            <p:ph type="sldImg"/>
          </p:nvPr>
        </p:nvSpPr>
        <p:spPr/>
      </p:sp>
      <p:sp>
        <p:nvSpPr>
          <p:cNvPr id="1048647" name="Notes Placeholder 2"/>
          <p:cNvSpPr>
            <a:spLocks noGrp="1"/>
          </p:cNvSpPr>
          <p:nvPr>
            <p:ph type="body" idx="1"/>
          </p:nvPr>
        </p:nvSpPr>
        <p:spPr/>
        <p:txBody>
          <a:bodyPr/>
          <a:p>
            <a:r>
              <a:rPr dirty="0" lang="en-US"/>
              <a:t>[Sources]
- User-provided plots and exported slides from prior assignment (local files).
[/Sources]</a:t>
            </a:r>
          </a:p>
        </p:txBody>
      </p:sp>
      <p:sp>
        <p:nvSpPr>
          <p:cNvPr id="1048648" name="Slide Number Placeholder 3"/>
          <p:cNvSpPr>
            <a:spLocks noGrp="1"/>
          </p:cNvSpPr>
          <p:nvPr>
            <p:ph type="sldNum" sz="quarter" idx="10"/>
          </p:nvPr>
        </p:nvSpPr>
        <p:spPr/>
        <p:txBody>
          <a:bodyPr/>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1048659" name="Slide Image Placeholder 1"/>
          <p:cNvSpPr>
            <a:spLocks noChangeAspect="1" noRot="1" noGrp="1"/>
          </p:cNvSpPr>
          <p:nvPr>
            <p:ph type="sldImg"/>
          </p:nvPr>
        </p:nvSpPr>
        <p:spPr/>
      </p:sp>
      <p:sp>
        <p:nvSpPr>
          <p:cNvPr id="1048660" name="Notes Placeholder 2"/>
          <p:cNvSpPr>
            <a:spLocks noGrp="1"/>
          </p:cNvSpPr>
          <p:nvPr>
            <p:ph type="body" idx="1"/>
          </p:nvPr>
        </p:nvSpPr>
        <p:spPr/>
        <p:txBody>
          <a:bodyPr/>
          <a:p>
            <a:r>
              <a:rPr dirty="0" lang="en-US"/>
              <a:t>[Sources]
- Baseline figure: extracted from user-provided Assignment_3_Improved.pptx (slide 5).
- A4 precipitation CDF: user-generated plot (1_cdf_precipitation.png).
[/Sources]</a:t>
            </a:r>
          </a:p>
        </p:txBody>
      </p:sp>
      <p:sp>
        <p:nvSpPr>
          <p:cNvPr id="1048661" name="Slide Number Placeholder 3"/>
          <p:cNvSpPr>
            <a:spLocks noGrp="1"/>
          </p:cNvSpPr>
          <p:nvPr>
            <p:ph type="sldNum" sz="quarter" idx="10"/>
          </p:nvPr>
        </p:nvSpPr>
        <p:spPr/>
        <p:txBody>
          <a:bodyPr/>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668" name="Slide Image Placeholder 1"/>
          <p:cNvSpPr>
            <a:spLocks noChangeAspect="1" noRot="1" noGrp="1"/>
          </p:cNvSpPr>
          <p:nvPr>
            <p:ph type="sldImg"/>
          </p:nvPr>
        </p:nvSpPr>
        <p:spPr/>
      </p:sp>
      <p:sp>
        <p:nvSpPr>
          <p:cNvPr id="1048669" name="Notes Placeholder 2"/>
          <p:cNvSpPr>
            <a:spLocks noGrp="1"/>
          </p:cNvSpPr>
          <p:nvPr>
            <p:ph type="body" idx="1"/>
          </p:nvPr>
        </p:nvSpPr>
        <p:spPr/>
        <p:txBody>
          <a:bodyPr/>
          <a:p>
            <a:r>
              <a:rPr dirty="0" lang="en-US"/>
              <a:t>[Sources]
- Boxplots: user-generated (6_boxplot_*.png).
[/Sources]</a:t>
            </a:r>
          </a:p>
        </p:txBody>
      </p:sp>
      <p:sp>
        <p:nvSpPr>
          <p:cNvPr id="1048670" name="Slide Number Placeholder 3"/>
          <p:cNvSpPr>
            <a:spLocks noGrp="1"/>
          </p:cNvSpPr>
          <p:nvPr>
            <p:ph type="sldNum" sz="quarter" idx="10"/>
          </p:nvPr>
        </p:nvSpPr>
        <p:spPr/>
        <p:txBody>
          <a:bodyPr/>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49" name=""/>
        <p:cNvGrpSpPr/>
        <p:nvPr/>
      </p:nvGrpSpPr>
      <p:grpSpPr>
        <a:xfrm>
          <a:off x="0" y="0"/>
          <a:ext cx="0" cy="0"/>
          <a:chOff x="0" y="0"/>
          <a:chExt cx="0" cy="0"/>
        </a:xfrm>
      </p:grpSpPr>
      <p:sp>
        <p:nvSpPr>
          <p:cNvPr id="1048677" name="Slide Image Placeholder 1"/>
          <p:cNvSpPr>
            <a:spLocks noChangeAspect="1" noRot="1" noGrp="1"/>
          </p:cNvSpPr>
          <p:nvPr>
            <p:ph type="sldImg"/>
          </p:nvPr>
        </p:nvSpPr>
        <p:spPr/>
      </p:sp>
      <p:sp>
        <p:nvSpPr>
          <p:cNvPr id="1048678" name="Notes Placeholder 2"/>
          <p:cNvSpPr>
            <a:spLocks noGrp="1"/>
          </p:cNvSpPr>
          <p:nvPr>
            <p:ph type="body" idx="1"/>
          </p:nvPr>
        </p:nvSpPr>
        <p:spPr/>
        <p:txBody>
          <a:bodyPr/>
          <a:p>
            <a:r>
              <a:rPr dirty="0" lang="en-US"/>
              <a:t>[Sources]
- Boxplots: user-generated (6_boxplot_*.png).
[/Sources]</a:t>
            </a:r>
          </a:p>
        </p:txBody>
      </p:sp>
      <p:sp>
        <p:nvSpPr>
          <p:cNvPr id="1048679" name="Slide Number Placeholder 3"/>
          <p:cNvSpPr>
            <a:spLocks noGrp="1"/>
          </p:cNvSpPr>
          <p:nvPr>
            <p:ph type="sldNum" sz="quarter" idx="10"/>
          </p:nvPr>
        </p:nvSpPr>
        <p:spPr/>
        <p:txBody>
          <a:bodyPr/>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52" name=""/>
        <p:cNvGrpSpPr/>
        <p:nvPr/>
      </p:nvGrpSpPr>
      <p:grpSpPr>
        <a:xfrm>
          <a:off x="0" y="0"/>
          <a:ext cx="0" cy="0"/>
          <a:chOff x="0" y="0"/>
          <a:chExt cx="0" cy="0"/>
        </a:xfrm>
      </p:grpSpPr>
      <p:sp>
        <p:nvSpPr>
          <p:cNvPr id="1048697" name="Slide Image Placeholder 1"/>
          <p:cNvSpPr>
            <a:spLocks noChangeAspect="1" noRot="1" noGrp="1"/>
          </p:cNvSpPr>
          <p:nvPr>
            <p:ph type="sldImg"/>
          </p:nvPr>
        </p:nvSpPr>
        <p:spPr/>
      </p:sp>
      <p:sp>
        <p:nvSpPr>
          <p:cNvPr id="1048698" name="Notes Placeholder 2"/>
          <p:cNvSpPr>
            <a:spLocks noGrp="1"/>
          </p:cNvSpPr>
          <p:nvPr>
            <p:ph type="body" idx="1"/>
          </p:nvPr>
        </p:nvSpPr>
        <p:spPr/>
        <p:txBody>
          <a:bodyPr/>
          <a:p>
            <a:r>
              <a:rPr dirty="0" lang="en-US"/>
              <a:t>[Sources]
- A4 scatter plot: user-generated (5_scatter_relative_change.png).
[/Sources]</a:t>
            </a:r>
          </a:p>
        </p:txBody>
      </p:sp>
      <p:sp>
        <p:nvSpPr>
          <p:cNvPr id="1048699" name="Slide Number Placeholder 3"/>
          <p:cNvSpPr>
            <a:spLocks noGrp="1"/>
          </p:cNvSpPr>
          <p:nvPr>
            <p:ph type="sldNum" sz="quarter" idx="10"/>
          </p:nvPr>
        </p:nvSpPr>
        <p:spPr/>
        <p:txBody>
          <a:bodyPr/>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55" name=""/>
        <p:cNvGrpSpPr/>
        <p:nvPr/>
      </p:nvGrpSpPr>
      <p:grpSpPr>
        <a:xfrm>
          <a:off x="0" y="0"/>
          <a:ext cx="0" cy="0"/>
          <a:chOff x="0" y="0"/>
          <a:chExt cx="0" cy="0"/>
        </a:xfrm>
      </p:grpSpPr>
      <p:sp>
        <p:nvSpPr>
          <p:cNvPr id="1048706" name="Slide Image Placeholder 1"/>
          <p:cNvSpPr>
            <a:spLocks noChangeAspect="1" noRot="1" noGrp="1"/>
          </p:cNvSpPr>
          <p:nvPr>
            <p:ph type="sldImg"/>
          </p:nvPr>
        </p:nvSpPr>
        <p:spPr/>
      </p:sp>
      <p:sp>
        <p:nvSpPr>
          <p:cNvPr id="1048707" name="Notes Placeholder 2"/>
          <p:cNvSpPr>
            <a:spLocks noGrp="1"/>
          </p:cNvSpPr>
          <p:nvPr>
            <p:ph type="body" idx="1"/>
          </p:nvPr>
        </p:nvSpPr>
        <p:spPr/>
        <p:txBody>
          <a:bodyPr/>
          <a:p>
            <a:r>
              <a:rPr dirty="0" lang="en-US"/>
              <a:t>[Sources]
- A4 OFV CDF: user-generated (2_cdf_ofvs.png).
[/Sources]</a:t>
            </a:r>
          </a:p>
        </p:txBody>
      </p:sp>
      <p:sp>
        <p:nvSpPr>
          <p:cNvPr id="1048708" name="Slide Number Placeholder 3"/>
          <p:cNvSpPr>
            <a:spLocks noGrp="1"/>
          </p:cNvSpPr>
          <p:nvPr>
            <p:ph type="sldNum" sz="quarter" idx="10"/>
          </p:nvPr>
        </p:nvSpPr>
        <p:spPr/>
        <p:txBody>
          <a:bodyPr/>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58" name=""/>
        <p:cNvGrpSpPr/>
        <p:nvPr/>
      </p:nvGrpSpPr>
      <p:grpSpPr>
        <a:xfrm>
          <a:off x="0" y="0"/>
          <a:ext cx="0" cy="0"/>
          <a:chOff x="0" y="0"/>
          <a:chExt cx="0" cy="0"/>
        </a:xfrm>
      </p:grpSpPr>
      <p:sp>
        <p:nvSpPr>
          <p:cNvPr id="1048716" name="Slide Image Placeholder 1"/>
          <p:cNvSpPr>
            <a:spLocks noChangeAspect="1" noRot="1" noGrp="1"/>
          </p:cNvSpPr>
          <p:nvPr>
            <p:ph type="sldImg"/>
          </p:nvPr>
        </p:nvSpPr>
        <p:spPr/>
      </p:sp>
      <p:sp>
        <p:nvSpPr>
          <p:cNvPr id="1048717" name="Notes Placeholder 2"/>
          <p:cNvSpPr>
            <a:spLocks noGrp="1"/>
          </p:cNvSpPr>
          <p:nvPr>
            <p:ph type="body" idx="1"/>
          </p:nvPr>
        </p:nvSpPr>
        <p:spPr/>
        <p:txBody>
          <a:bodyPr/>
          <a:p>
            <a:r>
              <a:rPr dirty="0" lang="en-US"/>
              <a:t>[Sources]
- A4 OFV scatter: user-generated (4_scatter_ofvs.png).
[/Sources]</a:t>
            </a:r>
          </a:p>
        </p:txBody>
      </p:sp>
      <p:sp>
        <p:nvSpPr>
          <p:cNvPr id="1048718" name="Slide Number Placeholder 3"/>
          <p:cNvSpPr>
            <a:spLocks noGrp="1"/>
          </p:cNvSpPr>
          <p:nvPr>
            <p:ph type="sldNum" sz="quarter" idx="10"/>
          </p:nvPr>
        </p:nvSpPr>
        <p:spPr/>
        <p:txBody>
          <a:bodyPr/>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37" name=""/>
        <p:cNvGrpSpPr/>
        <p:nvPr/>
      </p:nvGrpSpPr>
      <p:grpSpPr>
        <a:xfrm>
          <a:off x="0" y="0"/>
          <a:ext cx="0" cy="0"/>
          <a:chOff x="0" y="0"/>
          <a:chExt cx="0" cy="0"/>
        </a:xfrm>
      </p:grpSpPr>
      <p:sp>
        <p:nvSpPr>
          <p:cNvPr id="1048637" name="Slide Image Placeholder 1"/>
          <p:cNvSpPr>
            <a:spLocks noChangeAspect="1" noRot="1" noGrp="1"/>
          </p:cNvSpPr>
          <p:nvPr>
            <p:ph type="sldImg"/>
          </p:nvPr>
        </p:nvSpPr>
        <p:spPr/>
      </p:sp>
      <p:sp>
        <p:nvSpPr>
          <p:cNvPr id="1048638" name="Notes Placeholder 2"/>
          <p:cNvSpPr>
            <a:spLocks noGrp="1"/>
          </p:cNvSpPr>
          <p:nvPr>
            <p:ph type="body" idx="1"/>
          </p:nvPr>
        </p:nvSpPr>
        <p:spPr/>
        <p:txBody>
          <a:bodyPr/>
          <a:p>
            <a:r>
              <a:rPr dirty="0" lang="en-US"/>
              <a:t>[Sources]
- Method slide excerpt: extracted from user-provided Assignment_3_Improved.pptx (slide 15).
[/Sources]</a:t>
            </a:r>
          </a:p>
        </p:txBody>
      </p:sp>
      <p:sp>
        <p:nvSpPr>
          <p:cNvPr id="1048639" name="Slide Number Placeholder 3"/>
          <p:cNvSpPr>
            <a:spLocks noGrp="1"/>
          </p:cNvSpPr>
          <p:nvPr>
            <p:ph type="sldNum" sz="quarter" idx="10"/>
          </p:nvPr>
        </p:nvSpPr>
        <p:spPr/>
        <p:txBody>
          <a:bodyPr/>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33" name=""/>
        <p:cNvGrpSpPr/>
        <p:nvPr/>
      </p:nvGrpSpPr>
      <p:grpSpPr>
        <a:xfrm>
          <a:off x="0" y="0"/>
          <a:ext cx="0" cy="0"/>
          <a:chOff x="0" y="0"/>
          <a:chExt cx="0" cy="0"/>
        </a:xfrm>
      </p:grpSpPr>
      <p:sp>
        <p:nvSpPr>
          <p:cNvPr id="1048626" name="Slide Image Placeholder 1"/>
          <p:cNvSpPr>
            <a:spLocks noChangeAspect="1" noRot="1" noGrp="1"/>
          </p:cNvSpPr>
          <p:nvPr>
            <p:ph type="sldImg"/>
          </p:nvPr>
        </p:nvSpPr>
        <p:spPr/>
      </p:sp>
      <p:sp>
        <p:nvSpPr>
          <p:cNvPr id="1048627" name="Notes Placeholder 2"/>
          <p:cNvSpPr>
            <a:spLocks noGrp="1"/>
          </p:cNvSpPr>
          <p:nvPr>
            <p:ph type="body" idx="1"/>
          </p:nvPr>
        </p:nvSpPr>
        <p:spPr/>
        <p:txBody>
          <a:bodyPr/>
          <a:p>
            <a:r>
              <a:rPr dirty="0" lang="en-US"/>
              <a:t>[Sources]
- Baseline: extracted from user-provided Assignment_3_Improved.pptx (slide 5).
- A4 hydrograph: user-generated (7_hydrograph.png).
[/Sources]</a:t>
            </a:r>
          </a:p>
        </p:txBody>
      </p:sp>
      <p:sp>
        <p:nvSpPr>
          <p:cNvPr id="1048628" name="Slide Number Placeholder 3"/>
          <p:cNvSpPr>
            <a:spLocks noGrp="1"/>
          </p:cNvSpPr>
          <p:nvPr>
            <p:ph type="sldNum" sz="quarter" idx="10"/>
          </p:nvPr>
        </p:nvSpPr>
        <p:spPr/>
        <p:txBody>
          <a:bodyPr/>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27" name=""/>
        <p:cNvGrpSpPr/>
        <p:nvPr/>
      </p:nvGrpSpPr>
      <p:grpSpPr>
        <a:xfrm>
          <a:off x="0" y="0"/>
          <a:ext cx="0" cy="0"/>
          <a:chOff x="0" y="0"/>
          <a:chExt cx="0" cy="0"/>
        </a:xfrm>
      </p:grpSpPr>
      <p:sp>
        <p:nvSpPr>
          <p:cNvPr id="1048597" name="Slide Image Placeholder 1"/>
          <p:cNvSpPr>
            <a:spLocks noChangeAspect="1" noRot="1" noGrp="1"/>
          </p:cNvSpPr>
          <p:nvPr>
            <p:ph type="sldImg"/>
          </p:nvPr>
        </p:nvSpPr>
        <p:spPr/>
      </p:sp>
      <p:sp>
        <p:nvSpPr>
          <p:cNvPr id="1048598" name="Notes Placeholder 2"/>
          <p:cNvSpPr>
            <a:spLocks noGrp="1"/>
          </p:cNvSpPr>
          <p:nvPr>
            <p:ph type="body" idx="1"/>
          </p:nvPr>
        </p:nvSpPr>
        <p:spPr/>
        <p:txBody>
          <a:bodyPr/>
          <a:p>
            <a:r>
              <a:rPr dirty="0" lang="en-US"/>
              <a:t>[Sources]
- Q1–Q3 numbers: user-provided run output in chat.
- CDF figure: user-generated (2_cdf_ofvs.png).
[/Sources]</a:t>
            </a:r>
          </a:p>
        </p:txBody>
      </p:sp>
      <p:sp>
        <p:nvSpPr>
          <p:cNvPr id="1048599" name="Slide Number Placeholder 3"/>
          <p:cNvSpPr>
            <a:spLocks noGrp="1"/>
          </p:cNvSpPr>
          <p:nvPr>
            <p:ph type="sldNum" sz="quarter" idx="10"/>
          </p:nvPr>
        </p:nvSpPr>
        <p:spPr/>
        <p:txBody>
          <a:bodyPr/>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21" name=""/>
        <p:cNvGrpSpPr/>
        <p:nvPr/>
      </p:nvGrpSpPr>
      <p:grpSpPr>
        <a:xfrm>
          <a:off x="0" y="0"/>
          <a:ext cx="0" cy="0"/>
          <a:chOff x="0" y="0"/>
          <a:chExt cx="0" cy="0"/>
        </a:xfrm>
      </p:grpSpPr>
      <p:sp>
        <p:nvSpPr>
          <p:cNvPr id="1048581" name="Slide Image Placeholder 1"/>
          <p:cNvSpPr>
            <a:spLocks noChangeAspect="1" noRot="1" noGrp="1"/>
          </p:cNvSpPr>
          <p:nvPr>
            <p:ph type="sldImg"/>
          </p:nvPr>
        </p:nvSpPr>
        <p:spPr/>
      </p:sp>
      <p:sp>
        <p:nvSpPr>
          <p:cNvPr id="1048582" name="Notes Placeholder 2"/>
          <p:cNvSpPr>
            <a:spLocks noGrp="1"/>
          </p:cNvSpPr>
          <p:nvPr>
            <p:ph type="body" idx="1"/>
          </p:nvPr>
        </p:nvSpPr>
        <p:spPr/>
        <p:txBody>
          <a:bodyPr/>
          <a:p>
            <a:r>
              <a:rPr dirty="0" lang="en-US"/>
              <a:t>[Sources]
- Q1–Q3 numbers: user-provided run output in chat.
- CDF figure: user-generated (2_cdf_ofvs.png).
[/Sources]</a:t>
            </a:r>
          </a:p>
        </p:txBody>
      </p:sp>
      <p:sp>
        <p:nvSpPr>
          <p:cNvPr id="1048583" name="Slide Number Placeholder 3"/>
          <p:cNvSpPr>
            <a:spLocks noGrp="1"/>
          </p:cNvSpPr>
          <p:nvPr>
            <p:ph type="sldNum" sz="quarter" idx="10"/>
          </p:nvPr>
        </p:nvSpPr>
        <p:spPr/>
        <p:txBody>
          <a:bodyPr/>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1048589" name="Slide Image Placeholder 1"/>
          <p:cNvSpPr>
            <a:spLocks noChangeAspect="1" noRot="1" noGrp="1"/>
          </p:cNvSpPr>
          <p:nvPr>
            <p:ph type="sldImg"/>
          </p:nvPr>
        </p:nvSpPr>
        <p:spPr/>
      </p:sp>
      <p:sp>
        <p:nvSpPr>
          <p:cNvPr id="1048590" name="Notes Placeholder 2"/>
          <p:cNvSpPr>
            <a:spLocks noGrp="1"/>
          </p:cNvSpPr>
          <p:nvPr>
            <p:ph type="body" idx="1"/>
          </p:nvPr>
        </p:nvSpPr>
        <p:spPr/>
        <p:txBody>
          <a:bodyPr/>
          <a:p>
            <a:r>
              <a:rPr dirty="0" lang="en-US"/>
              <a:t>[Sources]
- Q1–Q3 numbers: user-provided run output in chat.
- CDF figure: user-generated (2_cdf_ofvs.png).
[/Sources]</a:t>
            </a:r>
          </a:p>
        </p:txBody>
      </p:sp>
      <p:sp>
        <p:nvSpPr>
          <p:cNvPr id="1048591" name="Slide Number Placeholder 3"/>
          <p:cNvSpPr>
            <a:spLocks noGrp="1"/>
          </p:cNvSpPr>
          <p:nvPr>
            <p:ph type="sldNum" sz="quarter" idx="10"/>
          </p:nvPr>
        </p:nvSpPr>
        <p:spPr/>
        <p:txBody>
          <a:bodyPr/>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30" name=""/>
        <p:cNvGrpSpPr/>
        <p:nvPr/>
      </p:nvGrpSpPr>
      <p:grpSpPr>
        <a:xfrm>
          <a:off x="0" y="0"/>
          <a:ext cx="0" cy="0"/>
          <a:chOff x="0" y="0"/>
          <a:chExt cx="0" cy="0"/>
        </a:xfrm>
      </p:grpSpPr>
      <p:sp>
        <p:nvSpPr>
          <p:cNvPr id="1048615" name="Slide Image Placeholder 1"/>
          <p:cNvSpPr>
            <a:spLocks noChangeAspect="1" noRot="1" noGrp="1"/>
          </p:cNvSpPr>
          <p:nvPr>
            <p:ph type="sldImg"/>
          </p:nvPr>
        </p:nvSpPr>
        <p:spPr/>
      </p:sp>
      <p:sp>
        <p:nvSpPr>
          <p:cNvPr id="1048616" name="Notes Placeholder 2"/>
          <p:cNvSpPr>
            <a:spLocks noGrp="1"/>
          </p:cNvSpPr>
          <p:nvPr>
            <p:ph type="body" idx="1"/>
          </p:nvPr>
        </p:nvSpPr>
        <p:spPr/>
        <p:txBody>
          <a:bodyPr/>
          <a:p>
            <a:r>
              <a:rPr dirty="0" lang="en-US"/>
              <a:t>[Sources]
- Q1–Q3 numbers: user-provided run output in chat.
- CDF figure: user-generated (2_cdf_ofvs.png).
[/Sources]</a:t>
            </a:r>
          </a:p>
        </p:txBody>
      </p:sp>
      <p:sp>
        <p:nvSpPr>
          <p:cNvPr id="1048617" name="Slide Number Placeholder 3"/>
          <p:cNvSpPr>
            <a:spLocks noGrp="1"/>
          </p:cNvSpPr>
          <p:nvPr>
            <p:ph type="sldNum" sz="quarter" idx="10"/>
          </p:nvPr>
        </p:nvSpPr>
        <p:spPr/>
        <p:txBody>
          <a:bodyPr/>
          <a:p>
            <a:fld id="{F7021451-1387-4CA6-816F-3879F97B5CBC}" type="slidenum">
              <a:rPr lang="en-US"/>
              <a:t>13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8"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6" name=""/>
        <p:cNvGrpSpPr/>
        <p:nvPr/>
      </p:nvGrpSpPr>
      <p:grpSpPr>
        <a:xfrm>
          <a:off x="0" y="0"/>
          <a:ext cx="0" cy="0"/>
          <a:chOff x="0" y="0"/>
          <a:chExt cx="0" cy="0"/>
        </a:xfrm>
      </p:grpSpPr>
    </p:spTree>
  </p:cSld>
  <p:clrMap accent1="accent1" accent2="accent2" accent3="accent3" accent4="accent4" accent5="accent5" accent6="accent6" bg1="lt1" bg2="lt2" tx1="dk1" tx2="dk2" hlink="hlink" folHlink="folHlink"/>
  <p:sldLayoutIdLst>
    <p:sldLayoutId id="2147483651" r:id="rId1"/>
  </p:sldLayoutIdLst>
  <p:hf dt="0" ftr="0" hdr="0" sldNum="0"/>
  <p:txStyles>
    <p:titleStyle>
      <a:lvl1pPr algn="ctr" defTabSz="914400" eaLnBrk="1" hangingPunct="1" latinLnBrk="0" rtl="0">
        <a:spcBef>
          <a:spcPct val="0"/>
        </a:spcBef>
        <a:buNone/>
        <a:defRPr sz="4400" kern="1200">
          <a:solidFill>
            <a:schemeClr val="tx1"/>
          </a:solidFill>
          <a:latin typeface="+mj-lt"/>
          <a:ea typeface="+mj-ea"/>
          <a:cs typeface="+mj-cs"/>
        </a:defRPr>
      </a:lvl1pPr>
    </p:titleStyle>
    <p:bodyStyle>
      <a:lvl1pPr algn="l" defTabSz="914400" eaLnBrk="1" hangingPunct="1" indent="-342900" latinLnBrk="0" marL="342900" rtl="0">
        <a:spcBef>
          <a:spcPct val="20000"/>
        </a:spcBef>
        <a:buFont typeface="Arial" pitchFamily="34" charset="0"/>
        <a:buChar char="•"/>
        <a:defRPr sz="3200" kern="1200">
          <a:solidFill>
            <a:schemeClr val="tx1"/>
          </a:solidFill>
          <a:latin typeface="+mn-lt"/>
          <a:ea typeface="+mn-ea"/>
          <a:cs typeface="+mn-cs"/>
        </a:defRPr>
      </a:lvl1pPr>
      <a:lvl2pPr algn="l" defTabSz="914400" eaLnBrk="1" hangingPunct="1" indent="-285750" latinLnBrk="0" marL="742950" rtl="0">
        <a:spcBef>
          <a:spcPct val="20000"/>
        </a:spcBef>
        <a:buFont typeface="Arial" pitchFamily="34" charset="0"/>
        <a:buChar char="–"/>
        <a:defRPr sz="2800" kern="1200">
          <a:solidFill>
            <a:schemeClr val="tx1"/>
          </a:solidFill>
          <a:latin typeface="+mn-lt"/>
          <a:ea typeface="+mn-ea"/>
          <a:cs typeface="+mn-cs"/>
        </a:defRPr>
      </a:lvl2pPr>
      <a:lvl3pPr algn="l" defTabSz="914400" eaLnBrk="1" hangingPunct="1" indent="-228600" latinLnBrk="0" marL="1143000" rtl="0">
        <a:spcBef>
          <a:spcPct val="20000"/>
        </a:spcBef>
        <a:buFont typeface="Arial" pitchFamily="34" charset="0"/>
        <a:buChar char="•"/>
        <a:defRPr sz="2400" kern="1200">
          <a:solidFill>
            <a:schemeClr val="tx1"/>
          </a:solidFill>
          <a:latin typeface="+mn-lt"/>
          <a:ea typeface="+mn-ea"/>
          <a:cs typeface="+mn-cs"/>
        </a:defRPr>
      </a:lvl3pPr>
      <a:lvl4pPr algn="l" defTabSz="914400" eaLnBrk="1" hangingPunct="1" indent="-228600" latinLnBrk="0" marL="1600200" rtl="0">
        <a:spcBef>
          <a:spcPct val="20000"/>
        </a:spcBef>
        <a:buFont typeface="Arial" pitchFamily="34" charset="0"/>
        <a:buChar char="–"/>
        <a:defRPr sz="2000" kern="1200">
          <a:solidFill>
            <a:schemeClr val="tx1"/>
          </a:solidFill>
          <a:latin typeface="+mn-lt"/>
          <a:ea typeface="+mn-ea"/>
          <a:cs typeface="+mn-cs"/>
        </a:defRPr>
      </a:lvl4pPr>
      <a:lvl5pPr algn="l" defTabSz="914400" eaLnBrk="1" hangingPunct="1" indent="-228600" latinLnBrk="0" marL="2057400" rtl="0">
        <a:spcBef>
          <a:spcPct val="20000"/>
        </a:spcBef>
        <a:buFont typeface="Arial" pitchFamily="34" charset="0"/>
        <a:buChar char="»"/>
        <a:defRPr sz="2000" kern="1200">
          <a:solidFill>
            <a:schemeClr val="tx1"/>
          </a:solidFill>
          <a:latin typeface="+mn-lt"/>
          <a:ea typeface="+mn-ea"/>
          <a:cs typeface="+mn-cs"/>
        </a:defRPr>
      </a:lvl5pPr>
      <a:lvl6pPr algn="l" defTabSz="914400" eaLnBrk="1" hangingPunct="1" indent="-228600" latinLnBrk="0" marL="2514600" rtl="0">
        <a:spcBef>
          <a:spcPct val="20000"/>
        </a:spcBef>
        <a:buFont typeface="Arial"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8.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image" Target="../media/image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slideLayout" Target="../slideLayouts/slideLayout1.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38" name=""/>
        <p:cNvGrpSpPr/>
        <p:nvPr/>
      </p:nvGrpSpPr>
      <p:grpSpPr>
        <a:xfrm>
          <a:off x="0" y="0"/>
          <a:ext cx="0" cy="0"/>
          <a:chOff x="0" y="0"/>
          <a:chExt cx="0" cy="0"/>
        </a:xfrm>
      </p:grpSpPr>
      <p:sp>
        <p:nvSpPr>
          <p:cNvPr id="1048640" name="Shape 0"/>
          <p:cNvSpPr/>
          <p:nvPr/>
        </p:nvSpPr>
        <p:spPr>
          <a:xfrm>
            <a:off x="0" y="0"/>
            <a:ext cx="12191695" cy="6858000"/>
          </a:xfrm>
          <a:prstGeom prst="rect"/>
          <a:solidFill>
            <a:srgbClr val="FFFFFF"/>
          </a:solidFill>
          <a:ln w="12700">
            <a:solidFill>
              <a:srgbClr val="FFFFFF"/>
            </a:solidFill>
            <a:prstDash val="solid"/>
          </a:ln>
        </p:spPr>
        <p:txBody>
          <a:bodyPr/>
          <a:p>
            <a:endParaRPr lang="en-DE"/>
          </a:p>
        </p:txBody>
      </p:sp>
      <p:sp>
        <p:nvSpPr>
          <p:cNvPr id="1048641" name="Shape 1"/>
          <p:cNvSpPr/>
          <p:nvPr/>
        </p:nvSpPr>
        <p:spPr>
          <a:xfrm>
            <a:off x="305" y="0"/>
            <a:ext cx="12191695" cy="6858000"/>
          </a:xfrm>
          <a:prstGeom prst="rect"/>
          <a:solidFill>
            <a:srgbClr val="0B3D91"/>
          </a:solidFill>
          <a:ln w="12700">
            <a:solidFill>
              <a:srgbClr val="0B3D91"/>
            </a:solidFill>
            <a:prstDash val="solid"/>
          </a:ln>
        </p:spPr>
        <p:txBody>
          <a:bodyPr/>
          <a:p>
            <a:endParaRPr lang="en-DE"/>
          </a:p>
        </p:txBody>
      </p:sp>
      <p:sp>
        <p:nvSpPr>
          <p:cNvPr id="1048642" name="Text 2"/>
          <p:cNvSpPr/>
          <p:nvPr/>
        </p:nvSpPr>
        <p:spPr>
          <a:xfrm>
            <a:off x="731520" y="594360"/>
            <a:ext cx="10728655" cy="640080"/>
          </a:xfrm>
          <a:prstGeom prst="rect"/>
          <a:noFill/>
        </p:spPr>
        <p:txBody>
          <a:bodyPr anchor="ctr" rtlCol="0" wrap="square"/>
          <a:p>
            <a:pPr indent="0" marL="0">
              <a:buNone/>
            </a:pPr>
            <a:r>
              <a:rPr b="1" dirty="0" sz="3400" lang="en-US">
                <a:solidFill>
                  <a:srgbClr val="FFFFFF"/>
                </a:solidFill>
                <a:latin typeface="Calibri" pitchFamily="34" charset="0"/>
                <a:ea typeface="Calibri" pitchFamily="34" charset="-122"/>
                <a:cs typeface="Calibri" pitchFamily="34" charset="-120"/>
              </a:rPr>
              <a:t>HBV Input Uncertainty: Assignment 4</a:t>
            </a:r>
            <a:endParaRPr dirty="0" sz="3400" lang="en-US"/>
          </a:p>
        </p:txBody>
      </p:sp>
      <p:sp>
        <p:nvSpPr>
          <p:cNvPr id="1048643" name="Text 3"/>
          <p:cNvSpPr/>
          <p:nvPr/>
        </p:nvSpPr>
        <p:spPr>
          <a:xfrm>
            <a:off x="731520" y="1989159"/>
            <a:ext cx="10728655" cy="320040"/>
          </a:xfrm>
          <a:prstGeom prst="rect"/>
          <a:noFill/>
        </p:spPr>
        <p:txBody>
          <a:bodyPr anchor="ctr" rtlCol="0" wrap="square"/>
          <a:p>
            <a:pPr indent="0" marL="0">
              <a:buNone/>
            </a:pPr>
            <a:r>
              <a:rPr dirty="0" sz="1800" lang="en-US">
                <a:solidFill>
                  <a:srgbClr val="E5E7EB"/>
                </a:solidFill>
                <a:latin typeface="Calibri" pitchFamily="34" charset="0"/>
                <a:ea typeface="Calibri" pitchFamily="34" charset="-122"/>
                <a:cs typeface="Calibri" pitchFamily="34" charset="-120"/>
              </a:rPr>
              <a:t>Impact of precipitation uncertainty and recalibration</a:t>
            </a:r>
          </a:p>
          <a:p>
            <a:pPr indent="0" marL="0">
              <a:buNone/>
            </a:pPr>
            <a:endParaRPr dirty="0" lang="en-US">
              <a:solidFill>
                <a:srgbClr val="E5E7EB"/>
              </a:solidFill>
              <a:latin typeface="Calibri" pitchFamily="34" charset="0"/>
              <a:ea typeface="Calibri" pitchFamily="34" charset="-122"/>
              <a:cs typeface="Calibri" pitchFamily="34" charset="-120"/>
            </a:endParaRPr>
          </a:p>
          <a:p>
            <a:pPr indent="0" marL="0">
              <a:buNone/>
            </a:pPr>
            <a:r>
              <a:rPr dirty="0" sz="1800" lang="en-US">
                <a:solidFill>
                  <a:srgbClr val="E5E7EB"/>
                </a:solidFill>
                <a:latin typeface="Calibri" pitchFamily="34" charset="0"/>
                <a:ea typeface="Calibri" pitchFamily="34" charset="-122"/>
                <a:cs typeface="Calibri" pitchFamily="34" charset="-120"/>
              </a:rPr>
              <a:t>Group A: Adrien, Nafisa, Vincent</a:t>
            </a:r>
          </a:p>
          <a:p>
            <a:pPr indent="0" marL="0">
              <a:buNone/>
            </a:pPr>
            <a:endParaRPr dirty="0" sz="1800" lang="en-US"/>
          </a:p>
        </p:txBody>
      </p:sp>
      <p:sp>
        <p:nvSpPr>
          <p:cNvPr id="1048644" name="Shape 7"/>
          <p:cNvSpPr/>
          <p:nvPr/>
        </p:nvSpPr>
        <p:spPr>
          <a:xfrm>
            <a:off x="0" y="6583680"/>
            <a:ext cx="12191695" cy="274320"/>
          </a:xfrm>
          <a:prstGeom prst="rect"/>
          <a:solidFill>
            <a:srgbClr val="F3F4F6"/>
          </a:solidFill>
          <a:ln w="12700">
            <a:solidFill>
              <a:srgbClr val="F3F4F6"/>
            </a:solidFill>
            <a:prstDash val="solid"/>
          </a:ln>
        </p:spPr>
        <p:txBody>
          <a:bodyPr/>
          <a:p>
            <a:endParaRPr lang="en-DE"/>
          </a:p>
        </p:txBody>
      </p:sp>
      <p:sp>
        <p:nvSpPr>
          <p:cNvPr id="1048645" name="Text 8"/>
          <p:cNvSpPr/>
          <p:nvPr/>
        </p:nvSpPr>
        <p:spPr>
          <a:xfrm>
            <a:off x="548640" y="6638544"/>
            <a:ext cx="11094415" cy="182880"/>
          </a:xfrm>
          <a:prstGeom prst="rect"/>
          <a:noFill/>
        </p:spPr>
        <p:txBody>
          <a:bodyPr anchor="ctr" rtlCol="0" wrap="square"/>
          <a:p>
            <a:pPr algn="r" indent="0" marL="0">
              <a:buNone/>
            </a:pPr>
            <a:r>
              <a:rPr dirty="0" sz="1100" lang="en-US">
                <a:solidFill>
                  <a:srgbClr val="6B7280"/>
                </a:solidFill>
                <a:latin typeface="Calibri" pitchFamily="34" charset="0"/>
                <a:ea typeface="Calibri" pitchFamily="34" charset="-122"/>
                <a:cs typeface="Calibri" pitchFamily="34" charset="-120"/>
              </a:rPr>
              <a:t>MMUQ – Assignment 4 summary</a:t>
            </a:r>
            <a:endParaRPr dirty="0" sz="1100"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41" name=""/>
        <p:cNvGrpSpPr/>
        <p:nvPr/>
      </p:nvGrpSpPr>
      <p:grpSpPr>
        <a:xfrm>
          <a:off x="0" y="0"/>
          <a:ext cx="0" cy="0"/>
          <a:chOff x="0" y="0"/>
          <a:chExt cx="0" cy="0"/>
        </a:xfrm>
      </p:grpSpPr>
      <p:sp>
        <p:nvSpPr>
          <p:cNvPr id="1048649" name="Shape 0"/>
          <p:cNvSpPr/>
          <p:nvPr/>
        </p:nvSpPr>
        <p:spPr>
          <a:xfrm>
            <a:off x="0" y="-1"/>
            <a:ext cx="12191695" cy="806779"/>
          </a:xfrm>
          <a:prstGeom prst="rect"/>
          <a:solidFill>
            <a:srgbClr val="0B3D91"/>
          </a:solidFill>
          <a:ln w="12700">
            <a:solidFill>
              <a:srgbClr val="0B3D91"/>
            </a:solidFill>
            <a:prstDash val="solid"/>
          </a:ln>
        </p:spPr>
        <p:txBody>
          <a:bodyPr/>
          <a:p>
            <a:endParaRPr lang="en-DE"/>
          </a:p>
        </p:txBody>
      </p:sp>
      <p:sp>
        <p:nvSpPr>
          <p:cNvPr id="1048650" name="Text 1"/>
          <p:cNvSpPr/>
          <p:nvPr/>
        </p:nvSpPr>
        <p:spPr>
          <a:xfrm>
            <a:off x="548640" y="128016"/>
            <a:ext cx="11094415" cy="329184"/>
          </a:xfrm>
          <a:prstGeom prst="rect"/>
          <a:noFill/>
        </p:spPr>
        <p:txBody>
          <a:bodyPr anchor="ctr" rtlCol="0" wrap="square"/>
          <a:p>
            <a:pPr indent="0" marL="0">
              <a:buNone/>
            </a:pPr>
            <a:r>
              <a:rPr b="1" dirty="0" sz="2600" lang="en-US">
                <a:solidFill>
                  <a:srgbClr val="FFFFFF"/>
                </a:solidFill>
                <a:latin typeface="Calibri" pitchFamily="34" charset="0"/>
                <a:ea typeface="Calibri" pitchFamily="34" charset="-122"/>
                <a:cs typeface="Calibri" pitchFamily="34" charset="-120"/>
              </a:rPr>
              <a:t>What is being compared?</a:t>
            </a:r>
            <a:endParaRPr dirty="0" sz="2600" lang="en-US"/>
          </a:p>
        </p:txBody>
      </p:sp>
      <p:sp>
        <p:nvSpPr>
          <p:cNvPr id="1048651" name="Text 2"/>
          <p:cNvSpPr/>
          <p:nvPr/>
        </p:nvSpPr>
        <p:spPr>
          <a:xfrm>
            <a:off x="548639" y="484633"/>
            <a:ext cx="11094415" cy="201168"/>
          </a:xfrm>
          <a:prstGeom prst="rect"/>
          <a:noFill/>
        </p:spPr>
        <p:txBody>
          <a:bodyPr anchor="ctr" rtlCol="0" wrap="square"/>
          <a:p>
            <a:pPr indent="0" marL="0">
              <a:buNone/>
            </a:pPr>
            <a:r>
              <a:rPr dirty="0" sz="1400" lang="en-US">
                <a:solidFill>
                  <a:srgbClr val="E5E7EB"/>
                </a:solidFill>
                <a:latin typeface="Calibri" pitchFamily="34" charset="0"/>
                <a:ea typeface="Calibri" pitchFamily="34" charset="-122"/>
                <a:cs typeface="Calibri" pitchFamily="34" charset="-120"/>
              </a:rPr>
              <a:t>Fixed input calibration (A1) vs precipitation-uncertainty experiment (A4)</a:t>
            </a:r>
            <a:endParaRPr dirty="0" sz="1400" lang="en-US"/>
          </a:p>
        </p:txBody>
      </p:sp>
      <p:sp>
        <p:nvSpPr>
          <p:cNvPr id="1048652" name="Shape 3"/>
          <p:cNvSpPr/>
          <p:nvPr/>
        </p:nvSpPr>
        <p:spPr>
          <a:xfrm>
            <a:off x="640080" y="1097280"/>
            <a:ext cx="5577840" cy="5257800"/>
          </a:xfrm>
          <a:prstGeom prst="roundRect"/>
          <a:solidFill>
            <a:srgbClr val="FFFFFF"/>
          </a:solidFill>
          <a:ln w="12700">
            <a:solidFill>
              <a:srgbClr val="D1D5DB"/>
            </a:solidFill>
            <a:prstDash val="solid"/>
          </a:ln>
          <a:effectLst>
            <a:outerShdw algn="bl" blurRad="31750" dir="2700000" dist="15240" rotWithShape="0">
              <a:srgbClr val="000000">
                <a:alpha val="12000"/>
              </a:srgbClr>
            </a:outerShdw>
          </a:effectLst>
        </p:spPr>
        <p:txBody>
          <a:bodyPr/>
          <a:p>
            <a:endParaRPr lang="en-DE"/>
          </a:p>
        </p:txBody>
      </p:sp>
      <p:sp>
        <p:nvSpPr>
          <p:cNvPr id="1048653" name="Text 4"/>
          <p:cNvSpPr/>
          <p:nvPr/>
        </p:nvSpPr>
        <p:spPr>
          <a:xfrm>
            <a:off x="914400" y="1234440"/>
            <a:ext cx="5029200" cy="274320"/>
          </a:xfrm>
          <a:prstGeom prst="rect"/>
          <a:noFill/>
        </p:spPr>
        <p:txBody>
          <a:bodyPr anchor="ctr" rtlCol="0" wrap="square"/>
          <a:p>
            <a:pPr indent="0" marL="0">
              <a:buNone/>
            </a:pPr>
            <a:r>
              <a:rPr b="1" dirty="0" sz="1800" lang="en-US">
                <a:solidFill>
                  <a:srgbClr val="163E6E"/>
                </a:solidFill>
                <a:latin typeface="Calibri" pitchFamily="34" charset="0"/>
                <a:ea typeface="Calibri" pitchFamily="34" charset="-122"/>
                <a:cs typeface="Calibri" pitchFamily="34" charset="-120"/>
              </a:rPr>
              <a:t>Recall: Assignment 1 </a:t>
            </a:r>
            <a:endParaRPr dirty="0" sz="1800" lang="en-US"/>
          </a:p>
        </p:txBody>
      </p:sp>
      <p:sp>
        <p:nvSpPr>
          <p:cNvPr id="1048654" name="Text 5"/>
          <p:cNvSpPr/>
          <p:nvPr/>
        </p:nvSpPr>
        <p:spPr>
          <a:xfrm>
            <a:off x="914400" y="1600200"/>
            <a:ext cx="5120640" cy="822960"/>
          </a:xfrm>
          <a:prstGeom prst="rect"/>
          <a:noFill/>
        </p:spPr>
        <p:txBody>
          <a:bodyPr anchor="ctr" rtlCol="0" wrap="square"/>
          <a:p>
            <a:pPr indent="-228600" marL="228600">
              <a:buSzPct val="100000"/>
              <a:buChar char="•"/>
            </a:pPr>
            <a:r>
              <a:rPr dirty="0" sz="1400" lang="en-US">
                <a:solidFill>
                  <a:srgbClr val="1F2937"/>
                </a:solidFill>
                <a:latin typeface="Calibri" pitchFamily="34" charset="0"/>
                <a:ea typeface="Calibri" pitchFamily="34" charset="-122"/>
                <a:cs typeface="Calibri" pitchFamily="34" charset="-120"/>
              </a:rPr>
              <a:t>Calibrate HBV on reference forcing using DE</a:t>
            </a:r>
            <a:endParaRPr dirty="0" sz="1400" lang="en-US"/>
          </a:p>
          <a:p>
            <a:pPr indent="-228600" marL="228600">
              <a:buSzPct val="100000"/>
              <a:buChar char="•"/>
            </a:pPr>
            <a:r>
              <a:rPr dirty="0" sz="1400" lang="en-US">
                <a:solidFill>
                  <a:srgbClr val="1F2937"/>
                </a:solidFill>
                <a:latin typeface="Calibri" pitchFamily="34" charset="0"/>
                <a:ea typeface="Calibri" pitchFamily="34" charset="-122"/>
                <a:cs typeface="Calibri" pitchFamily="34" charset="-120"/>
              </a:rPr>
              <a:t>Produce “best” parameter set (BEST_PARAMS)</a:t>
            </a:r>
            <a:endParaRPr dirty="0" sz="1400" lang="en-US"/>
          </a:p>
          <a:p>
            <a:pPr indent="-228600" marL="228600">
              <a:buSzPct val="100000"/>
              <a:buChar char="•"/>
            </a:pPr>
            <a:r>
              <a:rPr dirty="0" sz="1400" lang="en-US">
                <a:solidFill>
                  <a:srgbClr val="1F2937"/>
                </a:solidFill>
                <a:latin typeface="Calibri" pitchFamily="34" charset="0"/>
                <a:ea typeface="Calibri" pitchFamily="34" charset="-122"/>
                <a:cs typeface="Calibri" pitchFamily="34" charset="-120"/>
              </a:rPr>
              <a:t>Report baseline NSE / OFV and hydrograph fit</a:t>
            </a:r>
            <a:endParaRPr dirty="0" sz="1400" lang="en-US"/>
          </a:p>
        </p:txBody>
      </p:sp>
      <p:pic>
        <p:nvPicPr>
          <p:cNvPr id="2097171" name="Image 0" descr="/mnt/data/asg1_slides_png2/slide-05.png"/>
          <p:cNvPicPr>
            <a:picLocks noChangeAspect="1"/>
          </p:cNvPicPr>
          <p:nvPr/>
        </p:nvPicPr>
        <p:blipFill>
          <a:blip xmlns:r="http://schemas.openxmlformats.org/officeDocument/2006/relationships" r:embed="rId1"/>
          <a:stretch>
            <a:fillRect/>
          </a:stretch>
        </p:blipFill>
        <p:spPr>
          <a:xfrm>
            <a:off x="799759" y="2575921"/>
            <a:ext cx="5356871" cy="3014133"/>
          </a:xfrm>
          <a:prstGeom prst="rect"/>
        </p:spPr>
      </p:pic>
      <p:sp>
        <p:nvSpPr>
          <p:cNvPr id="1048655" name="Shape 6"/>
          <p:cNvSpPr/>
          <p:nvPr/>
        </p:nvSpPr>
        <p:spPr>
          <a:xfrm>
            <a:off x="6355080" y="1097280"/>
            <a:ext cx="5193792" cy="5257800"/>
          </a:xfrm>
          <a:prstGeom prst="roundRect"/>
          <a:solidFill>
            <a:srgbClr val="FFFFFF"/>
          </a:solidFill>
          <a:ln w="12700">
            <a:solidFill>
              <a:srgbClr val="D1D5DB"/>
            </a:solidFill>
            <a:prstDash val="solid"/>
          </a:ln>
          <a:effectLst>
            <a:outerShdw algn="bl" blurRad="31750" dir="2700000" dist="15240" rotWithShape="0">
              <a:srgbClr val="000000">
                <a:alpha val="12000"/>
              </a:srgbClr>
            </a:outerShdw>
          </a:effectLst>
        </p:spPr>
        <p:txBody>
          <a:bodyPr/>
          <a:p>
            <a:endParaRPr lang="en-DE"/>
          </a:p>
        </p:txBody>
      </p:sp>
      <p:sp>
        <p:nvSpPr>
          <p:cNvPr id="1048656" name="Text 7"/>
          <p:cNvSpPr/>
          <p:nvPr/>
        </p:nvSpPr>
        <p:spPr>
          <a:xfrm>
            <a:off x="6629400" y="1234440"/>
            <a:ext cx="4754880" cy="274320"/>
          </a:xfrm>
          <a:prstGeom prst="rect"/>
          <a:noFill/>
        </p:spPr>
        <p:txBody>
          <a:bodyPr anchor="ctr" rtlCol="0" wrap="square"/>
          <a:p>
            <a:pPr indent="0" marL="0">
              <a:buNone/>
            </a:pPr>
            <a:r>
              <a:rPr b="1" dirty="0" sz="1800" lang="en-US">
                <a:solidFill>
                  <a:srgbClr val="163E6E"/>
                </a:solidFill>
                <a:latin typeface="Calibri" pitchFamily="34" charset="0"/>
                <a:ea typeface="Calibri" pitchFamily="34" charset="-122"/>
                <a:cs typeface="Calibri" pitchFamily="34" charset="-120"/>
              </a:rPr>
              <a:t>Assignment 4 (Uncertainty)</a:t>
            </a:r>
            <a:endParaRPr dirty="0" sz="1800" lang="en-US"/>
          </a:p>
        </p:txBody>
      </p:sp>
      <p:sp>
        <p:nvSpPr>
          <p:cNvPr id="1048657" name="Text 8"/>
          <p:cNvSpPr/>
          <p:nvPr/>
        </p:nvSpPr>
        <p:spPr>
          <a:xfrm>
            <a:off x="6629400" y="1600200"/>
            <a:ext cx="4919472" cy="1930400"/>
          </a:xfrm>
          <a:prstGeom prst="rect"/>
          <a:noFill/>
        </p:spPr>
        <p:txBody>
          <a:bodyPr anchor="ctr" rtlCol="0" wrap="square"/>
          <a:p>
            <a:pPr>
              <a:buSzPct val="100000"/>
            </a:pPr>
            <a:r>
              <a:rPr dirty="0" sz="1400" lang="en-US">
                <a:solidFill>
                  <a:srgbClr val="1F2937"/>
                </a:solidFill>
                <a:latin typeface="Calibri" pitchFamily="34" charset="0"/>
                <a:ea typeface="Calibri" pitchFamily="34" charset="-122"/>
                <a:cs typeface="Calibri" pitchFamily="34" charset="-120"/>
              </a:rPr>
              <a:t>• Perturb precipitation:  P* = P × C</a:t>
            </a:r>
            <a:endParaRPr dirty="0" sz="1400" lang="en-US"/>
          </a:p>
          <a:p>
            <a:pPr>
              <a:buSzPct val="100000"/>
            </a:pPr>
            <a:r>
              <a:rPr dirty="0" sz="1400" lang="en-US">
                <a:solidFill>
                  <a:srgbClr val="1F2937"/>
                </a:solidFill>
                <a:latin typeface="Calibri" pitchFamily="34" charset="0"/>
                <a:ea typeface="Calibri" pitchFamily="34" charset="-122"/>
                <a:cs typeface="Calibri" pitchFamily="34" charset="-120"/>
              </a:rPr>
              <a:t>• C ~ N(1, 0.05) </a:t>
            </a:r>
          </a:p>
          <a:p>
            <a:pPr>
              <a:buSzPct val="100000"/>
            </a:pPr>
            <a:r>
              <a:rPr dirty="0" sz="1400" lang="en-US">
                <a:solidFill>
                  <a:srgbClr val="1F2937"/>
                </a:solidFill>
                <a:latin typeface="Calibri" pitchFamily="34" charset="0"/>
                <a:ea typeface="Calibri" pitchFamily="34" charset="-122"/>
                <a:cs typeface="Calibri" pitchFamily="34" charset="-120"/>
              </a:rPr>
              <a:t>• Scenario A: </a:t>
            </a:r>
          </a:p>
          <a:p>
            <a:pPr>
              <a:buSzPct val="100000"/>
            </a:pPr>
            <a:r>
              <a:rPr dirty="0" sz="1400" lang="en-US">
                <a:solidFill>
                  <a:srgbClr val="1F2937"/>
                </a:solidFill>
                <a:latin typeface="Calibri" pitchFamily="34" charset="0"/>
                <a:ea typeface="Calibri" pitchFamily="34" charset="-122"/>
                <a:cs typeface="Calibri" pitchFamily="34" charset="-120"/>
              </a:rPr>
              <a:t>  Perturbed precipitation series + parameters from assignment 1</a:t>
            </a:r>
            <a:endParaRPr dirty="0" sz="1400" lang="en-US"/>
          </a:p>
          <a:p>
            <a:pPr>
              <a:buSzPct val="100000"/>
            </a:pPr>
            <a:r>
              <a:rPr dirty="0" sz="1400" lang="en-US">
                <a:solidFill>
                  <a:srgbClr val="1F2937"/>
                </a:solidFill>
                <a:latin typeface="Calibri" pitchFamily="34" charset="0"/>
                <a:ea typeface="Calibri" pitchFamily="34" charset="-122"/>
                <a:cs typeface="Calibri" pitchFamily="34" charset="-120"/>
              </a:rPr>
              <a:t>• Scenario B: </a:t>
            </a:r>
          </a:p>
          <a:p>
            <a:pPr>
              <a:buSzPct val="100000"/>
            </a:pPr>
            <a:r>
              <a:rPr dirty="0" sz="1400" lang="en-US">
                <a:solidFill>
                  <a:srgbClr val="1F2937"/>
                </a:solidFill>
                <a:latin typeface="Calibri" pitchFamily="34" charset="0"/>
                <a:ea typeface="Calibri" pitchFamily="34" charset="-122"/>
                <a:cs typeface="Calibri" pitchFamily="34" charset="-120"/>
              </a:rPr>
              <a:t>  Perturbed precipitation series + parameters from recalibration</a:t>
            </a:r>
            <a:endParaRPr dirty="0" sz="1400" lang="en-US"/>
          </a:p>
          <a:p>
            <a:pPr>
              <a:buSzPct val="100000"/>
            </a:pPr>
            <a:r>
              <a:rPr dirty="0" sz="1400" lang="en-US">
                <a:solidFill>
                  <a:srgbClr val="1F2937"/>
                </a:solidFill>
                <a:latin typeface="Calibri" pitchFamily="34" charset="0"/>
                <a:ea typeface="Calibri" pitchFamily="34" charset="-122"/>
                <a:cs typeface="Calibri" pitchFamily="34" charset="-120"/>
              </a:rPr>
              <a:t>• Compare OFV/NSE + parameter distributions</a:t>
            </a:r>
          </a:p>
          <a:p>
            <a:pPr>
              <a:buSzPct val="100000"/>
            </a:pPr>
            <a:endParaRPr dirty="0" sz="1400" lang="en-US"/>
          </a:p>
        </p:txBody>
      </p:sp>
      <p:sp>
        <p:nvSpPr>
          <p:cNvPr id="1048658" name="Textfeld 12"/>
          <p:cNvSpPr txBox="1"/>
          <p:nvPr/>
        </p:nvSpPr>
        <p:spPr>
          <a:xfrm>
            <a:off x="11836095" y="6485467"/>
            <a:ext cx="355600" cy="369332"/>
          </a:xfrm>
          <a:prstGeom prst="rect"/>
          <a:noFill/>
        </p:spPr>
        <p:txBody>
          <a:bodyPr rtlCol="0" wrap="square">
            <a:spAutoFit/>
          </a:bodyPr>
          <a:p>
            <a:r>
              <a:rPr dirty="0" lang="de-DE"/>
              <a:t>2</a:t>
            </a:r>
          </a:p>
        </p:txBody>
      </p:sp>
      <p:pic>
        <p:nvPicPr>
          <p:cNvPr id="2097172" name="Grafik 14"/>
          <p:cNvPicPr>
            <a:picLocks noChangeAspect="1"/>
          </p:cNvPicPr>
          <p:nvPr/>
        </p:nvPicPr>
        <p:blipFill>
          <a:blip xmlns:r="http://schemas.openxmlformats.org/officeDocument/2006/relationships" r:embed="rId2"/>
          <a:stretch>
            <a:fillRect/>
          </a:stretch>
        </p:blipFill>
        <p:spPr>
          <a:xfrm>
            <a:off x="6993478" y="3234690"/>
            <a:ext cx="3916996" cy="2937747"/>
          </a:xfrm>
          <a:prstGeom prst="rect"/>
        </p:spPr>
      </p:pic>
      <p:pic>
        <p:nvPicPr>
          <p:cNvPr id="2097173" name="Grafik 16" descr="Ein Bild, das Reihe, Diagramm, Screenshot, Schrift enthält.  KI-generierte Inhalte können fehlerhaft sein."/>
          <p:cNvPicPr>
            <a:picLocks noChangeAspect="1"/>
          </p:cNvPicPr>
          <p:nvPr/>
        </p:nvPicPr>
        <p:blipFill>
          <a:blip xmlns:r="http://schemas.openxmlformats.org/officeDocument/2006/relationships" r:embed="rId3"/>
          <a:stretch>
            <a:fillRect/>
          </a:stretch>
        </p:blipFill>
        <p:spPr>
          <a:xfrm>
            <a:off x="844210" y="4997388"/>
            <a:ext cx="5169579" cy="822239"/>
          </a:xfrm>
          <a:prstGeom prst="rec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7">
    <p:spTree>
      <p:nvGrpSpPr>
        <p:cNvPr id="44" name=""/>
        <p:cNvGrpSpPr/>
        <p:nvPr/>
      </p:nvGrpSpPr>
      <p:grpSpPr>
        <a:xfrm>
          <a:off x="0" y="0"/>
          <a:ext cx="0" cy="0"/>
          <a:chOff x="0" y="0"/>
          <a:chExt cx="0" cy="0"/>
        </a:xfrm>
      </p:grpSpPr>
      <p:sp>
        <p:nvSpPr>
          <p:cNvPr id="1048662" name="Shape 0"/>
          <p:cNvSpPr/>
          <p:nvPr/>
        </p:nvSpPr>
        <p:spPr>
          <a:xfrm>
            <a:off x="0" y="-1"/>
            <a:ext cx="12191695" cy="838201"/>
          </a:xfrm>
          <a:prstGeom prst="rect"/>
          <a:solidFill>
            <a:srgbClr val="0B3D91"/>
          </a:solidFill>
          <a:ln w="12700">
            <a:solidFill>
              <a:srgbClr val="0B3D91"/>
            </a:solidFill>
            <a:prstDash val="solid"/>
          </a:ln>
        </p:spPr>
        <p:txBody>
          <a:bodyPr/>
          <a:p>
            <a:endParaRPr lang="en-DE"/>
          </a:p>
        </p:txBody>
      </p:sp>
      <p:sp>
        <p:nvSpPr>
          <p:cNvPr id="1048663" name="Text 1"/>
          <p:cNvSpPr/>
          <p:nvPr/>
        </p:nvSpPr>
        <p:spPr>
          <a:xfrm>
            <a:off x="548640" y="128016"/>
            <a:ext cx="11094415" cy="329184"/>
          </a:xfrm>
          <a:prstGeom prst="rect"/>
          <a:noFill/>
        </p:spPr>
        <p:txBody>
          <a:bodyPr anchor="ctr" rtlCol="0" wrap="square"/>
          <a:p>
            <a:r>
              <a:rPr b="1" dirty="0" sz="2600" lang="en-US">
                <a:solidFill>
                  <a:srgbClr val="FFFFFF"/>
                </a:solidFill>
                <a:latin typeface="Calibri" pitchFamily="34" charset="0"/>
                <a:ea typeface="Calibri" pitchFamily="34" charset="-122"/>
                <a:cs typeface="Calibri" pitchFamily="34" charset="-120"/>
              </a:rPr>
              <a:t>Implementation - Multiprocessing</a:t>
            </a:r>
          </a:p>
        </p:txBody>
      </p:sp>
      <p:sp>
        <p:nvSpPr>
          <p:cNvPr id="1048664" name="Text 2"/>
          <p:cNvSpPr/>
          <p:nvPr/>
        </p:nvSpPr>
        <p:spPr>
          <a:xfrm>
            <a:off x="548640" y="504782"/>
            <a:ext cx="11094415" cy="201168"/>
          </a:xfrm>
          <a:prstGeom prst="rect"/>
          <a:noFill/>
        </p:spPr>
        <p:txBody>
          <a:bodyPr anchor="ctr" rtlCol="0" wrap="square"/>
          <a:p>
            <a:pPr indent="0" marL="0">
              <a:buNone/>
            </a:pPr>
            <a:r>
              <a:rPr dirty="0" sz="1400" lang="en-US">
                <a:solidFill>
                  <a:schemeClr val="bg1"/>
                </a:solidFill>
              </a:rPr>
              <a:t>Setting up multiprocessing</a:t>
            </a:r>
          </a:p>
        </p:txBody>
      </p:sp>
      <p:sp>
        <p:nvSpPr>
          <p:cNvPr id="1048665" name="Text 4"/>
          <p:cNvSpPr/>
          <p:nvPr/>
        </p:nvSpPr>
        <p:spPr>
          <a:xfrm>
            <a:off x="914400" y="1207008"/>
            <a:ext cx="4861408" cy="228600"/>
          </a:xfrm>
          <a:prstGeom prst="rect"/>
          <a:noFill/>
        </p:spPr>
        <p:txBody>
          <a:bodyPr anchor="ctr" rtlCol="0" wrap="square"/>
          <a:p>
            <a:pPr indent="0" marL="0">
              <a:buNone/>
            </a:pPr>
            <a:endParaRPr dirty="0" sz="1200" lang="en-US"/>
          </a:p>
        </p:txBody>
      </p:sp>
      <p:sp>
        <p:nvSpPr>
          <p:cNvPr id="1048666" name="Text 6"/>
          <p:cNvSpPr/>
          <p:nvPr/>
        </p:nvSpPr>
        <p:spPr>
          <a:xfrm>
            <a:off x="6415888" y="1207008"/>
            <a:ext cx="4861408" cy="228600"/>
          </a:xfrm>
          <a:prstGeom prst="rect"/>
          <a:noFill/>
        </p:spPr>
        <p:txBody>
          <a:bodyPr anchor="ctr" rtlCol="0" wrap="square"/>
          <a:p>
            <a:pPr indent="0" marL="0">
              <a:buNone/>
            </a:pPr>
            <a:endParaRPr dirty="0" sz="1200" lang="en-US"/>
          </a:p>
        </p:txBody>
      </p:sp>
      <p:pic>
        <p:nvPicPr>
          <p:cNvPr id="2097174" name="Grafik 12" descr="Ein Bild, das Text, Screenshot, Software enthält.  KI-generierte Inhalte können fehlerhaft sein."/>
          <p:cNvPicPr>
            <a:picLocks noChangeAspect="1"/>
          </p:cNvPicPr>
          <p:nvPr/>
        </p:nvPicPr>
        <p:blipFill>
          <a:blip xmlns:r="http://schemas.openxmlformats.org/officeDocument/2006/relationships" r:embed="rId1"/>
          <a:stretch>
            <a:fillRect/>
          </a:stretch>
        </p:blipFill>
        <p:spPr>
          <a:xfrm>
            <a:off x="548640" y="1021080"/>
            <a:ext cx="4139652" cy="2500421"/>
          </a:xfrm>
          <a:prstGeom prst="rect"/>
        </p:spPr>
      </p:pic>
      <p:pic>
        <p:nvPicPr>
          <p:cNvPr id="2097175" name="Grafik 15" descr="Ein Bild, das Text, Screenshot, Schrift enthält.  KI-generierte Inhalte können fehlerhaft sein."/>
          <p:cNvPicPr>
            <a:picLocks noChangeAspect="1"/>
          </p:cNvPicPr>
          <p:nvPr/>
        </p:nvPicPr>
        <p:blipFill>
          <a:blip xmlns:r="http://schemas.openxmlformats.org/officeDocument/2006/relationships" r:embed="rId2"/>
          <a:stretch>
            <a:fillRect/>
          </a:stretch>
        </p:blipFill>
        <p:spPr>
          <a:xfrm>
            <a:off x="548639" y="3595271"/>
            <a:ext cx="4139652" cy="3008512"/>
          </a:xfrm>
          <a:prstGeom prst="rect"/>
        </p:spPr>
      </p:pic>
      <p:pic>
        <p:nvPicPr>
          <p:cNvPr id="2097176" name="Grafik 17" descr="Ein Bild, das Text, Screenshot, Software enthält.  KI-generierte Inhalte können fehlerhaft sein."/>
          <p:cNvPicPr>
            <a:picLocks noChangeAspect="1"/>
          </p:cNvPicPr>
          <p:nvPr/>
        </p:nvPicPr>
        <p:blipFill>
          <a:blip xmlns:r="http://schemas.openxmlformats.org/officeDocument/2006/relationships" r:embed="rId3"/>
          <a:stretch>
            <a:fillRect/>
          </a:stretch>
        </p:blipFill>
        <p:spPr>
          <a:xfrm>
            <a:off x="5054051" y="1021080"/>
            <a:ext cx="6326927" cy="5582703"/>
          </a:xfrm>
          <a:prstGeom prst="rect"/>
        </p:spPr>
      </p:pic>
      <p:sp>
        <p:nvSpPr>
          <p:cNvPr id="1048667" name="Textfeld 18"/>
          <p:cNvSpPr txBox="1"/>
          <p:nvPr/>
        </p:nvSpPr>
        <p:spPr>
          <a:xfrm>
            <a:off x="11836095" y="6485467"/>
            <a:ext cx="355600" cy="369332"/>
          </a:xfrm>
          <a:prstGeom prst="rect"/>
          <a:noFill/>
        </p:spPr>
        <p:txBody>
          <a:bodyPr rtlCol="0" wrap="square">
            <a:spAutoFit/>
          </a:bodyPr>
          <a:p>
            <a:r>
              <a:rPr dirty="0" lang="de-DE"/>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47" name=""/>
        <p:cNvGrpSpPr/>
        <p:nvPr/>
      </p:nvGrpSpPr>
      <p:grpSpPr>
        <a:xfrm>
          <a:off x="0" y="0"/>
          <a:ext cx="0" cy="0"/>
          <a:chOff x="0" y="0"/>
          <a:chExt cx="0" cy="0"/>
        </a:xfrm>
      </p:grpSpPr>
      <p:sp>
        <p:nvSpPr>
          <p:cNvPr id="1048671" name="Shape 0"/>
          <p:cNvSpPr/>
          <p:nvPr/>
        </p:nvSpPr>
        <p:spPr>
          <a:xfrm>
            <a:off x="0" y="-1"/>
            <a:ext cx="12191695" cy="872068"/>
          </a:xfrm>
          <a:prstGeom prst="rect"/>
          <a:solidFill>
            <a:srgbClr val="0B3D91"/>
          </a:solidFill>
          <a:ln w="12700">
            <a:solidFill>
              <a:srgbClr val="0B3D91"/>
            </a:solidFill>
            <a:prstDash val="solid"/>
          </a:ln>
        </p:spPr>
        <p:txBody>
          <a:bodyPr/>
          <a:p>
            <a:endParaRPr lang="en-DE"/>
          </a:p>
        </p:txBody>
      </p:sp>
      <p:sp>
        <p:nvSpPr>
          <p:cNvPr id="1048672" name="Text 1"/>
          <p:cNvSpPr/>
          <p:nvPr/>
        </p:nvSpPr>
        <p:spPr>
          <a:xfrm>
            <a:off x="548640" y="128016"/>
            <a:ext cx="11094415" cy="329184"/>
          </a:xfrm>
          <a:prstGeom prst="rect"/>
          <a:noFill/>
        </p:spPr>
        <p:txBody>
          <a:bodyPr anchor="ctr" rtlCol="0" wrap="square"/>
          <a:p>
            <a:r>
              <a:rPr b="1" dirty="0" sz="2600" lang="en-US">
                <a:solidFill>
                  <a:srgbClr val="FFFFFF"/>
                </a:solidFill>
                <a:latin typeface="Calibri" pitchFamily="34" charset="0"/>
                <a:ea typeface="Calibri" pitchFamily="34" charset="-122"/>
                <a:cs typeface="Calibri" pitchFamily="34" charset="-120"/>
              </a:rPr>
              <a:t>Implementation – Multiprocessing and Principal Function</a:t>
            </a:r>
          </a:p>
        </p:txBody>
      </p:sp>
      <p:sp>
        <p:nvSpPr>
          <p:cNvPr id="1048673" name="Text 2"/>
          <p:cNvSpPr/>
          <p:nvPr/>
        </p:nvSpPr>
        <p:spPr>
          <a:xfrm>
            <a:off x="548640" y="504782"/>
            <a:ext cx="11094415" cy="201168"/>
          </a:xfrm>
          <a:prstGeom prst="rect"/>
          <a:noFill/>
        </p:spPr>
        <p:txBody>
          <a:bodyPr anchor="ctr" rtlCol="0" wrap="square"/>
          <a:p>
            <a:pPr indent="0" marL="0">
              <a:buNone/>
            </a:pPr>
            <a:r>
              <a:rPr dirty="0" sz="1400" lang="en-US">
                <a:solidFill>
                  <a:schemeClr val="bg1"/>
                </a:solidFill>
              </a:rPr>
              <a:t>Implementing the assignment</a:t>
            </a:r>
          </a:p>
        </p:txBody>
      </p:sp>
      <p:sp>
        <p:nvSpPr>
          <p:cNvPr id="1048674" name="Text 4"/>
          <p:cNvSpPr/>
          <p:nvPr/>
        </p:nvSpPr>
        <p:spPr>
          <a:xfrm>
            <a:off x="914400" y="1207008"/>
            <a:ext cx="4861408" cy="228600"/>
          </a:xfrm>
          <a:prstGeom prst="rect"/>
          <a:noFill/>
        </p:spPr>
        <p:txBody>
          <a:bodyPr anchor="ctr" rtlCol="0" wrap="square"/>
          <a:p>
            <a:pPr indent="0" marL="0">
              <a:buNone/>
            </a:pPr>
            <a:endParaRPr dirty="0" sz="1200" lang="en-US"/>
          </a:p>
        </p:txBody>
      </p:sp>
      <p:sp>
        <p:nvSpPr>
          <p:cNvPr id="1048675" name="Text 6"/>
          <p:cNvSpPr/>
          <p:nvPr/>
        </p:nvSpPr>
        <p:spPr>
          <a:xfrm>
            <a:off x="6415888" y="1207008"/>
            <a:ext cx="4861408" cy="228600"/>
          </a:xfrm>
          <a:prstGeom prst="rect"/>
          <a:noFill/>
        </p:spPr>
        <p:txBody>
          <a:bodyPr anchor="ctr" rtlCol="0" wrap="square"/>
          <a:p>
            <a:pPr indent="0" marL="0">
              <a:buNone/>
            </a:pPr>
            <a:endParaRPr dirty="0" sz="1200" lang="en-US"/>
          </a:p>
        </p:txBody>
      </p:sp>
      <p:sp>
        <p:nvSpPr>
          <p:cNvPr id="1048676" name="Textfeld 4"/>
          <p:cNvSpPr txBox="1"/>
          <p:nvPr/>
        </p:nvSpPr>
        <p:spPr>
          <a:xfrm>
            <a:off x="11836095" y="6485467"/>
            <a:ext cx="355600" cy="369332"/>
          </a:xfrm>
          <a:prstGeom prst="rect"/>
          <a:noFill/>
        </p:spPr>
        <p:txBody>
          <a:bodyPr rtlCol="0" wrap="square">
            <a:spAutoFit/>
          </a:bodyPr>
          <a:p>
            <a:r>
              <a:rPr dirty="0" lang="de-DE"/>
              <a:t>4</a:t>
            </a:r>
          </a:p>
        </p:txBody>
      </p:sp>
      <p:pic>
        <p:nvPicPr>
          <p:cNvPr id="2097177" name="Grafik 7" descr="Ein Bild, das Text, Screenshot enthält.  KI-generierte Inhalte können fehlerhaft sein."/>
          <p:cNvPicPr>
            <a:picLocks noChangeAspect="1"/>
          </p:cNvPicPr>
          <p:nvPr/>
        </p:nvPicPr>
        <p:blipFill>
          <a:blip xmlns:r="http://schemas.openxmlformats.org/officeDocument/2006/relationships" r:embed="rId1"/>
          <a:stretch>
            <a:fillRect/>
          </a:stretch>
        </p:blipFill>
        <p:spPr>
          <a:xfrm>
            <a:off x="2344369" y="1435608"/>
            <a:ext cx="6862877" cy="4459452"/>
          </a:xfrm>
          <a:prstGeom prst="rec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50" name=""/>
        <p:cNvGrpSpPr/>
        <p:nvPr/>
      </p:nvGrpSpPr>
      <p:grpSpPr>
        <a:xfrm>
          <a:off x="0" y="0"/>
          <a:ext cx="0" cy="0"/>
          <a:chOff x="0" y="0"/>
          <a:chExt cx="0" cy="0"/>
        </a:xfrm>
      </p:grpSpPr>
      <p:sp>
        <p:nvSpPr>
          <p:cNvPr id="1048680" name="Shape 0"/>
          <p:cNvSpPr/>
          <p:nvPr/>
        </p:nvSpPr>
        <p:spPr>
          <a:xfrm>
            <a:off x="0" y="0"/>
            <a:ext cx="12191695" cy="658368"/>
          </a:xfrm>
          <a:prstGeom prst="rect"/>
          <a:solidFill>
            <a:srgbClr val="0B3D91"/>
          </a:solidFill>
          <a:ln w="12700">
            <a:solidFill>
              <a:srgbClr val="0B3D91"/>
            </a:solidFill>
            <a:prstDash val="solid"/>
          </a:ln>
        </p:spPr>
        <p:txBody>
          <a:bodyPr/>
          <a:p>
            <a:endParaRPr lang="en-DE"/>
          </a:p>
        </p:txBody>
      </p:sp>
      <p:sp>
        <p:nvSpPr>
          <p:cNvPr id="1048681" name="Text 1"/>
          <p:cNvSpPr/>
          <p:nvPr/>
        </p:nvSpPr>
        <p:spPr>
          <a:xfrm>
            <a:off x="548640" y="128016"/>
            <a:ext cx="11094415" cy="329184"/>
          </a:xfrm>
          <a:prstGeom prst="rect"/>
          <a:noFill/>
        </p:spPr>
        <p:txBody>
          <a:bodyPr anchor="ctr" rtlCol="0" wrap="square"/>
          <a:p>
            <a:pPr indent="0" marL="0">
              <a:buNone/>
            </a:pPr>
            <a:r>
              <a:rPr b="1" dirty="0" sz="2600" lang="en-US">
                <a:solidFill>
                  <a:srgbClr val="FFFFFF"/>
                </a:solidFill>
                <a:latin typeface="Calibri" pitchFamily="34" charset="0"/>
                <a:ea typeface="Calibri" pitchFamily="34" charset="-122"/>
                <a:cs typeface="Calibri" pitchFamily="34" charset="-120"/>
              </a:rPr>
              <a:t>Assignment 4 – Quick Overview</a:t>
            </a:r>
          </a:p>
        </p:txBody>
      </p:sp>
      <p:sp>
        <p:nvSpPr>
          <p:cNvPr id="1048682" name="Text 2"/>
          <p:cNvSpPr/>
          <p:nvPr/>
        </p:nvSpPr>
        <p:spPr>
          <a:xfrm>
            <a:off x="548640" y="402336"/>
            <a:ext cx="11094415" cy="201168"/>
          </a:xfrm>
          <a:prstGeom prst="rect"/>
          <a:noFill/>
        </p:spPr>
        <p:txBody>
          <a:bodyPr anchor="ctr" rtlCol="0" wrap="square"/>
          <a:p>
            <a:pPr indent="0" marL="0">
              <a:buNone/>
            </a:pPr>
            <a:endParaRPr dirty="0" sz="1400" lang="en-US"/>
          </a:p>
        </p:txBody>
      </p:sp>
      <p:sp>
        <p:nvSpPr>
          <p:cNvPr id="1048683" name="Shape 3"/>
          <p:cNvSpPr/>
          <p:nvPr/>
        </p:nvSpPr>
        <p:spPr>
          <a:xfrm>
            <a:off x="822960" y="1188720"/>
            <a:ext cx="3108960" cy="914400"/>
          </a:xfrm>
          <a:prstGeom prst="roundRect"/>
          <a:solidFill>
            <a:srgbClr val="FFFFFF"/>
          </a:solidFill>
          <a:ln w="12700">
            <a:solidFill>
              <a:srgbClr val="CBD5E1"/>
            </a:solidFill>
            <a:prstDash val="solid"/>
          </a:ln>
          <a:effectLst>
            <a:outerShdw algn="bl" blurRad="25400" dir="2700000" dist="12700" rotWithShape="0">
              <a:srgbClr val="000000">
                <a:alpha val="10000"/>
              </a:srgbClr>
            </a:outerShdw>
          </a:effectLst>
        </p:spPr>
        <p:txBody>
          <a:bodyPr/>
          <a:p>
            <a:endParaRPr lang="en-DE"/>
          </a:p>
        </p:txBody>
      </p:sp>
      <p:sp>
        <p:nvSpPr>
          <p:cNvPr id="1048684" name="Text 4"/>
          <p:cNvSpPr/>
          <p:nvPr/>
        </p:nvSpPr>
        <p:spPr>
          <a:xfrm>
            <a:off x="1005840" y="1280160"/>
            <a:ext cx="2743200" cy="256032"/>
          </a:xfrm>
          <a:prstGeom prst="rect"/>
          <a:noFill/>
        </p:spPr>
        <p:txBody>
          <a:bodyPr anchor="ctr" rtlCol="0" wrap="square"/>
          <a:p>
            <a:pPr indent="0" marL="0">
              <a:buNone/>
            </a:pPr>
            <a:r>
              <a:rPr b="1" dirty="0" sz="1400" lang="en-US">
                <a:solidFill>
                  <a:srgbClr val="163E6E"/>
                </a:solidFill>
                <a:latin typeface="Calibri" pitchFamily="34" charset="0"/>
                <a:ea typeface="Calibri" pitchFamily="34" charset="-122"/>
                <a:cs typeface="Calibri" pitchFamily="34" charset="-120"/>
              </a:rPr>
              <a:t>1) Perturb precipitation</a:t>
            </a:r>
            <a:endParaRPr dirty="0" sz="1400" lang="en-US"/>
          </a:p>
        </p:txBody>
      </p:sp>
      <p:sp>
        <p:nvSpPr>
          <p:cNvPr id="1048685" name="Text 5"/>
          <p:cNvSpPr/>
          <p:nvPr/>
        </p:nvSpPr>
        <p:spPr>
          <a:xfrm>
            <a:off x="1005840" y="1554480"/>
            <a:ext cx="2743200" cy="457200"/>
          </a:xfrm>
          <a:prstGeom prst="rect"/>
          <a:noFill/>
        </p:spPr>
        <p:txBody>
          <a:bodyPr anchor="ctr" rtlCol="0" wrap="square"/>
          <a:p>
            <a:pPr indent="0" marL="0">
              <a:buNone/>
            </a:pPr>
            <a:r>
              <a:rPr dirty="0" sz="1200" lang="en-US">
                <a:solidFill>
                  <a:srgbClr val="1F2937"/>
                </a:solidFill>
                <a:latin typeface="Calibri" pitchFamily="34" charset="0"/>
                <a:ea typeface="Calibri" pitchFamily="34" charset="-122"/>
                <a:cs typeface="Calibri" pitchFamily="34" charset="-120"/>
              </a:rPr>
              <a:t>C ~ N(1, σ)</a:t>
            </a:r>
            <a:endParaRPr dirty="0" sz="1200" lang="en-US"/>
          </a:p>
          <a:p>
            <a:pPr indent="0" marL="0">
              <a:buNone/>
            </a:pPr>
            <a:r>
              <a:rPr dirty="0" sz="1200" lang="en-US">
                <a:solidFill>
                  <a:srgbClr val="1F2937"/>
                </a:solidFill>
                <a:latin typeface="Calibri" pitchFamily="34" charset="0"/>
                <a:ea typeface="Calibri" pitchFamily="34" charset="-122"/>
                <a:cs typeface="Calibri" pitchFamily="34" charset="-120"/>
              </a:rPr>
              <a:t>C = max(C, 0.05) to avoid negative/zero</a:t>
            </a:r>
            <a:endParaRPr dirty="0" sz="1200" lang="en-US"/>
          </a:p>
          <a:p>
            <a:pPr indent="0" marL="0">
              <a:buNone/>
            </a:pPr>
            <a:r>
              <a:rPr dirty="0" sz="1200" lang="en-US">
                <a:solidFill>
                  <a:srgbClr val="1F2937"/>
                </a:solidFill>
                <a:latin typeface="Calibri" pitchFamily="34" charset="0"/>
                <a:ea typeface="Calibri" pitchFamily="34" charset="-122"/>
                <a:cs typeface="Calibri" pitchFamily="34" charset="-120"/>
              </a:rPr>
              <a:t>P* = P × C</a:t>
            </a:r>
            <a:endParaRPr dirty="0" sz="1200" lang="en-US"/>
          </a:p>
        </p:txBody>
      </p:sp>
      <p:sp>
        <p:nvSpPr>
          <p:cNvPr id="1048686" name="Shape 6"/>
          <p:cNvSpPr/>
          <p:nvPr/>
        </p:nvSpPr>
        <p:spPr>
          <a:xfrm>
            <a:off x="4251960" y="1188720"/>
            <a:ext cx="3108960" cy="914400"/>
          </a:xfrm>
          <a:prstGeom prst="roundRect"/>
          <a:solidFill>
            <a:srgbClr val="FFFFFF"/>
          </a:solidFill>
          <a:ln w="12700">
            <a:solidFill>
              <a:srgbClr val="CBD5E1"/>
            </a:solidFill>
            <a:prstDash val="solid"/>
          </a:ln>
          <a:effectLst>
            <a:outerShdw algn="bl" blurRad="25400" dir="2700000" dist="12700" rotWithShape="0">
              <a:srgbClr val="000000">
                <a:alpha val="10000"/>
              </a:srgbClr>
            </a:outerShdw>
          </a:effectLst>
        </p:spPr>
        <p:txBody>
          <a:bodyPr/>
          <a:p>
            <a:endParaRPr lang="en-DE"/>
          </a:p>
        </p:txBody>
      </p:sp>
      <p:sp>
        <p:nvSpPr>
          <p:cNvPr id="1048687" name="Text 7"/>
          <p:cNvSpPr/>
          <p:nvPr/>
        </p:nvSpPr>
        <p:spPr>
          <a:xfrm>
            <a:off x="4434840" y="1280160"/>
            <a:ext cx="2743200" cy="256032"/>
          </a:xfrm>
          <a:prstGeom prst="rect"/>
          <a:noFill/>
        </p:spPr>
        <p:txBody>
          <a:bodyPr anchor="ctr" rtlCol="0" wrap="square"/>
          <a:p>
            <a:pPr indent="0" marL="0">
              <a:buNone/>
            </a:pPr>
            <a:r>
              <a:rPr b="1" dirty="0" sz="1400" lang="en-US">
                <a:solidFill>
                  <a:srgbClr val="163E6E"/>
                </a:solidFill>
                <a:latin typeface="Calibri" pitchFamily="34" charset="0"/>
                <a:ea typeface="Calibri" pitchFamily="34" charset="-122"/>
                <a:cs typeface="Calibri" pitchFamily="34" charset="-120"/>
              </a:rPr>
              <a:t>2) Scenario A: fixed params</a:t>
            </a:r>
            <a:endParaRPr dirty="0" sz="1400" lang="en-US"/>
          </a:p>
        </p:txBody>
      </p:sp>
      <p:sp>
        <p:nvSpPr>
          <p:cNvPr id="1048688" name="Text 8"/>
          <p:cNvSpPr/>
          <p:nvPr/>
        </p:nvSpPr>
        <p:spPr>
          <a:xfrm>
            <a:off x="4434840" y="1554480"/>
            <a:ext cx="2743200" cy="457200"/>
          </a:xfrm>
          <a:prstGeom prst="rect"/>
          <a:noFill/>
        </p:spPr>
        <p:txBody>
          <a:bodyPr anchor="ctr" rtlCol="0" wrap="square"/>
          <a:p>
            <a:pPr indent="0" marL="0">
              <a:buNone/>
            </a:pPr>
            <a:r>
              <a:rPr dirty="0" sz="1200" lang="en-US">
                <a:solidFill>
                  <a:srgbClr val="1F2937"/>
                </a:solidFill>
                <a:latin typeface="Calibri" pitchFamily="34" charset="0"/>
                <a:ea typeface="Calibri" pitchFamily="34" charset="-122"/>
                <a:cs typeface="Calibri" pitchFamily="34" charset="-120"/>
              </a:rPr>
              <a:t>Run HBV with P* and BEST_PARAMS</a:t>
            </a:r>
            <a:endParaRPr dirty="0" sz="1200" lang="en-US"/>
          </a:p>
          <a:p>
            <a:pPr indent="0" marL="0">
              <a:buNone/>
            </a:pPr>
            <a:r>
              <a:rPr dirty="0" sz="1200" lang="en-US">
                <a:solidFill>
                  <a:srgbClr val="1F2937"/>
                </a:solidFill>
                <a:latin typeface="Calibri" pitchFamily="34" charset="0"/>
                <a:ea typeface="Calibri" pitchFamily="34" charset="-122"/>
                <a:cs typeface="Calibri" pitchFamily="34" charset="-120"/>
              </a:rPr>
              <a:t>Compute NSE_fixed, OFV_fixed</a:t>
            </a:r>
            <a:endParaRPr dirty="0" sz="1200" lang="en-US"/>
          </a:p>
        </p:txBody>
      </p:sp>
      <p:sp>
        <p:nvSpPr>
          <p:cNvPr id="1048689" name="Shape 9"/>
          <p:cNvSpPr/>
          <p:nvPr/>
        </p:nvSpPr>
        <p:spPr>
          <a:xfrm>
            <a:off x="7680960" y="1188720"/>
            <a:ext cx="3108960" cy="914400"/>
          </a:xfrm>
          <a:prstGeom prst="roundRect"/>
          <a:solidFill>
            <a:srgbClr val="FFFFFF"/>
          </a:solidFill>
          <a:ln w="12700">
            <a:solidFill>
              <a:srgbClr val="CBD5E1"/>
            </a:solidFill>
            <a:prstDash val="solid"/>
          </a:ln>
          <a:effectLst>
            <a:outerShdw algn="bl" blurRad="25400" dir="2700000" dist="12700" rotWithShape="0">
              <a:srgbClr val="000000">
                <a:alpha val="10000"/>
              </a:srgbClr>
            </a:outerShdw>
          </a:effectLst>
        </p:spPr>
        <p:txBody>
          <a:bodyPr/>
          <a:p>
            <a:endParaRPr lang="en-DE"/>
          </a:p>
        </p:txBody>
      </p:sp>
      <p:sp>
        <p:nvSpPr>
          <p:cNvPr id="1048690" name="Text 10"/>
          <p:cNvSpPr/>
          <p:nvPr/>
        </p:nvSpPr>
        <p:spPr>
          <a:xfrm>
            <a:off x="7863840" y="1280160"/>
            <a:ext cx="2743200" cy="256032"/>
          </a:xfrm>
          <a:prstGeom prst="rect"/>
          <a:noFill/>
        </p:spPr>
        <p:txBody>
          <a:bodyPr anchor="ctr" rtlCol="0" wrap="square"/>
          <a:p>
            <a:pPr indent="0" marL="0">
              <a:buNone/>
            </a:pPr>
            <a:r>
              <a:rPr b="1" dirty="0" sz="1400" lang="en-US">
                <a:solidFill>
                  <a:srgbClr val="163E6E"/>
                </a:solidFill>
                <a:latin typeface="Calibri" pitchFamily="34" charset="0"/>
                <a:ea typeface="Calibri" pitchFamily="34" charset="-122"/>
                <a:cs typeface="Calibri" pitchFamily="34" charset="-120"/>
              </a:rPr>
              <a:t>3) Scenario B: recalibrate</a:t>
            </a:r>
            <a:endParaRPr dirty="0" sz="1400" lang="en-US"/>
          </a:p>
        </p:txBody>
      </p:sp>
      <p:sp>
        <p:nvSpPr>
          <p:cNvPr id="1048691" name="Text 11"/>
          <p:cNvSpPr/>
          <p:nvPr/>
        </p:nvSpPr>
        <p:spPr>
          <a:xfrm>
            <a:off x="7863840" y="1554480"/>
            <a:ext cx="2743200" cy="457200"/>
          </a:xfrm>
          <a:prstGeom prst="rect"/>
          <a:noFill/>
        </p:spPr>
        <p:txBody>
          <a:bodyPr anchor="ctr" rtlCol="0" wrap="square"/>
          <a:p>
            <a:pPr indent="0" marL="0">
              <a:buNone/>
            </a:pPr>
            <a:r>
              <a:rPr dirty="0" sz="1200" lang="en-US">
                <a:solidFill>
                  <a:srgbClr val="1F2937"/>
                </a:solidFill>
                <a:latin typeface="Calibri" pitchFamily="34" charset="0"/>
                <a:ea typeface="Calibri" pitchFamily="34" charset="-122"/>
                <a:cs typeface="Calibri" pitchFamily="34" charset="-120"/>
              </a:rPr>
              <a:t>Optimize params for P*</a:t>
            </a:r>
            <a:endParaRPr dirty="0" sz="1200" lang="en-US"/>
          </a:p>
          <a:p>
            <a:pPr indent="0" marL="0">
              <a:buNone/>
            </a:pPr>
            <a:r>
              <a:rPr dirty="0" sz="1200" lang="en-US">
                <a:solidFill>
                  <a:srgbClr val="1F2937"/>
                </a:solidFill>
                <a:latin typeface="Calibri" pitchFamily="34" charset="0"/>
                <a:ea typeface="Calibri" pitchFamily="34" charset="-122"/>
                <a:cs typeface="Calibri" pitchFamily="34" charset="-120"/>
              </a:rPr>
              <a:t>(L-BFGS-B, bounded)</a:t>
            </a:r>
            <a:endParaRPr dirty="0" sz="1200" lang="en-US"/>
          </a:p>
          <a:p>
            <a:pPr indent="0" marL="0">
              <a:buNone/>
            </a:pPr>
            <a:r>
              <a:rPr dirty="0" sz="1200" lang="en-US">
                <a:solidFill>
                  <a:srgbClr val="1F2937"/>
                </a:solidFill>
                <a:latin typeface="Calibri" pitchFamily="34" charset="0"/>
                <a:ea typeface="Calibri" pitchFamily="34" charset="-122"/>
                <a:cs typeface="Calibri" pitchFamily="34" charset="-120"/>
              </a:rPr>
              <a:t>Compute NSE_recal, OFV_recal</a:t>
            </a:r>
            <a:endParaRPr dirty="0" sz="1200" lang="en-US"/>
          </a:p>
        </p:txBody>
      </p:sp>
      <p:sp>
        <p:nvSpPr>
          <p:cNvPr id="1048692" name="Shape 12"/>
          <p:cNvSpPr/>
          <p:nvPr/>
        </p:nvSpPr>
        <p:spPr>
          <a:xfrm rot="5400000">
            <a:off x="4018788" y="1536192"/>
            <a:ext cx="164592" cy="219456"/>
          </a:xfrm>
          <a:prstGeom prst="rtTriangle"/>
          <a:solidFill>
            <a:srgbClr val="163E6E"/>
          </a:solidFill>
          <a:ln w="12700">
            <a:solidFill>
              <a:srgbClr val="163E6E"/>
            </a:solidFill>
            <a:prstDash val="solid"/>
          </a:ln>
        </p:spPr>
        <p:txBody>
          <a:bodyPr/>
          <a:p>
            <a:endParaRPr lang="en-DE"/>
          </a:p>
        </p:txBody>
      </p:sp>
      <p:sp>
        <p:nvSpPr>
          <p:cNvPr id="1048693" name="Shape 13"/>
          <p:cNvSpPr/>
          <p:nvPr/>
        </p:nvSpPr>
        <p:spPr>
          <a:xfrm rot="5400000">
            <a:off x="7447788" y="1536192"/>
            <a:ext cx="164592" cy="219456"/>
          </a:xfrm>
          <a:prstGeom prst="rtTriangle"/>
          <a:solidFill>
            <a:srgbClr val="163E6E"/>
          </a:solidFill>
          <a:ln w="12700">
            <a:solidFill>
              <a:srgbClr val="163E6E"/>
            </a:solidFill>
            <a:prstDash val="solid"/>
          </a:ln>
        </p:spPr>
        <p:txBody>
          <a:bodyPr/>
          <a:p>
            <a:endParaRPr lang="en-DE"/>
          </a:p>
        </p:txBody>
      </p:sp>
      <p:sp>
        <p:nvSpPr>
          <p:cNvPr id="1048694" name="Shape 14"/>
          <p:cNvSpPr/>
          <p:nvPr/>
        </p:nvSpPr>
        <p:spPr>
          <a:xfrm>
            <a:off x="548640" y="3442547"/>
            <a:ext cx="5715000" cy="2054352"/>
          </a:xfrm>
          <a:prstGeom prst="roundRect"/>
          <a:solidFill>
            <a:srgbClr val="FFFFFF"/>
          </a:solidFill>
          <a:ln w="12700">
            <a:solidFill>
              <a:srgbClr val="163E6E"/>
            </a:solidFill>
            <a:prstDash val="solid"/>
          </a:ln>
          <a:effectLst>
            <a:outerShdw algn="bl" blurRad="38100" dir="2700000" dist="15240" rotWithShape="0">
              <a:srgbClr val="000000">
                <a:alpha val="18000"/>
              </a:srgbClr>
            </a:outerShdw>
          </a:effectLst>
        </p:spPr>
        <p:txBody>
          <a:bodyPr/>
          <a:p>
            <a:endParaRPr lang="en-DE"/>
          </a:p>
        </p:txBody>
      </p:sp>
      <p:sp>
        <p:nvSpPr>
          <p:cNvPr id="1048695" name="Text 15"/>
          <p:cNvSpPr/>
          <p:nvPr/>
        </p:nvSpPr>
        <p:spPr>
          <a:xfrm>
            <a:off x="713232" y="3607139"/>
            <a:ext cx="5385816" cy="1658112"/>
          </a:xfrm>
          <a:prstGeom prst="rect"/>
          <a:noFill/>
        </p:spPr>
        <p:txBody>
          <a:bodyPr anchor="ctr" rtlCol="0" wrap="square"/>
          <a:p>
            <a:pPr indent="0" marL="0">
              <a:buNone/>
            </a:pPr>
            <a:r>
              <a:rPr dirty="0" sz="1200" lang="en-US">
                <a:solidFill>
                  <a:srgbClr val="1F2937"/>
                </a:solidFill>
                <a:latin typeface="Calibri" pitchFamily="34" charset="0"/>
                <a:ea typeface="Calibri" pitchFamily="34" charset="-122"/>
                <a:cs typeface="Calibri" pitchFamily="34" charset="-120"/>
              </a:rPr>
              <a:t>If OFV_recal &lt; OFV_fixed (points above the 1:1 line in the scatter), recalibration “compensates” for input uncertainty.</a:t>
            </a:r>
            <a:endParaRPr dirty="0" sz="1200" lang="en-US"/>
          </a:p>
          <a:p>
            <a:pPr indent="0" marL="0">
              <a:buNone/>
            </a:pPr>
            <a:r>
              <a:rPr dirty="0" sz="1200" lang="en-US">
                <a:solidFill>
                  <a:srgbClr val="1F2937"/>
                </a:solidFill>
                <a:latin typeface="Calibri" pitchFamily="34" charset="0"/>
                <a:ea typeface="Calibri" pitchFamily="34" charset="-122"/>
                <a:cs typeface="Calibri" pitchFamily="34" charset="-120"/>
              </a:rPr>
              <a:t>If many parameters stay constant, the model is less sensitive (or the optimizer converges to the same local optimum).</a:t>
            </a:r>
            <a:endParaRPr dirty="0" sz="1200" lang="en-US"/>
          </a:p>
        </p:txBody>
      </p:sp>
      <p:pic>
        <p:nvPicPr>
          <p:cNvPr id="2097178" name="Grafik 17"/>
          <p:cNvPicPr>
            <a:picLocks noChangeAspect="1"/>
          </p:cNvPicPr>
          <p:nvPr/>
        </p:nvPicPr>
        <p:blipFill>
          <a:blip xmlns:r="http://schemas.openxmlformats.org/officeDocument/2006/relationships" r:embed="rId1"/>
          <a:stretch>
            <a:fillRect/>
          </a:stretch>
        </p:blipFill>
        <p:spPr>
          <a:xfrm>
            <a:off x="6599429" y="2916936"/>
            <a:ext cx="5171244" cy="3443121"/>
          </a:xfrm>
          <a:prstGeom prst="rect"/>
        </p:spPr>
      </p:pic>
      <p:sp>
        <p:nvSpPr>
          <p:cNvPr id="1048696" name="Textfeld 4"/>
          <p:cNvSpPr txBox="1"/>
          <p:nvPr/>
        </p:nvSpPr>
        <p:spPr>
          <a:xfrm>
            <a:off x="11836095" y="6485467"/>
            <a:ext cx="355600" cy="369332"/>
          </a:xfrm>
          <a:prstGeom prst="rect"/>
          <a:noFill/>
        </p:spPr>
        <p:txBody>
          <a:bodyPr rtlCol="0" wrap="square">
            <a:spAutoFit/>
          </a:bodyPr>
          <a:p>
            <a:r>
              <a:rPr dirty="0" lang="de-DE"/>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53" name=""/>
        <p:cNvGrpSpPr/>
        <p:nvPr/>
      </p:nvGrpSpPr>
      <p:grpSpPr>
        <a:xfrm>
          <a:off x="0" y="0"/>
          <a:ext cx="0" cy="0"/>
          <a:chOff x="0" y="0"/>
          <a:chExt cx="0" cy="0"/>
        </a:xfrm>
      </p:grpSpPr>
      <p:sp>
        <p:nvSpPr>
          <p:cNvPr id="1048700" name="Shape 0"/>
          <p:cNvSpPr/>
          <p:nvPr/>
        </p:nvSpPr>
        <p:spPr>
          <a:xfrm>
            <a:off x="0" y="0"/>
            <a:ext cx="12191695" cy="658368"/>
          </a:xfrm>
          <a:prstGeom prst="rect"/>
          <a:solidFill>
            <a:srgbClr val="0B3D91"/>
          </a:solidFill>
          <a:ln w="12700">
            <a:solidFill>
              <a:srgbClr val="0B3D91"/>
            </a:solidFill>
            <a:prstDash val="solid"/>
          </a:ln>
        </p:spPr>
        <p:txBody>
          <a:bodyPr/>
          <a:p>
            <a:endParaRPr lang="en-DE"/>
          </a:p>
        </p:txBody>
      </p:sp>
      <p:sp>
        <p:nvSpPr>
          <p:cNvPr id="1048701" name="Text 1"/>
          <p:cNvSpPr/>
          <p:nvPr/>
        </p:nvSpPr>
        <p:spPr>
          <a:xfrm>
            <a:off x="548640" y="128016"/>
            <a:ext cx="11094415" cy="329184"/>
          </a:xfrm>
          <a:prstGeom prst="rect"/>
          <a:noFill/>
        </p:spPr>
        <p:txBody>
          <a:bodyPr anchor="ctr" rtlCol="0" wrap="square"/>
          <a:p>
            <a:pPr indent="0" marL="0">
              <a:buNone/>
            </a:pPr>
            <a:r>
              <a:rPr b="1" dirty="0" sz="2600" lang="en-US">
                <a:solidFill>
                  <a:srgbClr val="FFFFFF"/>
                </a:solidFill>
                <a:latin typeface="Calibri" pitchFamily="34" charset="0"/>
                <a:ea typeface="Calibri" pitchFamily="34" charset="-122"/>
                <a:cs typeface="Calibri" pitchFamily="34" charset="-120"/>
              </a:rPr>
              <a:t>Performance distributions (OFV = 1 − NSE)</a:t>
            </a:r>
            <a:endParaRPr dirty="0" sz="2600" lang="en-US"/>
          </a:p>
        </p:txBody>
      </p:sp>
      <p:sp>
        <p:nvSpPr>
          <p:cNvPr id="1048702" name="Text 2"/>
          <p:cNvSpPr/>
          <p:nvPr/>
        </p:nvSpPr>
        <p:spPr>
          <a:xfrm>
            <a:off x="548640" y="402336"/>
            <a:ext cx="11094415" cy="201168"/>
          </a:xfrm>
          <a:prstGeom prst="rect"/>
          <a:noFill/>
        </p:spPr>
        <p:txBody>
          <a:bodyPr anchor="ctr" rtlCol="0" wrap="square"/>
          <a:p>
            <a:pPr indent="0" marL="0">
              <a:buNone/>
            </a:pPr>
            <a:r>
              <a:rPr dirty="0" sz="1400" lang="en-US">
                <a:solidFill>
                  <a:srgbClr val="E5E7EB"/>
                </a:solidFill>
                <a:latin typeface="Calibri" pitchFamily="34" charset="0"/>
                <a:ea typeface="Calibri" pitchFamily="34" charset="-122"/>
                <a:cs typeface="Calibri" pitchFamily="34" charset="-120"/>
              </a:rPr>
              <a:t>CDFs summarize variability across perturbations</a:t>
            </a:r>
            <a:endParaRPr dirty="0" sz="1400" lang="en-US"/>
          </a:p>
        </p:txBody>
      </p:sp>
      <p:sp>
        <p:nvSpPr>
          <p:cNvPr id="1048703" name="Text 4"/>
          <p:cNvSpPr/>
          <p:nvPr/>
        </p:nvSpPr>
        <p:spPr>
          <a:xfrm>
            <a:off x="8485632" y="1014984"/>
            <a:ext cx="3282696" cy="1813560"/>
          </a:xfrm>
          <a:prstGeom prst="rect"/>
          <a:noFill/>
        </p:spPr>
        <p:txBody>
          <a:bodyPr anchor="ctr" rtlCol="0" wrap="square"/>
          <a:p>
            <a:pPr indent="0" marL="0">
              <a:buNone/>
            </a:pPr>
            <a:endParaRPr dirty="0" sz="1200" lang="en-US"/>
          </a:p>
          <a:p>
            <a:pPr indent="0" marL="0">
              <a:buNone/>
            </a:pPr>
            <a:r>
              <a:rPr dirty="0" sz="1200" lang="en-US">
                <a:solidFill>
                  <a:srgbClr val="1F2937"/>
                </a:solidFill>
                <a:latin typeface="Calibri" pitchFamily="34" charset="0"/>
                <a:ea typeface="Calibri" pitchFamily="34" charset="-122"/>
                <a:cs typeface="Calibri" pitchFamily="34" charset="-120"/>
              </a:rPr>
              <a:t>• Left shift = lower OFV = better</a:t>
            </a:r>
            <a:endParaRPr dirty="0" sz="1200" lang="en-US"/>
          </a:p>
          <a:p>
            <a:pPr indent="0" marL="0">
              <a:buNone/>
            </a:pPr>
            <a:r>
              <a:rPr dirty="0" sz="1200" lang="en-US">
                <a:solidFill>
                  <a:srgbClr val="1F2937"/>
                </a:solidFill>
                <a:latin typeface="Calibri" pitchFamily="34" charset="0"/>
                <a:ea typeface="Calibri" pitchFamily="34" charset="-122"/>
                <a:cs typeface="Calibri" pitchFamily="34" charset="-120"/>
              </a:rPr>
              <a:t>• Blue curve: perturbed PPT + fixed params</a:t>
            </a:r>
            <a:endParaRPr dirty="0" sz="1200" lang="en-US"/>
          </a:p>
          <a:p>
            <a:pPr indent="0" marL="0">
              <a:buNone/>
            </a:pPr>
            <a:r>
              <a:rPr dirty="0" sz="1200" lang="en-US">
                <a:solidFill>
                  <a:srgbClr val="1F2937"/>
                </a:solidFill>
                <a:latin typeface="Calibri" pitchFamily="34" charset="0"/>
                <a:ea typeface="Calibri" pitchFamily="34" charset="-122"/>
                <a:cs typeface="Calibri" pitchFamily="34" charset="-120"/>
              </a:rPr>
              <a:t>• Orange curve: perturbed PPT + recalibrated params</a:t>
            </a:r>
            <a:endParaRPr dirty="0" sz="1200" lang="en-US"/>
          </a:p>
          <a:p>
            <a:pPr indent="0" marL="0">
              <a:buNone/>
            </a:pPr>
            <a:r>
              <a:rPr dirty="0" sz="1200" lang="en-US">
                <a:solidFill>
                  <a:srgbClr val="1F2937"/>
                </a:solidFill>
                <a:latin typeface="Calibri" pitchFamily="34" charset="0"/>
                <a:ea typeface="Calibri" pitchFamily="34" charset="-122"/>
                <a:cs typeface="Calibri" pitchFamily="34" charset="-120"/>
              </a:rPr>
              <a:t>• Green line: reference OFV (orig PPT + BEST_PARAMS)</a:t>
            </a:r>
            <a:endParaRPr dirty="0" sz="1200" lang="en-US"/>
          </a:p>
        </p:txBody>
      </p:sp>
      <p:sp>
        <p:nvSpPr>
          <p:cNvPr id="1048704" name="Text 6"/>
          <p:cNvSpPr/>
          <p:nvPr/>
        </p:nvSpPr>
        <p:spPr>
          <a:xfrm>
            <a:off x="8485632" y="3355848"/>
            <a:ext cx="3282696" cy="420624"/>
          </a:xfrm>
          <a:prstGeom prst="rect"/>
          <a:noFill/>
        </p:spPr>
        <p:txBody>
          <a:bodyPr anchor="ctr" rtlCol="0" wrap="square"/>
          <a:p>
            <a:pPr indent="0" marL="0">
              <a:buNone/>
            </a:pPr>
            <a:r>
              <a:rPr dirty="0" sz="1200" lang="en-US">
                <a:solidFill>
                  <a:srgbClr val="1F2937"/>
                </a:solidFill>
                <a:latin typeface="Calibri" pitchFamily="34" charset="0"/>
                <a:ea typeface="Calibri" pitchFamily="34" charset="-122"/>
                <a:cs typeface="Calibri" pitchFamily="34" charset="-120"/>
              </a:rPr>
              <a:t>Typical outcome: recalibration shifts the distribution slightly toward the reference line, but does not fully recover baseline performance.</a:t>
            </a:r>
            <a:endParaRPr dirty="0" sz="1200" lang="en-US"/>
          </a:p>
        </p:txBody>
      </p:sp>
      <p:pic>
        <p:nvPicPr>
          <p:cNvPr id="2097179" name="Picture 10" descr="A graph of a function  AI-generated content may be incorrect."/>
          <p:cNvPicPr>
            <a:picLocks noChangeAspect="1"/>
          </p:cNvPicPr>
          <p:nvPr/>
        </p:nvPicPr>
        <p:blipFill>
          <a:blip xmlns:r="http://schemas.openxmlformats.org/officeDocument/2006/relationships" r:embed="rId1"/>
          <a:stretch>
            <a:fillRect/>
          </a:stretch>
        </p:blipFill>
        <p:spPr>
          <a:xfrm>
            <a:off x="668190" y="1143000"/>
            <a:ext cx="7315200" cy="4572000"/>
          </a:xfrm>
          <a:prstGeom prst="rect"/>
        </p:spPr>
      </p:pic>
      <p:pic>
        <p:nvPicPr>
          <p:cNvPr id="2097180" name="Grafik 5"/>
          <p:cNvPicPr>
            <a:picLocks noChangeAspect="1"/>
          </p:cNvPicPr>
          <p:nvPr/>
        </p:nvPicPr>
        <p:blipFill>
          <a:blip xmlns:r="http://schemas.openxmlformats.org/officeDocument/2006/relationships" r:embed="rId2"/>
          <a:stretch>
            <a:fillRect/>
          </a:stretch>
        </p:blipFill>
        <p:spPr>
          <a:xfrm>
            <a:off x="1768343" y="3131813"/>
            <a:ext cx="5404115" cy="3598171"/>
          </a:xfrm>
          <a:prstGeom prst="rect"/>
        </p:spPr>
      </p:pic>
      <p:sp>
        <p:nvSpPr>
          <p:cNvPr id="1048705" name="Textfeld 4"/>
          <p:cNvSpPr txBox="1"/>
          <p:nvPr/>
        </p:nvSpPr>
        <p:spPr>
          <a:xfrm>
            <a:off x="11836095" y="6485467"/>
            <a:ext cx="355600" cy="369332"/>
          </a:xfrm>
          <a:prstGeom prst="rect"/>
          <a:noFill/>
        </p:spPr>
        <p:txBody>
          <a:bodyPr rtlCol="0" wrap="square">
            <a:spAutoFit/>
          </a:bodyPr>
          <a:p>
            <a:r>
              <a:rPr dirty="0" lang="de-DE"/>
              <a:t>6</a:t>
            </a: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20971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56" name=""/>
        <p:cNvGrpSpPr/>
        <p:nvPr/>
      </p:nvGrpSpPr>
      <p:grpSpPr>
        <a:xfrm>
          <a:off x="0" y="0"/>
          <a:ext cx="0" cy="0"/>
          <a:chOff x="0" y="0"/>
          <a:chExt cx="0" cy="0"/>
        </a:xfrm>
      </p:grpSpPr>
      <p:sp>
        <p:nvSpPr>
          <p:cNvPr id="1048709" name="Shape 0"/>
          <p:cNvSpPr/>
          <p:nvPr/>
        </p:nvSpPr>
        <p:spPr>
          <a:xfrm>
            <a:off x="0" y="0"/>
            <a:ext cx="12191695" cy="658368"/>
          </a:xfrm>
          <a:prstGeom prst="rect"/>
          <a:solidFill>
            <a:srgbClr val="0B3D91"/>
          </a:solidFill>
          <a:ln w="12700">
            <a:solidFill>
              <a:srgbClr val="0B3D91"/>
            </a:solidFill>
            <a:prstDash val="solid"/>
          </a:ln>
        </p:spPr>
        <p:txBody>
          <a:bodyPr/>
          <a:p>
            <a:endParaRPr dirty="0" lang="en-DE"/>
          </a:p>
        </p:txBody>
      </p:sp>
      <p:sp>
        <p:nvSpPr>
          <p:cNvPr id="1048710" name="Text 1"/>
          <p:cNvSpPr/>
          <p:nvPr/>
        </p:nvSpPr>
        <p:spPr>
          <a:xfrm>
            <a:off x="548640" y="128016"/>
            <a:ext cx="11094415" cy="329184"/>
          </a:xfrm>
          <a:prstGeom prst="rect"/>
          <a:noFill/>
        </p:spPr>
        <p:txBody>
          <a:bodyPr anchor="ctr" rtlCol="0" wrap="square"/>
          <a:p>
            <a:pPr indent="0" marL="0">
              <a:buNone/>
            </a:pPr>
            <a:r>
              <a:rPr b="1" dirty="0" sz="2600" lang="en-US">
                <a:solidFill>
                  <a:srgbClr val="FFFFFF"/>
                </a:solidFill>
                <a:latin typeface="Calibri" pitchFamily="34" charset="0"/>
                <a:ea typeface="Calibri" pitchFamily="34" charset="-122"/>
                <a:cs typeface="Calibri" pitchFamily="34" charset="-120"/>
              </a:rPr>
              <a:t>Fixed vs recalibrated performance – critical review</a:t>
            </a:r>
            <a:endParaRPr dirty="0" sz="2600" lang="en-US"/>
          </a:p>
        </p:txBody>
      </p:sp>
      <p:sp>
        <p:nvSpPr>
          <p:cNvPr id="1048711" name="Text 2"/>
          <p:cNvSpPr/>
          <p:nvPr/>
        </p:nvSpPr>
        <p:spPr>
          <a:xfrm>
            <a:off x="548640" y="402336"/>
            <a:ext cx="11094415" cy="201168"/>
          </a:xfrm>
          <a:prstGeom prst="rect"/>
          <a:noFill/>
        </p:spPr>
        <p:txBody>
          <a:bodyPr anchor="ctr" rtlCol="0" wrap="square"/>
          <a:p>
            <a:pPr indent="0" marL="0">
              <a:buNone/>
            </a:pPr>
            <a:endParaRPr dirty="0" sz="1400" lang="en-US"/>
          </a:p>
        </p:txBody>
      </p:sp>
      <p:sp>
        <p:nvSpPr>
          <p:cNvPr id="1048712" name="Text 4"/>
          <p:cNvSpPr/>
          <p:nvPr/>
        </p:nvSpPr>
        <p:spPr>
          <a:xfrm>
            <a:off x="361684" y="5569882"/>
            <a:ext cx="4910328" cy="1259499"/>
          </a:xfrm>
          <a:prstGeom prst="rect"/>
          <a:noFill/>
        </p:spPr>
        <p:txBody>
          <a:bodyPr anchor="ctr" rtlCol="0" wrap="square"/>
          <a:p>
            <a:pPr indent="0" marL="0">
              <a:buNone/>
            </a:pPr>
            <a:r>
              <a:rPr dirty="0" sz="1200" lang="en-US">
                <a:solidFill>
                  <a:srgbClr val="1F2937"/>
                </a:solidFill>
                <a:latin typeface="Calibri" pitchFamily="34" charset="0"/>
                <a:ea typeface="Calibri" pitchFamily="34" charset="-122"/>
                <a:cs typeface="Calibri" pitchFamily="34" charset="-120"/>
              </a:rPr>
              <a:t>Interpretation:</a:t>
            </a:r>
            <a:endParaRPr dirty="0" sz="1200" lang="en-US"/>
          </a:p>
          <a:p>
            <a:pPr indent="0" marL="0">
              <a:buNone/>
            </a:pPr>
            <a:r>
              <a:rPr dirty="0" sz="1200" lang="en-US">
                <a:solidFill>
                  <a:srgbClr val="1F2937"/>
                </a:solidFill>
                <a:latin typeface="Calibri" pitchFamily="34" charset="0"/>
                <a:ea typeface="Calibri" pitchFamily="34" charset="-122"/>
                <a:cs typeface="Calibri" pitchFamily="34" charset="-120"/>
              </a:rPr>
              <a:t>• Points above 1:1 line → OFV_fixed &gt; OFV_recal → recalibration improved</a:t>
            </a:r>
            <a:endParaRPr dirty="0" sz="1200" lang="en-US"/>
          </a:p>
          <a:p>
            <a:pPr indent="0" marL="0">
              <a:buNone/>
            </a:pPr>
            <a:r>
              <a:rPr dirty="0" sz="1200" lang="en-US">
                <a:solidFill>
                  <a:srgbClr val="1F2937"/>
                </a:solidFill>
                <a:latin typeface="Calibri" pitchFamily="34" charset="0"/>
                <a:ea typeface="Calibri" pitchFamily="34" charset="-122"/>
                <a:cs typeface="Calibri" pitchFamily="34" charset="-120"/>
              </a:rPr>
              <a:t>• Points below 1:1 line → recalibration worse</a:t>
            </a:r>
            <a:endParaRPr dirty="0" sz="1200" lang="en-US"/>
          </a:p>
          <a:p>
            <a:pPr indent="0" marL="0">
              <a:buNone/>
            </a:pPr>
            <a:endParaRPr dirty="0" sz="1200" lang="en-US"/>
          </a:p>
        </p:txBody>
      </p:sp>
      <p:pic>
        <p:nvPicPr>
          <p:cNvPr id="2097181" name="Picture 8" descr="A graph with blue dots  AI-generated content may be incorrect."/>
          <p:cNvPicPr>
            <a:picLocks noChangeAspect="1"/>
          </p:cNvPicPr>
          <p:nvPr/>
        </p:nvPicPr>
        <p:blipFill>
          <a:blip xmlns:r="http://schemas.openxmlformats.org/officeDocument/2006/relationships" r:embed="rId1"/>
          <a:stretch>
            <a:fillRect/>
          </a:stretch>
        </p:blipFill>
        <p:spPr>
          <a:xfrm>
            <a:off x="7289800" y="1261886"/>
            <a:ext cx="3912999" cy="3912999"/>
          </a:xfrm>
          <a:prstGeom prst="rect"/>
        </p:spPr>
      </p:pic>
      <p:pic>
        <p:nvPicPr>
          <p:cNvPr id="2097182" name="Grafik 5"/>
          <p:cNvPicPr>
            <a:picLocks noChangeAspect="1"/>
          </p:cNvPicPr>
          <p:nvPr/>
        </p:nvPicPr>
        <p:blipFill>
          <a:blip xmlns:r="http://schemas.openxmlformats.org/officeDocument/2006/relationships" r:embed="rId2"/>
          <a:stretch>
            <a:fillRect/>
          </a:stretch>
        </p:blipFill>
        <p:spPr>
          <a:xfrm>
            <a:off x="361684" y="1519987"/>
            <a:ext cx="5734316" cy="3818026"/>
          </a:xfrm>
          <a:prstGeom prst="rect"/>
        </p:spPr>
      </p:pic>
      <p:sp>
        <p:nvSpPr>
          <p:cNvPr id="1048713" name="Textfeld 7"/>
          <p:cNvSpPr txBox="1"/>
          <p:nvPr/>
        </p:nvSpPr>
        <p:spPr>
          <a:xfrm>
            <a:off x="2700882" y="5330007"/>
            <a:ext cx="2015067" cy="307777"/>
          </a:xfrm>
          <a:prstGeom prst="rect"/>
          <a:noFill/>
        </p:spPr>
        <p:txBody>
          <a:bodyPr rtlCol="0" wrap="square">
            <a:spAutoFit/>
          </a:bodyPr>
          <a:p>
            <a:r>
              <a:rPr b="1" dirty="0" sz="1400" lang="de-DE" err="1"/>
              <a:t>Using</a:t>
            </a:r>
            <a:r>
              <a:rPr b="1" dirty="0" sz="1400" lang="de-DE"/>
              <a:t> 2000 </a:t>
            </a:r>
            <a:r>
              <a:rPr b="1" dirty="0" sz="1400" lang="de-DE" err="1"/>
              <a:t>sim</a:t>
            </a:r>
            <a:r>
              <a:rPr b="1" dirty="0" sz="1400" lang="de-DE"/>
              <a:t> and DE</a:t>
            </a:r>
          </a:p>
        </p:txBody>
      </p:sp>
      <p:sp>
        <p:nvSpPr>
          <p:cNvPr id="1048714" name="Textfeld 9"/>
          <p:cNvSpPr txBox="1"/>
          <p:nvPr/>
        </p:nvSpPr>
        <p:spPr>
          <a:xfrm>
            <a:off x="8172731" y="5330006"/>
            <a:ext cx="2767601" cy="497840"/>
          </a:xfrm>
          <a:prstGeom prst="rect"/>
          <a:noFill/>
        </p:spPr>
        <p:txBody>
          <a:bodyPr rtlCol="0" wrap="square">
            <a:spAutoFit/>
          </a:bodyPr>
          <a:p>
            <a:r>
              <a:rPr b="1" dirty="0" sz="1400" lang="de-DE" err="1"/>
              <a:t>Using</a:t>
            </a:r>
            <a:r>
              <a:rPr b="1" dirty="0" sz="1400" lang="de-DE"/>
              <a:t> 200 </a:t>
            </a:r>
            <a:r>
              <a:rPr b="1" dirty="0" sz="1400" lang="de-DE" err="1"/>
              <a:t>sim</a:t>
            </a:r>
            <a:r>
              <a:rPr b="1" dirty="0" sz="1400" lang="de-DE"/>
              <a:t> and </a:t>
            </a:r>
            <a:r>
              <a:rPr b="1" dirty="0" sz="1400" lang="de-DE" err="1"/>
              <a:t>local</a:t>
            </a:r>
            <a:r>
              <a:rPr b="1" dirty="0" sz="1400" lang="de-DE"/>
              <a:t> </a:t>
            </a:r>
            <a:r>
              <a:rPr b="1" dirty="0" sz="1400" lang="de-DE" err="1"/>
              <a:t>optimizer</a:t>
            </a:r>
            <a:endParaRPr b="1" dirty="0" sz="1400" lang="de-DE"/>
          </a:p>
        </p:txBody>
      </p:sp>
      <p:sp>
        <p:nvSpPr>
          <p:cNvPr id="1048715" name="Textfeld 4"/>
          <p:cNvSpPr txBox="1"/>
          <p:nvPr/>
        </p:nvSpPr>
        <p:spPr>
          <a:xfrm>
            <a:off x="11836095" y="6485467"/>
            <a:ext cx="355600" cy="369332"/>
          </a:xfrm>
          <a:prstGeom prst="rect"/>
          <a:noFill/>
        </p:spPr>
        <p:txBody>
          <a:bodyPr rtlCol="0" wrap="square">
            <a:spAutoFit/>
          </a:bodyPr>
          <a:p>
            <a:r>
              <a:rPr dirty="0" lang="de-DE"/>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35" name=""/>
        <p:cNvGrpSpPr/>
        <p:nvPr/>
      </p:nvGrpSpPr>
      <p:grpSpPr>
        <a:xfrm>
          <a:off x="0" y="0"/>
          <a:ext cx="0" cy="0"/>
          <a:chOff x="0" y="0"/>
          <a:chExt cx="0" cy="0"/>
        </a:xfrm>
      </p:grpSpPr>
      <p:sp>
        <p:nvSpPr>
          <p:cNvPr id="1048630" name="Shape 0"/>
          <p:cNvSpPr/>
          <p:nvPr/>
        </p:nvSpPr>
        <p:spPr>
          <a:xfrm>
            <a:off x="0" y="-1"/>
            <a:ext cx="12191695" cy="805543"/>
          </a:xfrm>
          <a:prstGeom prst="rect"/>
          <a:solidFill>
            <a:srgbClr val="0B3D91"/>
          </a:solidFill>
          <a:ln w="12700">
            <a:solidFill>
              <a:srgbClr val="0B3D91"/>
            </a:solidFill>
            <a:prstDash val="solid"/>
          </a:ln>
        </p:spPr>
        <p:txBody>
          <a:bodyPr/>
          <a:p>
            <a:endParaRPr lang="en-DE"/>
          </a:p>
        </p:txBody>
      </p:sp>
      <p:sp>
        <p:nvSpPr>
          <p:cNvPr id="1048631" name="Text 1"/>
          <p:cNvSpPr/>
          <p:nvPr/>
        </p:nvSpPr>
        <p:spPr>
          <a:xfrm>
            <a:off x="548640" y="128016"/>
            <a:ext cx="11094415" cy="329184"/>
          </a:xfrm>
          <a:prstGeom prst="rect"/>
          <a:noFill/>
        </p:spPr>
        <p:txBody>
          <a:bodyPr anchor="ctr" rtlCol="0" wrap="square"/>
          <a:p>
            <a:pPr indent="0" marL="0">
              <a:buNone/>
            </a:pPr>
            <a:r>
              <a:rPr b="1" dirty="0" sz="2600" lang="en-US">
                <a:solidFill>
                  <a:srgbClr val="FFFFFF"/>
                </a:solidFill>
                <a:latin typeface="Calibri" pitchFamily="34" charset="0"/>
                <a:ea typeface="Calibri" pitchFamily="34" charset="-122"/>
                <a:cs typeface="Calibri" pitchFamily="34" charset="-120"/>
              </a:rPr>
              <a:t>Recalibration method: why L-BFGS-B is acceptable</a:t>
            </a:r>
            <a:endParaRPr dirty="0" sz="2600" lang="en-US"/>
          </a:p>
        </p:txBody>
      </p:sp>
      <p:sp>
        <p:nvSpPr>
          <p:cNvPr id="1048632" name="Text 2"/>
          <p:cNvSpPr/>
          <p:nvPr/>
        </p:nvSpPr>
        <p:spPr>
          <a:xfrm>
            <a:off x="548640" y="484633"/>
            <a:ext cx="11094415" cy="201168"/>
          </a:xfrm>
          <a:prstGeom prst="rect"/>
          <a:noFill/>
        </p:spPr>
        <p:txBody>
          <a:bodyPr anchor="ctr" rtlCol="0" wrap="square"/>
          <a:p>
            <a:pPr indent="0" marL="0">
              <a:buNone/>
            </a:pPr>
            <a:r>
              <a:rPr dirty="0" sz="1400" lang="en-US">
                <a:solidFill>
                  <a:srgbClr val="E5E7EB"/>
                </a:solidFill>
                <a:latin typeface="Calibri" pitchFamily="34" charset="0"/>
                <a:ea typeface="Calibri" pitchFamily="34" charset="-122"/>
                <a:cs typeface="Calibri" pitchFamily="34" charset="-120"/>
              </a:rPr>
              <a:t>Tradeoff: speed vs global optimality</a:t>
            </a:r>
            <a:endParaRPr dirty="0" sz="1400" lang="en-US"/>
          </a:p>
        </p:txBody>
      </p:sp>
      <p:sp>
        <p:nvSpPr>
          <p:cNvPr id="1048633" name="Shape 3"/>
          <p:cNvSpPr/>
          <p:nvPr/>
        </p:nvSpPr>
        <p:spPr>
          <a:xfrm>
            <a:off x="740229" y="1097278"/>
            <a:ext cx="10689771" cy="5172891"/>
          </a:xfrm>
          <a:prstGeom prst="roundRect"/>
          <a:solidFill>
            <a:srgbClr val="FFFFFF"/>
          </a:solidFill>
          <a:ln w="12700">
            <a:solidFill>
              <a:srgbClr val="D1D5DB"/>
            </a:solidFill>
            <a:prstDash val="solid"/>
          </a:ln>
          <a:effectLst>
            <a:outerShdw algn="bl" blurRad="31750" dir="2700000" dist="15240" rotWithShape="0">
              <a:srgbClr val="000000">
                <a:alpha val="10000"/>
              </a:srgbClr>
            </a:outerShdw>
          </a:effectLst>
        </p:spPr>
        <p:txBody>
          <a:bodyPr/>
          <a:p>
            <a:endParaRPr lang="en-DE"/>
          </a:p>
        </p:txBody>
      </p:sp>
      <p:sp>
        <p:nvSpPr>
          <p:cNvPr id="1048634" name="Text 4"/>
          <p:cNvSpPr/>
          <p:nvPr/>
        </p:nvSpPr>
        <p:spPr>
          <a:xfrm>
            <a:off x="7132320" y="1234440"/>
            <a:ext cx="4023360" cy="274320"/>
          </a:xfrm>
          <a:prstGeom prst="rect"/>
          <a:noFill/>
        </p:spPr>
        <p:txBody>
          <a:bodyPr anchor="ctr" rtlCol="0" wrap="square"/>
          <a:p>
            <a:pPr indent="0" marL="0">
              <a:buNone/>
            </a:pPr>
            <a:endParaRPr dirty="0" sz="1800" lang="en-US"/>
          </a:p>
        </p:txBody>
      </p:sp>
      <p:sp>
        <p:nvSpPr>
          <p:cNvPr id="1048635" name="Text 5"/>
          <p:cNvSpPr/>
          <p:nvPr/>
        </p:nvSpPr>
        <p:spPr>
          <a:xfrm>
            <a:off x="1036320" y="1480456"/>
            <a:ext cx="5733143" cy="4406537"/>
          </a:xfrm>
          <a:prstGeom prst="rect"/>
          <a:noFill/>
        </p:spPr>
        <p:txBody>
          <a:bodyPr anchor="ctr" rtlCol="0" wrap="square"/>
          <a:p>
            <a:pPr>
              <a:lnSpc>
                <a:spcPct val="150000"/>
              </a:lnSpc>
              <a:buSzPct val="100000"/>
            </a:pPr>
            <a:r>
              <a:rPr dirty="0" sz="1600" lang="en-US">
                <a:solidFill>
                  <a:srgbClr val="1F2937"/>
                </a:solidFill>
                <a:latin typeface="Calibri" pitchFamily="34" charset="0"/>
                <a:ea typeface="Calibri" pitchFamily="34" charset="-122"/>
                <a:cs typeface="Calibri" pitchFamily="34" charset="-120"/>
              </a:rPr>
              <a:t>L-BFGS-B (local, bounded):</a:t>
            </a:r>
            <a:endParaRPr dirty="0" sz="1600" lang="en-US"/>
          </a:p>
          <a:p>
            <a:pPr indent="-228600" marL="228600">
              <a:lnSpc>
                <a:spcPct val="150000"/>
              </a:lnSpc>
              <a:buSzPct val="100000"/>
              <a:buChar char="•"/>
            </a:pPr>
            <a:r>
              <a:rPr dirty="0" sz="1600" lang="en-US">
                <a:solidFill>
                  <a:srgbClr val="1F2937"/>
                </a:solidFill>
                <a:latin typeface="Calibri" pitchFamily="34" charset="0"/>
                <a:ea typeface="Calibri" pitchFamily="34" charset="-122"/>
                <a:cs typeface="Calibri" pitchFamily="34" charset="-120"/>
              </a:rPr>
              <a:t>Fast → feasible to recalibrate 200–2000 times</a:t>
            </a:r>
            <a:endParaRPr dirty="0" sz="1600" lang="en-US"/>
          </a:p>
          <a:p>
            <a:pPr indent="-228600" marL="228600">
              <a:lnSpc>
                <a:spcPct val="150000"/>
              </a:lnSpc>
              <a:buSzPct val="100000"/>
              <a:buChar char="•"/>
            </a:pPr>
            <a:r>
              <a:rPr dirty="0" sz="1600" lang="en-US">
                <a:solidFill>
                  <a:srgbClr val="1F2937"/>
                </a:solidFill>
                <a:latin typeface="Calibri" pitchFamily="34" charset="0"/>
                <a:ea typeface="Calibri" pitchFamily="34" charset="-122"/>
                <a:cs typeface="Calibri" pitchFamily="34" charset="-120"/>
              </a:rPr>
              <a:t>Works well when starting from a good reference solution</a:t>
            </a:r>
            <a:endParaRPr dirty="0" sz="1600" lang="en-US"/>
          </a:p>
          <a:p>
            <a:pPr indent="-228600" marL="228600">
              <a:lnSpc>
                <a:spcPct val="150000"/>
              </a:lnSpc>
              <a:buSzPct val="100000"/>
              <a:buChar char="•"/>
            </a:pPr>
            <a:r>
              <a:rPr dirty="0" sz="1600" lang="en-US">
                <a:solidFill>
                  <a:srgbClr val="1F2937"/>
                </a:solidFill>
                <a:latin typeface="Calibri" pitchFamily="34" charset="0"/>
                <a:ea typeface="Calibri" pitchFamily="34" charset="-122"/>
                <a:cs typeface="Calibri" pitchFamily="34" charset="-120"/>
              </a:rPr>
              <a:t>Downside: can miss better global minima</a:t>
            </a:r>
            <a:endParaRPr dirty="0" sz="1600" lang="en-US"/>
          </a:p>
          <a:p>
            <a:pPr indent="-228600" marL="228600">
              <a:lnSpc>
                <a:spcPct val="150000"/>
              </a:lnSpc>
              <a:buSzPct val="100000"/>
              <a:buChar char="•"/>
            </a:pPr>
            <a:endParaRPr dirty="0" sz="1600" lang="en-US"/>
          </a:p>
          <a:p>
            <a:pPr>
              <a:lnSpc>
                <a:spcPct val="150000"/>
              </a:lnSpc>
              <a:buSzPct val="100000"/>
            </a:pPr>
            <a:r>
              <a:rPr dirty="0" sz="1600" lang="en-US">
                <a:solidFill>
                  <a:srgbClr val="1F2937"/>
                </a:solidFill>
                <a:latin typeface="Calibri" pitchFamily="34" charset="0"/>
                <a:ea typeface="Calibri" pitchFamily="34" charset="-122"/>
                <a:cs typeface="Calibri" pitchFamily="34" charset="-120"/>
              </a:rPr>
              <a:t>Differential Evolution (global):</a:t>
            </a:r>
            <a:endParaRPr dirty="0" sz="1600" lang="en-US"/>
          </a:p>
          <a:p>
            <a:pPr indent="-228600" marL="228600">
              <a:lnSpc>
                <a:spcPct val="150000"/>
              </a:lnSpc>
              <a:buSzPct val="100000"/>
              <a:buChar char="•"/>
            </a:pPr>
            <a:r>
              <a:rPr dirty="0" sz="1600" lang="en-US">
                <a:solidFill>
                  <a:srgbClr val="1F2937"/>
                </a:solidFill>
                <a:latin typeface="Calibri" pitchFamily="34" charset="0"/>
                <a:ea typeface="Calibri" pitchFamily="34" charset="-122"/>
                <a:cs typeface="Calibri" pitchFamily="34" charset="-120"/>
              </a:rPr>
              <a:t>More robust to local minima</a:t>
            </a:r>
            <a:endParaRPr dirty="0" sz="1600" lang="en-US"/>
          </a:p>
          <a:p>
            <a:pPr indent="-228600" marL="228600">
              <a:lnSpc>
                <a:spcPct val="150000"/>
              </a:lnSpc>
              <a:buSzPct val="100000"/>
              <a:buChar char="•"/>
            </a:pPr>
            <a:r>
              <a:rPr dirty="0" sz="1600" lang="en-US">
                <a:solidFill>
                  <a:srgbClr val="1F2937"/>
                </a:solidFill>
                <a:latin typeface="Calibri" pitchFamily="34" charset="0"/>
                <a:ea typeface="Calibri" pitchFamily="34" charset="-122"/>
                <a:cs typeface="Calibri" pitchFamily="34" charset="-120"/>
              </a:rPr>
              <a:t>Much slower per recalibration</a:t>
            </a:r>
            <a:endParaRPr dirty="0" sz="1600" lang="en-US"/>
          </a:p>
          <a:p>
            <a:pPr indent="-228600" marL="228600">
              <a:lnSpc>
                <a:spcPct val="150000"/>
              </a:lnSpc>
              <a:buSzPct val="100000"/>
              <a:buChar char="•"/>
            </a:pPr>
            <a:endParaRPr dirty="0" sz="1600" lang="en-US"/>
          </a:p>
          <a:p>
            <a:pPr>
              <a:lnSpc>
                <a:spcPct val="150000"/>
              </a:lnSpc>
              <a:buSzPct val="100000"/>
            </a:pPr>
            <a:r>
              <a:rPr dirty="0" sz="1600" lang="en-US">
                <a:solidFill>
                  <a:srgbClr val="1F2937"/>
                </a:solidFill>
                <a:latin typeface="Calibri" pitchFamily="34" charset="0"/>
                <a:ea typeface="Calibri" pitchFamily="34" charset="-122"/>
                <a:cs typeface="Calibri" pitchFamily="34" charset="-120"/>
              </a:rPr>
              <a:t>Practical compromise:</a:t>
            </a:r>
            <a:endParaRPr dirty="0" sz="1600" lang="en-US"/>
          </a:p>
          <a:p>
            <a:pPr indent="-228600" marL="228600">
              <a:lnSpc>
                <a:spcPct val="150000"/>
              </a:lnSpc>
              <a:buSzPct val="100000"/>
              <a:buChar char="•"/>
            </a:pPr>
            <a:r>
              <a:rPr dirty="0" sz="1600" lang="en-US">
                <a:solidFill>
                  <a:srgbClr val="1F2937"/>
                </a:solidFill>
                <a:latin typeface="Calibri" pitchFamily="34" charset="0"/>
                <a:ea typeface="Calibri" pitchFamily="34" charset="-122"/>
                <a:cs typeface="Calibri" pitchFamily="34" charset="-120"/>
              </a:rPr>
              <a:t>Use L-BFGS-B for many perturbations</a:t>
            </a:r>
            <a:endParaRPr dirty="0" sz="1600" lang="en-US"/>
          </a:p>
          <a:p>
            <a:pPr indent="-228600" marL="228600">
              <a:lnSpc>
                <a:spcPct val="150000"/>
              </a:lnSpc>
              <a:buSzPct val="100000"/>
              <a:buChar char="•"/>
            </a:pPr>
            <a:r>
              <a:rPr dirty="0" sz="1600" lang="en-US">
                <a:solidFill>
                  <a:srgbClr val="1F2937"/>
                </a:solidFill>
                <a:latin typeface="Calibri" pitchFamily="34" charset="0"/>
                <a:ea typeface="Calibri" pitchFamily="34" charset="-122"/>
                <a:cs typeface="Calibri" pitchFamily="34" charset="-120"/>
              </a:rPr>
              <a:t>Validate with occasional DE or multi-start checks</a:t>
            </a:r>
            <a:endParaRPr dirty="0" sz="1600" lang="en-US"/>
          </a:p>
        </p:txBody>
      </p:sp>
      <p:sp>
        <p:nvSpPr>
          <p:cNvPr id="1048636" name="Textfeld 4"/>
          <p:cNvSpPr txBox="1"/>
          <p:nvPr/>
        </p:nvSpPr>
        <p:spPr>
          <a:xfrm>
            <a:off x="11836095" y="6485467"/>
            <a:ext cx="355600" cy="369332"/>
          </a:xfrm>
          <a:prstGeom prst="rect"/>
          <a:noFill/>
        </p:spPr>
        <p:txBody>
          <a:bodyPr rtlCol="0" wrap="square">
            <a:spAutoFit/>
          </a:bodyPr>
          <a:p>
            <a:r>
              <a:rPr dirty="0" lang="de-DE"/>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31" name=""/>
        <p:cNvGrpSpPr/>
        <p:nvPr/>
      </p:nvGrpSpPr>
      <p:grpSpPr>
        <a:xfrm>
          <a:off x="0" y="0"/>
          <a:ext cx="0" cy="0"/>
          <a:chOff x="0" y="0"/>
          <a:chExt cx="0" cy="0"/>
        </a:xfrm>
      </p:grpSpPr>
      <p:sp>
        <p:nvSpPr>
          <p:cNvPr id="1048618" name="Shape 0"/>
          <p:cNvSpPr/>
          <p:nvPr/>
        </p:nvSpPr>
        <p:spPr>
          <a:xfrm>
            <a:off x="0" y="0"/>
            <a:ext cx="12191695" cy="658368"/>
          </a:xfrm>
          <a:prstGeom prst="rect"/>
          <a:solidFill>
            <a:srgbClr val="0B3D91"/>
          </a:solidFill>
          <a:ln w="12700">
            <a:solidFill>
              <a:srgbClr val="0B3D91"/>
            </a:solidFill>
            <a:prstDash val="solid"/>
          </a:ln>
        </p:spPr>
        <p:txBody>
          <a:bodyPr/>
          <a:p>
            <a:endParaRPr lang="en-DE"/>
          </a:p>
        </p:txBody>
      </p:sp>
      <p:sp>
        <p:nvSpPr>
          <p:cNvPr id="1048619" name="Text 1"/>
          <p:cNvSpPr/>
          <p:nvPr/>
        </p:nvSpPr>
        <p:spPr>
          <a:xfrm>
            <a:off x="548640" y="128016"/>
            <a:ext cx="11094415" cy="329184"/>
          </a:xfrm>
          <a:prstGeom prst="rect"/>
          <a:noFill/>
        </p:spPr>
        <p:txBody>
          <a:bodyPr anchor="ctr" rtlCol="0" wrap="square"/>
          <a:p>
            <a:pPr indent="0" marL="0">
              <a:buNone/>
            </a:pPr>
            <a:r>
              <a:rPr b="1" dirty="0" sz="2600" lang="en-US">
                <a:solidFill>
                  <a:srgbClr val="FFFFFF"/>
                </a:solidFill>
                <a:latin typeface="Calibri" pitchFamily="34" charset="0"/>
                <a:ea typeface="Calibri" pitchFamily="34" charset="-122"/>
                <a:cs typeface="Calibri" pitchFamily="34" charset="-120"/>
              </a:rPr>
              <a:t>Hydrographs: baseline vs perturbed + recalibrated</a:t>
            </a:r>
            <a:endParaRPr dirty="0" sz="2600" lang="en-US"/>
          </a:p>
        </p:txBody>
      </p:sp>
      <p:sp>
        <p:nvSpPr>
          <p:cNvPr id="1048620" name="Text 2"/>
          <p:cNvSpPr/>
          <p:nvPr/>
        </p:nvSpPr>
        <p:spPr>
          <a:xfrm>
            <a:off x="548640" y="402336"/>
            <a:ext cx="11094415" cy="201168"/>
          </a:xfrm>
          <a:prstGeom prst="rect"/>
          <a:noFill/>
        </p:spPr>
        <p:txBody>
          <a:bodyPr anchor="ctr" rtlCol="0" wrap="square"/>
          <a:p>
            <a:pPr indent="0" marL="0">
              <a:buNone/>
            </a:pPr>
            <a:endParaRPr dirty="0" sz="1400" lang="en-US"/>
          </a:p>
        </p:txBody>
      </p:sp>
      <p:sp>
        <p:nvSpPr>
          <p:cNvPr id="1048621" name="Shape 3"/>
          <p:cNvSpPr/>
          <p:nvPr/>
        </p:nvSpPr>
        <p:spPr>
          <a:xfrm>
            <a:off x="477251" y="1097280"/>
            <a:ext cx="5440680" cy="5440680"/>
          </a:xfrm>
          <a:prstGeom prst="roundRect"/>
          <a:solidFill>
            <a:srgbClr val="FFFFFF"/>
          </a:solidFill>
          <a:ln w="12700">
            <a:solidFill>
              <a:srgbClr val="D1D5DB"/>
            </a:solidFill>
            <a:prstDash val="solid"/>
          </a:ln>
        </p:spPr>
        <p:txBody>
          <a:bodyPr/>
          <a:p>
            <a:endParaRPr lang="en-DE"/>
          </a:p>
        </p:txBody>
      </p:sp>
      <p:sp>
        <p:nvSpPr>
          <p:cNvPr id="1048622" name="Text 4"/>
          <p:cNvSpPr/>
          <p:nvPr/>
        </p:nvSpPr>
        <p:spPr>
          <a:xfrm>
            <a:off x="960120" y="1188720"/>
            <a:ext cx="4892040" cy="274320"/>
          </a:xfrm>
          <a:prstGeom prst="rect"/>
          <a:noFill/>
        </p:spPr>
        <p:txBody>
          <a:bodyPr anchor="ctr" rtlCol="0" wrap="square"/>
          <a:p>
            <a:pPr indent="0" marL="0">
              <a:buNone/>
            </a:pPr>
            <a:endParaRPr dirty="0" sz="1400" lang="en-US"/>
          </a:p>
        </p:txBody>
      </p:sp>
      <p:sp>
        <p:nvSpPr>
          <p:cNvPr id="1048623" name="Shape 5"/>
          <p:cNvSpPr/>
          <p:nvPr/>
        </p:nvSpPr>
        <p:spPr>
          <a:xfrm>
            <a:off x="6400800" y="1097280"/>
            <a:ext cx="5440680" cy="5440680"/>
          </a:xfrm>
          <a:prstGeom prst="roundRect"/>
          <a:solidFill>
            <a:srgbClr val="FFFFFF"/>
          </a:solidFill>
          <a:ln w="12700">
            <a:solidFill>
              <a:srgbClr val="D1D5DB"/>
            </a:solidFill>
            <a:prstDash val="solid"/>
          </a:ln>
        </p:spPr>
        <p:txBody>
          <a:bodyPr/>
          <a:p>
            <a:endParaRPr lang="en-DE"/>
          </a:p>
        </p:txBody>
      </p:sp>
      <p:sp>
        <p:nvSpPr>
          <p:cNvPr id="1048624" name="Text 6"/>
          <p:cNvSpPr/>
          <p:nvPr/>
        </p:nvSpPr>
        <p:spPr>
          <a:xfrm>
            <a:off x="6629400" y="1188720"/>
            <a:ext cx="4617720" cy="274320"/>
          </a:xfrm>
          <a:prstGeom prst="rect"/>
          <a:noFill/>
        </p:spPr>
        <p:txBody>
          <a:bodyPr anchor="ctr" rtlCol="0" wrap="square"/>
          <a:p>
            <a:pPr indent="0" marL="0">
              <a:buNone/>
            </a:pPr>
            <a:endParaRPr dirty="0" sz="1400" lang="en-US"/>
          </a:p>
        </p:txBody>
      </p:sp>
      <p:pic>
        <p:nvPicPr>
          <p:cNvPr id="2097167" name="Grafik 3" descr="Ein Bild, das Text, Reihe, Diagramm, Screenshot enthält.  KI-generierte Inhalte können fehlerhaft sein."/>
          <p:cNvPicPr>
            <a:picLocks noChangeAspect="1"/>
          </p:cNvPicPr>
          <p:nvPr/>
        </p:nvPicPr>
        <p:blipFill>
          <a:blip xmlns:r="http://schemas.openxmlformats.org/officeDocument/2006/relationships" r:embed="rId1"/>
          <a:stretch>
            <a:fillRect/>
          </a:stretch>
        </p:blipFill>
        <p:spPr>
          <a:xfrm>
            <a:off x="960120" y="2718842"/>
            <a:ext cx="4519507" cy="2225106"/>
          </a:xfrm>
          <a:prstGeom prst="rect"/>
        </p:spPr>
      </p:pic>
      <p:pic>
        <p:nvPicPr>
          <p:cNvPr id="2097168" name="Grafik 11"/>
          <p:cNvPicPr>
            <a:picLocks noChangeAspect="1"/>
          </p:cNvPicPr>
          <p:nvPr/>
        </p:nvPicPr>
        <p:blipFill>
          <a:blip xmlns:r="http://schemas.openxmlformats.org/officeDocument/2006/relationships" r:embed="rId2"/>
          <a:stretch>
            <a:fillRect/>
          </a:stretch>
        </p:blipFill>
        <p:spPr>
          <a:xfrm>
            <a:off x="6547653" y="1901952"/>
            <a:ext cx="5144948" cy="3077619"/>
          </a:xfrm>
          <a:prstGeom prst="rect"/>
        </p:spPr>
      </p:pic>
      <p:pic>
        <p:nvPicPr>
          <p:cNvPr id="2097169" name="Grafik 12" descr="Ein Bild, das Reihe, Diagramm, Screenshot, Schrift enthält.  KI-generierte Inhalte können fehlerhaft sein."/>
          <p:cNvPicPr>
            <a:picLocks noChangeAspect="1"/>
          </p:cNvPicPr>
          <p:nvPr/>
        </p:nvPicPr>
        <p:blipFill>
          <a:blip xmlns:r="http://schemas.openxmlformats.org/officeDocument/2006/relationships" r:embed="rId3"/>
          <a:stretch>
            <a:fillRect/>
          </a:stretch>
        </p:blipFill>
        <p:spPr>
          <a:xfrm>
            <a:off x="6781467" y="5040300"/>
            <a:ext cx="4677319" cy="743943"/>
          </a:xfrm>
          <a:prstGeom prst="rect"/>
        </p:spPr>
      </p:pic>
      <p:pic>
        <p:nvPicPr>
          <p:cNvPr id="2097170" name="Grafik 14" descr="Ein Bild, das Reihe, Diagramm, Screenshot, Schrift enthält.  KI-generierte Inhalte können fehlerhaft sein."/>
          <p:cNvPicPr>
            <a:picLocks noChangeAspect="1"/>
          </p:cNvPicPr>
          <p:nvPr/>
        </p:nvPicPr>
        <p:blipFill>
          <a:blip xmlns:r="http://schemas.openxmlformats.org/officeDocument/2006/relationships" r:embed="rId4"/>
          <a:stretch>
            <a:fillRect/>
          </a:stretch>
        </p:blipFill>
        <p:spPr>
          <a:xfrm>
            <a:off x="6849366" y="5743419"/>
            <a:ext cx="4609420" cy="604157"/>
          </a:xfrm>
          <a:prstGeom prst="rect"/>
        </p:spPr>
      </p:pic>
      <p:sp>
        <p:nvSpPr>
          <p:cNvPr id="1048625" name="Textfeld 4"/>
          <p:cNvSpPr txBox="1"/>
          <p:nvPr/>
        </p:nvSpPr>
        <p:spPr>
          <a:xfrm>
            <a:off x="11836095" y="6485467"/>
            <a:ext cx="355600" cy="369332"/>
          </a:xfrm>
          <a:prstGeom prst="rect"/>
          <a:noFill/>
        </p:spPr>
        <p:txBody>
          <a:bodyPr rtlCol="0" wrap="square">
            <a:spAutoFit/>
          </a:bodyPr>
          <a:p>
            <a:r>
              <a:rPr dirty="0" lang="de-DE"/>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25" name=""/>
        <p:cNvGrpSpPr/>
        <p:nvPr/>
      </p:nvGrpSpPr>
      <p:grpSpPr>
        <a:xfrm>
          <a:off x="0" y="0"/>
          <a:ext cx="0" cy="0"/>
          <a:chOff x="0" y="0"/>
          <a:chExt cx="0" cy="0"/>
        </a:xfrm>
      </p:grpSpPr>
      <p:sp>
        <p:nvSpPr>
          <p:cNvPr id="1048592" name="Shape 0"/>
          <p:cNvSpPr/>
          <p:nvPr/>
        </p:nvSpPr>
        <p:spPr>
          <a:xfrm>
            <a:off x="0" y="0"/>
            <a:ext cx="12191695" cy="822960"/>
          </a:xfrm>
          <a:prstGeom prst="rect"/>
          <a:solidFill>
            <a:srgbClr val="0B3D91"/>
          </a:solidFill>
          <a:ln w="12700">
            <a:solidFill>
              <a:srgbClr val="0B3D91"/>
            </a:solidFill>
            <a:prstDash val="solid"/>
          </a:ln>
        </p:spPr>
        <p:txBody>
          <a:bodyPr/>
          <a:p>
            <a:endParaRPr lang="en-DE"/>
          </a:p>
        </p:txBody>
      </p:sp>
      <p:sp>
        <p:nvSpPr>
          <p:cNvPr id="1048593" name="Text 1"/>
          <p:cNvSpPr/>
          <p:nvPr/>
        </p:nvSpPr>
        <p:spPr>
          <a:xfrm>
            <a:off x="548640" y="128016"/>
            <a:ext cx="11094415" cy="329184"/>
          </a:xfrm>
          <a:prstGeom prst="rect"/>
          <a:noFill/>
        </p:spPr>
        <p:txBody>
          <a:bodyPr anchor="ctr" rtlCol="0" wrap="square"/>
          <a:p>
            <a:r>
              <a:rPr b="1" dirty="0" sz="2600" lang="en-US">
                <a:solidFill>
                  <a:srgbClr val="FFFFFF"/>
                </a:solidFill>
                <a:latin typeface="Calibri" pitchFamily="34" charset="0"/>
                <a:ea typeface="Calibri" pitchFamily="34" charset="-122"/>
                <a:cs typeface="Calibri" pitchFamily="34" charset="-120"/>
              </a:rPr>
              <a:t>Input Uncertainty of Parameters – Snow module</a:t>
            </a:r>
          </a:p>
        </p:txBody>
      </p:sp>
      <p:sp>
        <p:nvSpPr>
          <p:cNvPr id="1048594" name="Text 2"/>
          <p:cNvSpPr/>
          <p:nvPr/>
        </p:nvSpPr>
        <p:spPr>
          <a:xfrm>
            <a:off x="548640" y="502920"/>
            <a:ext cx="11094415" cy="201168"/>
          </a:xfrm>
          <a:prstGeom prst="rect"/>
          <a:noFill/>
        </p:spPr>
        <p:txBody>
          <a:bodyPr anchor="ctr" rtlCol="0" wrap="square"/>
          <a:p>
            <a:pPr indent="0" marL="0">
              <a:buNone/>
            </a:pPr>
            <a:r>
              <a:rPr dirty="0" sz="1400" lang="en-US">
                <a:solidFill>
                  <a:schemeClr val="bg1"/>
                </a:solidFill>
              </a:rPr>
              <a:t>Analysis of input uncertainty</a:t>
            </a:r>
          </a:p>
        </p:txBody>
      </p:sp>
      <p:pic>
        <p:nvPicPr>
          <p:cNvPr id="2097163" name="Picture 4"/>
          <p:cNvPicPr>
            <a:picLocks noChangeAspect="1" noChangeArrowheads="1"/>
          </p:cNvPicPr>
          <p:nvPr/>
        </p:nvPicPr>
        <p:blipFill>
          <a:blip xmlns:r="http://schemas.openxmlformats.org/officeDocument/2006/relationships" r:embed="rId1"/>
          <a:srcRect/>
          <a:stretch>
            <a:fillRect/>
          </a:stretch>
        </p:blipFill>
        <p:spPr bwMode="auto">
          <a:xfrm>
            <a:off x="423334" y="1105854"/>
            <a:ext cx="4123266" cy="2433761"/>
          </a:xfrm>
          <a:prstGeom prst="rect"/>
          <a:noFill/>
          <a:ln w="28575">
            <a:solidFill>
              <a:srgbClr val="002060"/>
            </a:solidFill>
          </a:ln>
        </p:spPr>
      </p:pic>
      <p:pic>
        <p:nvPicPr>
          <p:cNvPr id="2097164" name="Picture 6"/>
          <p:cNvPicPr>
            <a:picLocks noChangeAspect="1" noChangeArrowheads="1"/>
          </p:cNvPicPr>
          <p:nvPr/>
        </p:nvPicPr>
        <p:blipFill>
          <a:blip xmlns:r="http://schemas.openxmlformats.org/officeDocument/2006/relationships" r:embed="rId2"/>
          <a:srcRect/>
          <a:stretch>
            <a:fillRect/>
          </a:stretch>
        </p:blipFill>
        <p:spPr bwMode="auto">
          <a:xfrm>
            <a:off x="365093" y="3862791"/>
            <a:ext cx="4181507" cy="2492289"/>
          </a:xfrm>
          <a:prstGeom prst="rect"/>
          <a:noFill/>
          <a:ln w="28575">
            <a:solidFill>
              <a:srgbClr val="002060"/>
            </a:solidFill>
          </a:ln>
        </p:spPr>
      </p:pic>
      <p:pic>
        <p:nvPicPr>
          <p:cNvPr id="2097165" name="Grafik 9" descr="Ein Bild, das Text, Reihe, Diagramm, Screenshot enthält.  KI-generierte Inhalte können fehlerhaft sein."/>
          <p:cNvPicPr>
            <a:picLocks noChangeAspect="1"/>
          </p:cNvPicPr>
          <p:nvPr/>
        </p:nvPicPr>
        <p:blipFill>
          <a:blip xmlns:r="http://schemas.openxmlformats.org/officeDocument/2006/relationships" r:embed="rId3"/>
          <a:stretch>
            <a:fillRect/>
          </a:stretch>
        </p:blipFill>
        <p:spPr>
          <a:xfrm>
            <a:off x="5118795" y="3876545"/>
            <a:ext cx="4534591" cy="2492289"/>
          </a:xfrm>
          <a:prstGeom prst="rect"/>
          <a:ln w="28575">
            <a:solidFill>
              <a:srgbClr val="002060"/>
            </a:solidFill>
          </a:ln>
        </p:spPr>
      </p:pic>
      <p:pic>
        <p:nvPicPr>
          <p:cNvPr id="2097166" name="Grafik 16" descr="Ein Bild, das Text, Reihe, Screenshot, Diagramm enthält.  KI-generierte Inhalte können fehlerhaft sein."/>
          <p:cNvPicPr>
            <a:picLocks noChangeAspect="1"/>
          </p:cNvPicPr>
          <p:nvPr/>
        </p:nvPicPr>
        <p:blipFill>
          <a:blip xmlns:r="http://schemas.openxmlformats.org/officeDocument/2006/relationships" r:embed="rId4"/>
          <a:stretch>
            <a:fillRect/>
          </a:stretch>
        </p:blipFill>
        <p:spPr>
          <a:xfrm>
            <a:off x="5118794" y="1105855"/>
            <a:ext cx="4534591" cy="2433761"/>
          </a:xfrm>
          <a:prstGeom prst="rect"/>
          <a:ln w="28575">
            <a:solidFill>
              <a:srgbClr val="002060"/>
            </a:solidFill>
          </a:ln>
        </p:spPr>
      </p:pic>
      <p:sp>
        <p:nvSpPr>
          <p:cNvPr id="1048595" name="Textfeld 18"/>
          <p:cNvSpPr txBox="1"/>
          <p:nvPr/>
        </p:nvSpPr>
        <p:spPr>
          <a:xfrm>
            <a:off x="9982200" y="1092101"/>
            <a:ext cx="1938866" cy="5450840"/>
          </a:xfrm>
          <a:prstGeom prst="rect"/>
          <a:noFill/>
          <a:ln w="28575">
            <a:solidFill>
              <a:srgbClr val="002060"/>
            </a:solidFill>
          </a:ln>
        </p:spPr>
        <p:txBody>
          <a:bodyPr rtlCol="0" wrap="square">
            <a:spAutoFit/>
          </a:bodyPr>
          <a:p>
            <a:pPr indent="-285750" marL="285750">
              <a:buFont typeface="Wingdings" panose="05000000000000000000" pitchFamily="2" charset="2"/>
              <a:buChar char="Ø"/>
            </a:pPr>
            <a:r>
              <a:rPr dirty="0" sz="1200" lang="de-DE"/>
              <a:t>HBV </a:t>
            </a:r>
            <a:r>
              <a:rPr dirty="0" sz="1200" lang="de-DE" err="1"/>
              <a:t>goes</a:t>
            </a:r>
            <a:r>
              <a:rPr dirty="0" sz="1200" lang="de-DE"/>
              <a:t> </a:t>
            </a:r>
            <a:r>
              <a:rPr dirty="0" sz="1200" lang="de-DE" err="1"/>
              <a:t>for</a:t>
            </a:r>
            <a:r>
              <a:rPr dirty="0" sz="1200" lang="de-DE"/>
              <a:t> </a:t>
            </a:r>
            <a:r>
              <a:rPr dirty="0" sz="1200" lang="de-DE" err="1"/>
              <a:t>the</a:t>
            </a:r>
            <a:r>
              <a:rPr dirty="0" sz="1200" lang="de-DE"/>
              <a:t> same </a:t>
            </a:r>
            <a:r>
              <a:rPr dirty="0" sz="1200" lang="de-DE" err="1"/>
              <a:t>thresholdtemperature</a:t>
            </a:r>
            <a:r>
              <a:rPr dirty="0" sz="1200" lang="de-DE"/>
              <a:t> </a:t>
            </a:r>
            <a:r>
              <a:rPr dirty="0" sz="1200" lang="de-DE" err="1"/>
              <a:t>which</a:t>
            </a:r>
            <a:r>
              <a:rPr dirty="0" sz="1200" lang="de-DE"/>
              <a:t> </a:t>
            </a:r>
            <a:r>
              <a:rPr dirty="0" sz="1200" lang="de-DE" err="1"/>
              <a:t>makes</a:t>
            </a:r>
            <a:r>
              <a:rPr dirty="0" sz="1200" lang="de-DE"/>
              <a:t> sense </a:t>
            </a:r>
            <a:r>
              <a:rPr dirty="0" sz="1200" lang="de-DE" err="1"/>
              <a:t>as</a:t>
            </a:r>
            <a:r>
              <a:rPr dirty="0" sz="1200" lang="de-DE"/>
              <a:t> </a:t>
            </a:r>
            <a:r>
              <a:rPr dirty="0" sz="1200" lang="de-DE" err="1"/>
              <a:t>the</a:t>
            </a:r>
            <a:r>
              <a:rPr dirty="0" sz="1200" lang="de-DE"/>
              <a:t> </a:t>
            </a:r>
            <a:r>
              <a:rPr dirty="0" sz="1200" lang="de-DE" err="1"/>
              <a:t>snow</a:t>
            </a:r>
            <a:r>
              <a:rPr dirty="0" sz="1200" lang="de-DE"/>
              <a:t> </a:t>
            </a:r>
            <a:r>
              <a:rPr dirty="0" sz="1200" lang="de-DE" err="1"/>
              <a:t>melting</a:t>
            </a:r>
            <a:r>
              <a:rPr dirty="0" sz="1200" lang="de-DE"/>
              <a:t> </a:t>
            </a:r>
            <a:r>
              <a:rPr dirty="0" sz="1200" lang="de-DE" err="1"/>
              <a:t>process</a:t>
            </a:r>
            <a:r>
              <a:rPr dirty="0" sz="1200" lang="de-DE"/>
              <a:t> </a:t>
            </a:r>
            <a:r>
              <a:rPr dirty="0" sz="1200" lang="de-DE" err="1"/>
              <a:t>should</a:t>
            </a:r>
            <a:r>
              <a:rPr dirty="0" sz="1200" lang="de-DE"/>
              <a:t> beging </a:t>
            </a:r>
            <a:r>
              <a:rPr dirty="0" sz="1200" lang="de-DE" err="1"/>
              <a:t>independently</a:t>
            </a:r>
            <a:r>
              <a:rPr dirty="0" sz="1200" lang="de-DE"/>
              <a:t> </a:t>
            </a:r>
            <a:r>
              <a:rPr dirty="0" sz="1200" lang="de-DE" err="1"/>
              <a:t>of</a:t>
            </a:r>
            <a:r>
              <a:rPr dirty="0" sz="1200" lang="de-DE"/>
              <a:t> </a:t>
            </a:r>
            <a:r>
              <a:rPr dirty="0" sz="1200" lang="de-DE" err="1"/>
              <a:t>the</a:t>
            </a:r>
            <a:r>
              <a:rPr dirty="0" sz="1200" lang="de-DE"/>
              <a:t> </a:t>
            </a:r>
            <a:r>
              <a:rPr dirty="0" sz="1200" lang="de-DE" err="1"/>
              <a:t>precipitation</a:t>
            </a:r>
            <a:r>
              <a:rPr dirty="0" sz="1200" lang="de-DE"/>
              <a:t>. </a:t>
            </a:r>
          </a:p>
          <a:p>
            <a:endParaRPr dirty="0" sz="1200" lang="de-DE"/>
          </a:p>
          <a:p>
            <a:endParaRPr dirty="0" sz="1200" lang="de-DE"/>
          </a:p>
          <a:p>
            <a:endParaRPr dirty="0" sz="1200" lang="de-DE"/>
          </a:p>
          <a:p>
            <a:endParaRPr dirty="0" sz="1200" lang="de-DE"/>
          </a:p>
          <a:p>
            <a:endParaRPr dirty="0" sz="1200" lang="de-DE"/>
          </a:p>
          <a:p>
            <a:endParaRPr dirty="0" sz="1200" lang="de-DE"/>
          </a:p>
          <a:p>
            <a:endParaRPr dirty="0" sz="1200" lang="de-DE"/>
          </a:p>
          <a:p>
            <a:endParaRPr dirty="0" sz="1200" lang="de-DE"/>
          </a:p>
          <a:p>
            <a:endParaRPr dirty="0" sz="1200" lang="de-DE"/>
          </a:p>
          <a:p>
            <a:pPr indent="-285750" marL="285750">
              <a:buFont typeface="Wingdings" panose="05000000000000000000" pitchFamily="2" charset="2"/>
              <a:buChar char="Ø"/>
            </a:pPr>
            <a:r>
              <a:rPr dirty="0" sz="1200" lang="de-DE"/>
              <a:t>Permanent </a:t>
            </a:r>
            <a:r>
              <a:rPr dirty="0" sz="1200" lang="de-DE" err="1"/>
              <a:t>Melting</a:t>
            </a:r>
            <a:r>
              <a:rPr dirty="0" sz="1200" lang="de-DE"/>
              <a:t> </a:t>
            </a:r>
            <a:r>
              <a:rPr dirty="0" sz="1200" lang="de-DE" err="1"/>
              <a:t>Factor</a:t>
            </a:r>
            <a:r>
              <a:rPr dirty="0" sz="1200" lang="de-DE"/>
              <a:t> also </a:t>
            </a:r>
            <a:r>
              <a:rPr dirty="0" sz="1200" lang="de-DE" err="1"/>
              <a:t>small</a:t>
            </a:r>
            <a:r>
              <a:rPr dirty="0" sz="1200" lang="de-DE"/>
              <a:t> </a:t>
            </a:r>
            <a:r>
              <a:rPr dirty="0" sz="1200" lang="de-DE" err="1"/>
              <a:t>changes</a:t>
            </a:r>
            <a:r>
              <a:rPr dirty="0" sz="1200" lang="de-DE"/>
              <a:t> </a:t>
            </a:r>
            <a:r>
              <a:rPr dirty="0" sz="1200" lang="de-DE" err="1"/>
              <a:t>as</a:t>
            </a:r>
            <a:r>
              <a:rPr dirty="0" sz="1200" lang="de-DE"/>
              <a:t> </a:t>
            </a:r>
            <a:r>
              <a:rPr dirty="0" sz="1200" lang="de-DE" err="1"/>
              <a:t>the</a:t>
            </a:r>
            <a:r>
              <a:rPr dirty="0" sz="1200" lang="de-DE"/>
              <a:t> </a:t>
            </a:r>
            <a:r>
              <a:rPr dirty="0" sz="1200" lang="de-DE" err="1"/>
              <a:t>factor</a:t>
            </a:r>
            <a:r>
              <a:rPr dirty="0" sz="1200" lang="de-DE"/>
              <a:t> </a:t>
            </a:r>
            <a:r>
              <a:rPr dirty="0" sz="1200" lang="de-DE" err="1"/>
              <a:t>is</a:t>
            </a:r>
            <a:r>
              <a:rPr dirty="0" sz="1200" lang="de-DE"/>
              <a:t> </a:t>
            </a:r>
            <a:r>
              <a:rPr dirty="0" sz="1200" lang="de-DE" err="1"/>
              <a:t>related</a:t>
            </a:r>
            <a:r>
              <a:rPr dirty="0" sz="1200" lang="de-DE"/>
              <a:t> </a:t>
            </a:r>
            <a:r>
              <a:rPr dirty="0" sz="1200" lang="de-DE" err="1"/>
              <a:t>to</a:t>
            </a:r>
            <a:r>
              <a:rPr dirty="0" sz="1200" lang="de-DE"/>
              <a:t> </a:t>
            </a:r>
            <a:r>
              <a:rPr dirty="0" sz="1200" lang="de-DE" err="1"/>
              <a:t>the</a:t>
            </a:r>
            <a:r>
              <a:rPr dirty="0" sz="1200" lang="de-DE"/>
              <a:t> </a:t>
            </a:r>
            <a:r>
              <a:rPr dirty="0" sz="1200" lang="de-DE" err="1"/>
              <a:t>pptn</a:t>
            </a:r>
            <a:r>
              <a:rPr dirty="0" sz="1200" lang="de-DE"/>
              <a:t>, </a:t>
            </a:r>
            <a:r>
              <a:rPr dirty="0" sz="1200" lang="de-DE" err="1"/>
              <a:t>however</a:t>
            </a:r>
            <a:r>
              <a:rPr dirty="0" sz="1200" lang="de-DE"/>
              <a:t> </a:t>
            </a:r>
            <a:r>
              <a:rPr dirty="0" sz="1200" lang="de-DE" err="1"/>
              <a:t>should</a:t>
            </a:r>
            <a:r>
              <a:rPr dirty="0" sz="1200" lang="de-DE"/>
              <a:t> not </a:t>
            </a:r>
            <a:r>
              <a:rPr dirty="0" sz="1200" lang="de-DE" err="1"/>
              <a:t>change</a:t>
            </a:r>
            <a:r>
              <a:rPr dirty="0" sz="1200" lang="de-DE"/>
              <a:t> </a:t>
            </a:r>
            <a:r>
              <a:rPr dirty="0" sz="1200" lang="de-DE" err="1"/>
              <a:t>itself</a:t>
            </a:r>
            <a:r>
              <a:rPr dirty="0" sz="1200" lang="de-DE"/>
              <a:t> </a:t>
            </a:r>
            <a:r>
              <a:rPr dirty="0" sz="1200" lang="de-DE" err="1"/>
              <a:t>drastically</a:t>
            </a:r>
            <a:r>
              <a:rPr dirty="0" sz="1200" lang="de-DE"/>
              <a:t> due </a:t>
            </a:r>
            <a:r>
              <a:rPr dirty="0" sz="1200" lang="de-DE" err="1"/>
              <a:t>to</a:t>
            </a:r>
            <a:r>
              <a:rPr dirty="0" sz="1200" lang="de-DE"/>
              <a:t> </a:t>
            </a:r>
            <a:r>
              <a:rPr dirty="0" sz="1200" lang="de-DE" err="1"/>
              <a:t>randomness</a:t>
            </a:r>
            <a:r>
              <a:rPr dirty="0" sz="1200" lang="de-DE"/>
              <a:t> </a:t>
            </a:r>
            <a:r>
              <a:rPr dirty="0" sz="1200" lang="de-DE" err="1"/>
              <a:t>as</a:t>
            </a:r>
            <a:r>
              <a:rPr dirty="0" sz="1200" lang="de-DE"/>
              <a:t> </a:t>
            </a:r>
            <a:r>
              <a:rPr dirty="0" sz="1200" lang="de-DE" err="1"/>
              <a:t>sometimes</a:t>
            </a:r>
            <a:r>
              <a:rPr dirty="0" sz="1200" lang="de-DE"/>
              <a:t> </a:t>
            </a:r>
            <a:r>
              <a:rPr dirty="0" sz="1200" lang="de-DE" err="1"/>
              <a:t>we</a:t>
            </a:r>
            <a:r>
              <a:rPr dirty="0" sz="1200" lang="de-DE"/>
              <a:t> </a:t>
            </a:r>
            <a:r>
              <a:rPr dirty="0" sz="1200" lang="de-DE" err="1"/>
              <a:t>have</a:t>
            </a:r>
            <a:r>
              <a:rPr dirty="0" sz="1200" lang="de-DE"/>
              <a:t> </a:t>
            </a:r>
            <a:r>
              <a:rPr dirty="0" sz="1200" lang="de-DE" err="1"/>
              <a:t>too</a:t>
            </a:r>
            <a:r>
              <a:rPr dirty="0" sz="1200" lang="de-DE"/>
              <a:t> </a:t>
            </a:r>
            <a:r>
              <a:rPr dirty="0" sz="1200" lang="de-DE" err="1"/>
              <a:t>much</a:t>
            </a:r>
            <a:r>
              <a:rPr dirty="0" sz="1200" lang="de-DE"/>
              <a:t> and </a:t>
            </a:r>
            <a:r>
              <a:rPr dirty="0" sz="1200" lang="de-DE" err="1"/>
              <a:t>sometimes</a:t>
            </a:r>
            <a:r>
              <a:rPr dirty="0" sz="1200" lang="de-DE"/>
              <a:t> </a:t>
            </a:r>
            <a:r>
              <a:rPr dirty="0" sz="1200" lang="de-DE" err="1"/>
              <a:t>less</a:t>
            </a:r>
            <a:r>
              <a:rPr dirty="0" sz="1200" lang="de-DE"/>
              <a:t> </a:t>
            </a:r>
            <a:r>
              <a:rPr dirty="0" sz="1200" lang="de-DE" err="1"/>
              <a:t>precipitation</a:t>
            </a:r>
            <a:endParaRPr dirty="0" sz="1200" lang="de-DE"/>
          </a:p>
          <a:p>
            <a:endParaRPr dirty="0" sz="1400" lang="de-DE"/>
          </a:p>
        </p:txBody>
      </p:sp>
      <p:sp>
        <p:nvSpPr>
          <p:cNvPr id="1048596" name="Textfeld 4"/>
          <p:cNvSpPr txBox="1"/>
          <p:nvPr/>
        </p:nvSpPr>
        <p:spPr>
          <a:xfrm>
            <a:off x="11643055" y="6485467"/>
            <a:ext cx="548640" cy="369332"/>
          </a:xfrm>
          <a:prstGeom prst="rect"/>
          <a:noFill/>
        </p:spPr>
        <p:txBody>
          <a:bodyPr rtlCol="0" wrap="square">
            <a:spAutoFit/>
          </a:bodyPr>
          <a:p>
            <a:r>
              <a:rPr dirty="0" lang="de-DE"/>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9" name=""/>
        <p:cNvGrpSpPr/>
        <p:nvPr/>
      </p:nvGrpSpPr>
      <p:grpSpPr>
        <a:xfrm>
          <a:off x="0" y="0"/>
          <a:ext cx="0" cy="0"/>
          <a:chOff x="0" y="0"/>
          <a:chExt cx="0" cy="0"/>
        </a:xfrm>
      </p:grpSpPr>
      <p:sp>
        <p:nvSpPr>
          <p:cNvPr id="1048576" name="Shape 0"/>
          <p:cNvSpPr/>
          <p:nvPr/>
        </p:nvSpPr>
        <p:spPr>
          <a:xfrm>
            <a:off x="0" y="0"/>
            <a:ext cx="12191695" cy="822960"/>
          </a:xfrm>
          <a:prstGeom prst="rect"/>
          <a:solidFill>
            <a:srgbClr val="0B3D91"/>
          </a:solidFill>
          <a:ln w="12700">
            <a:solidFill>
              <a:srgbClr val="0B3D91"/>
            </a:solidFill>
            <a:prstDash val="solid"/>
          </a:ln>
        </p:spPr>
        <p:txBody>
          <a:bodyPr/>
          <a:p>
            <a:endParaRPr lang="en-DE"/>
          </a:p>
        </p:txBody>
      </p:sp>
      <p:sp>
        <p:nvSpPr>
          <p:cNvPr id="1048577" name="Text 1"/>
          <p:cNvSpPr/>
          <p:nvPr/>
        </p:nvSpPr>
        <p:spPr>
          <a:xfrm>
            <a:off x="548640" y="128016"/>
            <a:ext cx="11094415" cy="329184"/>
          </a:xfrm>
          <a:prstGeom prst="rect"/>
          <a:noFill/>
        </p:spPr>
        <p:txBody>
          <a:bodyPr anchor="ctr" rtlCol="0" wrap="square"/>
          <a:p>
            <a:r>
              <a:rPr b="1" dirty="0" sz="2600" lang="en-US">
                <a:solidFill>
                  <a:srgbClr val="FFFFFF"/>
                </a:solidFill>
                <a:latin typeface="Calibri" pitchFamily="34" charset="0"/>
                <a:ea typeface="Calibri" pitchFamily="34" charset="-122"/>
                <a:cs typeface="Calibri" pitchFamily="34" charset="-120"/>
              </a:rPr>
              <a:t>Input Uncertainty of Parameters – Soil module</a:t>
            </a:r>
          </a:p>
        </p:txBody>
      </p:sp>
      <p:sp>
        <p:nvSpPr>
          <p:cNvPr id="1048578" name="Text 2"/>
          <p:cNvSpPr/>
          <p:nvPr/>
        </p:nvSpPr>
        <p:spPr>
          <a:xfrm>
            <a:off x="548640" y="502920"/>
            <a:ext cx="11094415" cy="201168"/>
          </a:xfrm>
          <a:prstGeom prst="rect"/>
          <a:noFill/>
        </p:spPr>
        <p:txBody>
          <a:bodyPr anchor="ctr" rtlCol="0" wrap="square"/>
          <a:p>
            <a:pPr indent="0" marL="0">
              <a:buNone/>
            </a:pPr>
            <a:r>
              <a:rPr dirty="0" sz="1400" lang="en-US">
                <a:solidFill>
                  <a:schemeClr val="bg1"/>
                </a:solidFill>
              </a:rPr>
              <a:t>Analysis of input uncertainty</a:t>
            </a:r>
          </a:p>
        </p:txBody>
      </p:sp>
      <p:pic>
        <p:nvPicPr>
          <p:cNvPr id="2097152" name="Picture 4"/>
          <p:cNvPicPr>
            <a:picLocks noChangeAspect="1" noChangeArrowheads="1"/>
          </p:cNvPicPr>
          <p:nvPr/>
        </p:nvPicPr>
        <p:blipFill>
          <a:blip xmlns:r="http://schemas.openxmlformats.org/officeDocument/2006/relationships" r:embed="rId1"/>
          <a:srcRect/>
          <a:stretch>
            <a:fillRect/>
          </a:stretch>
        </p:blipFill>
        <p:spPr bwMode="auto">
          <a:xfrm>
            <a:off x="443415" y="1105854"/>
            <a:ext cx="4083103" cy="2433761"/>
          </a:xfrm>
          <a:prstGeom prst="rect"/>
          <a:noFill/>
          <a:ln w="28575">
            <a:solidFill>
              <a:srgbClr val="002060"/>
            </a:solidFill>
          </a:ln>
        </p:spPr>
      </p:pic>
      <p:pic>
        <p:nvPicPr>
          <p:cNvPr id="2097153" name="Picture 6"/>
          <p:cNvPicPr>
            <a:picLocks noChangeAspect="1" noChangeArrowheads="1"/>
          </p:cNvPicPr>
          <p:nvPr/>
        </p:nvPicPr>
        <p:blipFill>
          <a:blip xmlns:r="http://schemas.openxmlformats.org/officeDocument/2006/relationships" r:embed="rId2"/>
          <a:srcRect/>
          <a:stretch>
            <a:fillRect/>
          </a:stretch>
        </p:blipFill>
        <p:spPr bwMode="auto">
          <a:xfrm>
            <a:off x="365199" y="3862791"/>
            <a:ext cx="4181295" cy="2492289"/>
          </a:xfrm>
          <a:prstGeom prst="rect"/>
          <a:noFill/>
          <a:ln w="28575">
            <a:solidFill>
              <a:srgbClr val="002060"/>
            </a:solidFill>
          </a:ln>
        </p:spPr>
      </p:pic>
      <p:pic>
        <p:nvPicPr>
          <p:cNvPr id="2097154" name="Grafik 9"/>
          <p:cNvPicPr>
            <a:picLocks noChangeAspect="1"/>
          </p:cNvPicPr>
          <p:nvPr/>
        </p:nvPicPr>
        <p:blipFill>
          <a:blip xmlns:r="http://schemas.openxmlformats.org/officeDocument/2006/relationships" r:embed="rId3"/>
          <a:srcRect/>
          <a:stretch>
            <a:fillRect/>
          </a:stretch>
        </p:blipFill>
        <p:spPr>
          <a:xfrm>
            <a:off x="5118795" y="3958928"/>
            <a:ext cx="4534591" cy="2327523"/>
          </a:xfrm>
          <a:prstGeom prst="rect"/>
          <a:ln w="28575">
            <a:solidFill>
              <a:srgbClr val="002060"/>
            </a:solidFill>
          </a:ln>
        </p:spPr>
      </p:pic>
      <p:pic>
        <p:nvPicPr>
          <p:cNvPr id="2097155" name="Grafik 16"/>
          <p:cNvPicPr>
            <a:picLocks noChangeAspect="1"/>
          </p:cNvPicPr>
          <p:nvPr/>
        </p:nvPicPr>
        <p:blipFill>
          <a:blip xmlns:r="http://schemas.openxmlformats.org/officeDocument/2006/relationships" r:embed="rId4"/>
          <a:srcRect/>
          <a:stretch>
            <a:fillRect/>
          </a:stretch>
        </p:blipFill>
        <p:spPr>
          <a:xfrm>
            <a:off x="5118794" y="1166935"/>
            <a:ext cx="4534591" cy="2311601"/>
          </a:xfrm>
          <a:prstGeom prst="rect"/>
          <a:ln w="28575">
            <a:solidFill>
              <a:srgbClr val="002060"/>
            </a:solidFill>
          </a:ln>
        </p:spPr>
      </p:pic>
      <p:sp>
        <p:nvSpPr>
          <p:cNvPr id="1048579" name="Textfeld 18"/>
          <p:cNvSpPr txBox="1"/>
          <p:nvPr/>
        </p:nvSpPr>
        <p:spPr>
          <a:xfrm>
            <a:off x="9982200" y="1092101"/>
            <a:ext cx="1938866" cy="5425440"/>
          </a:xfrm>
          <a:prstGeom prst="rect"/>
          <a:noFill/>
          <a:ln w="28575">
            <a:solidFill>
              <a:srgbClr val="002060"/>
            </a:solidFill>
          </a:ln>
        </p:spPr>
        <p:txBody>
          <a:bodyPr rtlCol="0" wrap="square">
            <a:spAutoFit/>
          </a:bodyPr>
          <a:p>
            <a:pPr indent="-285750" marL="285750">
              <a:buFont typeface="Wingdings" panose="05000000000000000000" pitchFamily="2" charset="2"/>
              <a:buChar char="Ø"/>
            </a:pPr>
            <a:r>
              <a:rPr dirty="0" sz="1200" lang="de-DE"/>
              <a:t>The </a:t>
            </a:r>
            <a:r>
              <a:rPr dirty="0" sz="1200" lang="de-DE" err="1"/>
              <a:t>field</a:t>
            </a:r>
            <a:r>
              <a:rPr dirty="0" sz="1200" lang="de-DE"/>
              <a:t> </a:t>
            </a:r>
            <a:r>
              <a:rPr dirty="0" sz="1200" lang="de-DE" err="1"/>
              <a:t>capacity</a:t>
            </a:r>
            <a:r>
              <a:rPr dirty="0" sz="1200" lang="de-DE"/>
              <a:t> </a:t>
            </a:r>
            <a:r>
              <a:rPr dirty="0" sz="1200" lang="de-DE" err="1"/>
              <a:t>parameter</a:t>
            </a:r>
            <a:r>
              <a:rPr dirty="0" sz="1200" lang="de-DE"/>
              <a:t> </a:t>
            </a:r>
            <a:r>
              <a:rPr dirty="0" sz="1200" lang="de-DE" err="1"/>
              <a:t>seems</a:t>
            </a:r>
            <a:r>
              <a:rPr dirty="0" sz="1200" lang="de-DE"/>
              <a:t> </a:t>
            </a:r>
            <a:r>
              <a:rPr dirty="0" sz="1200" lang="de-DE" err="1"/>
              <a:t>to</a:t>
            </a:r>
            <a:r>
              <a:rPr dirty="0" sz="1200" lang="de-DE"/>
              <a:t> </a:t>
            </a:r>
            <a:r>
              <a:rPr dirty="0" sz="1200" lang="de-DE" err="1"/>
              <a:t>have</a:t>
            </a:r>
            <a:r>
              <a:rPr dirty="0" sz="1200" lang="de-DE"/>
              <a:t> </a:t>
            </a:r>
            <a:r>
              <a:rPr dirty="0" sz="1200" lang="de-DE" err="1"/>
              <a:t>more</a:t>
            </a:r>
            <a:r>
              <a:rPr dirty="0" sz="1200" lang="de-DE"/>
              <a:t> </a:t>
            </a:r>
            <a:r>
              <a:rPr dirty="0" sz="1200" lang="de-DE" err="1"/>
              <a:t>stable</a:t>
            </a:r>
            <a:r>
              <a:rPr dirty="0" sz="1200" lang="de-DE"/>
              <a:t> and </a:t>
            </a:r>
            <a:r>
              <a:rPr dirty="0" sz="1200" lang="de-DE" err="1"/>
              <a:t>less</a:t>
            </a:r>
            <a:r>
              <a:rPr dirty="0" sz="1200" lang="de-DE"/>
              <a:t> </a:t>
            </a:r>
            <a:r>
              <a:rPr dirty="0" sz="1200" lang="de-DE" err="1"/>
              <a:t>stable</a:t>
            </a:r>
            <a:r>
              <a:rPr dirty="0" sz="1200" lang="de-DE"/>
              <a:t> </a:t>
            </a:r>
            <a:r>
              <a:rPr dirty="0" sz="1200" lang="de-DE" err="1"/>
              <a:t>values</a:t>
            </a:r>
            <a:r>
              <a:rPr dirty="0" sz="1200" lang="de-DE"/>
              <a:t>. The </a:t>
            </a:r>
            <a:r>
              <a:rPr dirty="0" sz="1200" lang="de-DE" err="1"/>
              <a:t>reference</a:t>
            </a:r>
            <a:r>
              <a:rPr dirty="0" sz="1200" lang="de-DE"/>
              <a:t> </a:t>
            </a:r>
            <a:r>
              <a:rPr dirty="0" sz="1200" lang="de-DE" err="1"/>
              <a:t>value</a:t>
            </a:r>
            <a:r>
              <a:rPr dirty="0" sz="1200" lang="de-DE"/>
              <a:t> also </a:t>
            </a:r>
            <a:r>
              <a:rPr dirty="0" sz="1200" lang="de-DE" err="1"/>
              <a:t>seems</a:t>
            </a:r>
            <a:r>
              <a:rPr dirty="0" sz="1200" lang="de-DE"/>
              <a:t> </a:t>
            </a:r>
            <a:r>
              <a:rPr dirty="0" sz="1200" lang="de-DE" err="1"/>
              <a:t>to</a:t>
            </a:r>
            <a:r>
              <a:rPr dirty="0" sz="1200" lang="de-DE"/>
              <a:t> </a:t>
            </a:r>
            <a:r>
              <a:rPr dirty="0" sz="1200" lang="de-DE" err="1"/>
              <a:t>be</a:t>
            </a:r>
            <a:r>
              <a:rPr dirty="0" sz="1200" lang="de-DE"/>
              <a:t> </a:t>
            </a:r>
            <a:r>
              <a:rPr dirty="0" sz="1200" lang="de-DE" err="1"/>
              <a:t>way</a:t>
            </a:r>
            <a:r>
              <a:rPr dirty="0" sz="1200" lang="de-DE"/>
              <a:t> off.</a:t>
            </a:r>
          </a:p>
          <a:p>
            <a:pPr indent="-285750" marL="285750">
              <a:buFont typeface="Wingdings" panose="05000000000000000000" pitchFamily="2" charset="2"/>
              <a:buChar char="Ø"/>
            </a:pPr>
            <a:endParaRPr dirty="0" sz="1200" lang="de-DE"/>
          </a:p>
          <a:p>
            <a:pPr indent="-285750" marL="285750">
              <a:buFont typeface="Wingdings" panose="05000000000000000000" pitchFamily="2" charset="2"/>
              <a:buChar char="Ø"/>
            </a:pPr>
            <a:endParaRPr dirty="0" sz="1200" lang="de-DE"/>
          </a:p>
          <a:p>
            <a:pPr indent="-285750" marL="285750">
              <a:buFont typeface="Wingdings" panose="05000000000000000000" pitchFamily="2" charset="2"/>
              <a:buChar char="Ø"/>
            </a:pPr>
            <a:endParaRPr dirty="0" sz="1200" lang="de-DE"/>
          </a:p>
          <a:p>
            <a:pPr indent="-285750" marL="285750">
              <a:buFont typeface="Wingdings" panose="05000000000000000000" pitchFamily="2" charset="2"/>
              <a:buChar char="Ø"/>
            </a:pPr>
            <a:endParaRPr dirty="0" sz="1200" lang="de-DE"/>
          </a:p>
          <a:p>
            <a:pPr indent="-285750" marL="285750">
              <a:buFont typeface="Wingdings" panose="05000000000000000000" pitchFamily="2" charset="2"/>
              <a:buChar char="Ø"/>
            </a:pPr>
            <a:endParaRPr dirty="0" sz="1200" lang="de-DE"/>
          </a:p>
          <a:p>
            <a:pPr indent="-285750" marL="285750">
              <a:buFont typeface="Wingdings" panose="05000000000000000000" pitchFamily="2" charset="2"/>
              <a:buChar char="Ø"/>
            </a:pPr>
            <a:endParaRPr dirty="0" sz="1200" lang="de-DE"/>
          </a:p>
          <a:p>
            <a:pPr indent="-285750" marL="285750">
              <a:buFont typeface="Wingdings" panose="05000000000000000000" pitchFamily="2" charset="2"/>
              <a:buChar char="Ø"/>
            </a:pPr>
            <a:endParaRPr dirty="0" sz="1200" lang="de-DE"/>
          </a:p>
          <a:p>
            <a:pPr indent="-285750" marL="285750">
              <a:buFont typeface="Wingdings" panose="05000000000000000000" pitchFamily="2" charset="2"/>
              <a:buChar char="Ø"/>
            </a:pPr>
            <a:endParaRPr dirty="0" sz="1200" lang="de-DE"/>
          </a:p>
          <a:p>
            <a:pPr indent="-285750" marL="285750">
              <a:buFont typeface="Wingdings" panose="05000000000000000000" pitchFamily="2" charset="2"/>
              <a:buChar char="Ø"/>
            </a:pPr>
            <a:endParaRPr dirty="0" sz="1200" lang="de-DE"/>
          </a:p>
          <a:p>
            <a:pPr indent="-285750" marL="285750">
              <a:buFont typeface="Wingdings" panose="05000000000000000000" pitchFamily="2" charset="2"/>
              <a:buChar char="Ø"/>
            </a:pPr>
            <a:endParaRPr dirty="0" sz="1200" lang="de-DE"/>
          </a:p>
          <a:p>
            <a:pPr indent="-285750" marL="285750">
              <a:buFont typeface="Wingdings" panose="05000000000000000000" pitchFamily="2" charset="2"/>
              <a:buChar char="Ø"/>
            </a:pPr>
            <a:r>
              <a:rPr dirty="0" sz="1200" lang="de-DE" err="1"/>
              <a:t>Similarly</a:t>
            </a:r>
            <a:r>
              <a:rPr dirty="0" sz="1200" lang="de-DE"/>
              <a:t>, </a:t>
            </a:r>
            <a:r>
              <a:rPr dirty="0" sz="1200" lang="de-DE" err="1"/>
              <a:t>the</a:t>
            </a:r>
            <a:r>
              <a:rPr dirty="0" sz="1200" lang="de-DE"/>
              <a:t> same </a:t>
            </a:r>
            <a:r>
              <a:rPr dirty="0" sz="1200" lang="de-DE" err="1"/>
              <a:t>can</a:t>
            </a:r>
            <a:r>
              <a:rPr dirty="0" sz="1200" lang="de-DE"/>
              <a:t> </a:t>
            </a:r>
            <a:r>
              <a:rPr dirty="0" sz="1200" lang="de-DE" err="1"/>
              <a:t>be</a:t>
            </a:r>
            <a:r>
              <a:rPr dirty="0" sz="1200" lang="de-DE"/>
              <a:t> </a:t>
            </a:r>
            <a:r>
              <a:rPr dirty="0" sz="1200" lang="de-DE" err="1"/>
              <a:t>seen</a:t>
            </a:r>
            <a:r>
              <a:rPr dirty="0" sz="1200" lang="de-DE"/>
              <a:t> </a:t>
            </a:r>
            <a:r>
              <a:rPr dirty="0" sz="1200" lang="de-DE" err="1"/>
              <a:t>with</a:t>
            </a:r>
            <a:r>
              <a:rPr dirty="0" sz="1200" lang="de-DE"/>
              <a:t> </a:t>
            </a:r>
            <a:r>
              <a:rPr dirty="0" sz="1200" lang="de-DE" err="1"/>
              <a:t>the</a:t>
            </a:r>
            <a:r>
              <a:rPr dirty="0" sz="1200" lang="de-DE"/>
              <a:t> </a:t>
            </a:r>
            <a:r>
              <a:rPr dirty="0" sz="1200" lang="de-DE" err="1"/>
              <a:t>soil</a:t>
            </a:r>
            <a:r>
              <a:rPr dirty="0" sz="1200" lang="de-DE"/>
              <a:t> </a:t>
            </a:r>
            <a:r>
              <a:rPr dirty="0" sz="1200" lang="de-DE" err="1"/>
              <a:t>beta</a:t>
            </a:r>
            <a:r>
              <a:rPr dirty="0" sz="1200" lang="de-DE"/>
              <a:t>. Here </a:t>
            </a:r>
            <a:r>
              <a:rPr dirty="0" sz="1200" lang="de-DE" err="1"/>
              <a:t>however</a:t>
            </a:r>
            <a:r>
              <a:rPr dirty="0" sz="1200" lang="de-DE"/>
              <a:t> </a:t>
            </a:r>
            <a:r>
              <a:rPr dirty="0" sz="1200" lang="de-DE" err="1"/>
              <a:t>the</a:t>
            </a:r>
            <a:r>
              <a:rPr dirty="0" sz="1200" lang="de-DE"/>
              <a:t> </a:t>
            </a:r>
            <a:r>
              <a:rPr dirty="0" sz="1200" lang="de-DE" err="1"/>
              <a:t>reference</a:t>
            </a:r>
            <a:r>
              <a:rPr dirty="0" sz="1200" lang="de-DE"/>
              <a:t> </a:t>
            </a:r>
            <a:r>
              <a:rPr dirty="0" sz="1200" lang="de-DE" err="1"/>
              <a:t>value</a:t>
            </a:r>
            <a:r>
              <a:rPr dirty="0" sz="1200" lang="de-DE"/>
              <a:t> lies </a:t>
            </a:r>
            <a:r>
              <a:rPr dirty="0" sz="1200" lang="de-DE" err="1"/>
              <a:t>within</a:t>
            </a:r>
            <a:r>
              <a:rPr dirty="0" sz="1200" lang="de-DE"/>
              <a:t> a </a:t>
            </a:r>
            <a:r>
              <a:rPr dirty="0" sz="1200" lang="de-DE" err="1"/>
              <a:t>stable</a:t>
            </a:r>
            <a:r>
              <a:rPr dirty="0" sz="1200" lang="de-DE"/>
              <a:t> </a:t>
            </a:r>
            <a:r>
              <a:rPr dirty="0" sz="1200" lang="de-DE" err="1"/>
              <a:t>zone</a:t>
            </a:r>
            <a:r>
              <a:rPr dirty="0" sz="1200" lang="de-DE"/>
              <a:t>. This </a:t>
            </a:r>
            <a:r>
              <a:rPr dirty="0" sz="1200" lang="de-DE" err="1"/>
              <a:t>implicates</a:t>
            </a:r>
            <a:r>
              <a:rPr dirty="0" sz="1200" lang="de-DE"/>
              <a:t> sensitive </a:t>
            </a:r>
            <a:r>
              <a:rPr dirty="0" sz="1200" lang="de-DE" err="1"/>
              <a:t>parameters</a:t>
            </a:r>
            <a:r>
              <a:rPr dirty="0" sz="1200" lang="de-DE"/>
              <a:t>, </a:t>
            </a:r>
            <a:r>
              <a:rPr dirty="0" sz="1200" lang="de-DE" err="1"/>
              <a:t>which</a:t>
            </a:r>
            <a:r>
              <a:rPr dirty="0" sz="1200" lang="de-DE"/>
              <a:t> </a:t>
            </a:r>
            <a:r>
              <a:rPr dirty="0" sz="1200" lang="de-DE" err="1"/>
              <a:t>confirms</a:t>
            </a:r>
            <a:r>
              <a:rPr dirty="0" sz="1200" lang="de-DE"/>
              <a:t> </a:t>
            </a:r>
            <a:r>
              <a:rPr dirty="0" sz="1200" lang="de-DE" err="1"/>
              <a:t>the</a:t>
            </a:r>
            <a:r>
              <a:rPr dirty="0" sz="1200" lang="de-DE"/>
              <a:t> </a:t>
            </a:r>
            <a:r>
              <a:rPr dirty="0" sz="1200" lang="de-DE" err="1"/>
              <a:t>results</a:t>
            </a:r>
            <a:r>
              <a:rPr dirty="0" sz="1200" lang="de-DE"/>
              <a:t> </a:t>
            </a:r>
            <a:r>
              <a:rPr dirty="0" sz="1200" lang="de-DE" err="1"/>
              <a:t>of</a:t>
            </a:r>
            <a:r>
              <a:rPr dirty="0" sz="1200" lang="de-DE"/>
              <a:t> </a:t>
            </a:r>
            <a:r>
              <a:rPr dirty="0" sz="1200" lang="de-DE" err="1"/>
              <a:t>the</a:t>
            </a:r>
            <a:r>
              <a:rPr dirty="0" sz="1200" lang="de-DE"/>
              <a:t> </a:t>
            </a:r>
            <a:r>
              <a:rPr dirty="0" sz="1200" lang="de-DE" err="1"/>
              <a:t>previous</a:t>
            </a:r>
            <a:r>
              <a:rPr dirty="0" sz="1200" lang="de-DE"/>
              <a:t> </a:t>
            </a:r>
            <a:r>
              <a:rPr dirty="0" sz="1200" lang="de-DE" err="1"/>
              <a:t>assignments</a:t>
            </a:r>
          </a:p>
          <a:p>
            <a:endParaRPr dirty="0" sz="1200" lang="de-DE"/>
          </a:p>
        </p:txBody>
      </p:sp>
      <p:sp>
        <p:nvSpPr>
          <p:cNvPr id="1048580" name="Textfeld 4"/>
          <p:cNvSpPr txBox="1"/>
          <p:nvPr/>
        </p:nvSpPr>
        <p:spPr>
          <a:xfrm>
            <a:off x="11643055" y="6485467"/>
            <a:ext cx="548640" cy="369332"/>
          </a:xfrm>
          <a:prstGeom prst="rect"/>
          <a:noFill/>
        </p:spPr>
        <p:txBody>
          <a:bodyPr rtlCol="0" wrap="square">
            <a:spAutoFit/>
          </a:bodyPr>
          <a:p>
            <a:r>
              <a:rPr dirty="0" lang="de-DE"/>
              <a:t>11</a:t>
            </a:r>
          </a:p>
        </p:txBody>
      </p:sp>
      <p:pic>
        <p:nvPicPr>
          <p:cNvPr id="2097156" name=""/>
          <p:cNvPicPr>
            <a:picLocks/>
          </p:cNvPicPr>
          <p:nvPr/>
        </p:nvPicPr>
        <p:blipFill>
          <a:blip xmlns:r="http://schemas.openxmlformats.org/officeDocument/2006/relationships" r:embed="rId5"/>
          <a:stretch>
            <a:fillRect/>
          </a:stretch>
        </p:blipFill>
        <p:spPr>
          <a:xfrm rot="0">
            <a:off x="365199" y="3880133"/>
            <a:ext cx="4162909" cy="2452891"/>
          </a:xfrm>
          <a:prstGeom prst="rect"/>
        </p:spPr>
      </p:pic>
      <p:pic>
        <p:nvPicPr>
          <p:cNvPr id="2097157" name=""/>
          <p:cNvPicPr>
            <a:picLocks/>
          </p:cNvPicPr>
          <p:nvPr/>
        </p:nvPicPr>
        <p:blipFill>
          <a:blip xmlns:r="http://schemas.openxmlformats.org/officeDocument/2006/relationships" r:embed="rId6"/>
          <a:stretch>
            <a:fillRect/>
          </a:stretch>
        </p:blipFill>
        <p:spPr>
          <a:xfrm rot="0">
            <a:off x="472462" y="1121750"/>
            <a:ext cx="4025008" cy="2401969"/>
          </a:xfrm>
          <a:prstGeom prst="rect"/>
        </p:spPr>
      </p:pic>
      <p:pic>
        <p:nvPicPr>
          <p:cNvPr id="2097158" name=""/>
          <p:cNvPicPr>
            <a:picLocks/>
          </p:cNvPicPr>
          <p:nvPr/>
        </p:nvPicPr>
        <p:blipFill>
          <a:blip xmlns:r="http://schemas.openxmlformats.org/officeDocument/2006/relationships" r:embed="rId7"/>
          <a:stretch>
            <a:fillRect/>
          </a:stretch>
        </p:blipFill>
        <p:spPr>
          <a:xfrm rot="0">
            <a:off x="5119182" y="3967891"/>
            <a:ext cx="4534204" cy="2282089"/>
          </a:xfrm>
          <a:prstGeom prst="rect"/>
        </p:spPr>
      </p:pic>
      <p:pic>
        <p:nvPicPr>
          <p:cNvPr id="2097183" name=""/>
          <p:cNvPicPr>
            <a:picLocks/>
          </p:cNvPicPr>
          <p:nvPr/>
        </p:nvPicPr>
        <p:blipFill>
          <a:blip xmlns:r="http://schemas.openxmlformats.org/officeDocument/2006/relationships" r:embed="rId8"/>
          <a:stretch>
            <a:fillRect/>
          </a:stretch>
        </p:blipFill>
        <p:spPr>
          <a:xfrm rot="0">
            <a:off x="5118795" y="1166935"/>
            <a:ext cx="4537739" cy="2316102"/>
          </a:xfrm>
          <a:prstGeom prst="rec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22" name=""/>
        <p:cNvGrpSpPr/>
        <p:nvPr/>
      </p:nvGrpSpPr>
      <p:grpSpPr>
        <a:xfrm>
          <a:off x="0" y="0"/>
          <a:ext cx="0" cy="0"/>
          <a:chOff x="0" y="0"/>
          <a:chExt cx="0" cy="0"/>
        </a:xfrm>
      </p:grpSpPr>
      <p:sp>
        <p:nvSpPr>
          <p:cNvPr id="1048584" name="Shape 0"/>
          <p:cNvSpPr/>
          <p:nvPr/>
        </p:nvSpPr>
        <p:spPr>
          <a:xfrm>
            <a:off x="0" y="0"/>
            <a:ext cx="12191695" cy="822960"/>
          </a:xfrm>
          <a:prstGeom prst="rect"/>
          <a:solidFill>
            <a:srgbClr val="0B3D91"/>
          </a:solidFill>
          <a:ln w="12700">
            <a:solidFill>
              <a:srgbClr val="0B3D91"/>
            </a:solidFill>
            <a:prstDash val="solid"/>
          </a:ln>
        </p:spPr>
        <p:txBody>
          <a:bodyPr/>
          <a:p>
            <a:endParaRPr lang="en-DE"/>
          </a:p>
        </p:txBody>
      </p:sp>
      <p:sp>
        <p:nvSpPr>
          <p:cNvPr id="1048585" name="Text 1"/>
          <p:cNvSpPr/>
          <p:nvPr/>
        </p:nvSpPr>
        <p:spPr>
          <a:xfrm>
            <a:off x="548640" y="128016"/>
            <a:ext cx="11094415" cy="329184"/>
          </a:xfrm>
          <a:prstGeom prst="rect"/>
          <a:noFill/>
        </p:spPr>
        <p:txBody>
          <a:bodyPr anchor="ctr" rtlCol="0" wrap="square"/>
          <a:p>
            <a:r>
              <a:rPr b="1" dirty="0" sz="2600" lang="en-US">
                <a:solidFill>
                  <a:srgbClr val="FFFFFF"/>
                </a:solidFill>
                <a:latin typeface="Calibri" pitchFamily="34" charset="0"/>
                <a:ea typeface="Calibri" pitchFamily="34" charset="-122"/>
                <a:cs typeface="Calibri" pitchFamily="34" charset="-120"/>
              </a:rPr>
              <a:t>Input Uncertainty of Parameters – Run-off Response Module </a:t>
            </a:r>
          </a:p>
        </p:txBody>
      </p:sp>
      <p:sp>
        <p:nvSpPr>
          <p:cNvPr id="1048586" name="Text 2"/>
          <p:cNvSpPr/>
          <p:nvPr/>
        </p:nvSpPr>
        <p:spPr>
          <a:xfrm>
            <a:off x="548640" y="502920"/>
            <a:ext cx="11094415" cy="201168"/>
          </a:xfrm>
          <a:prstGeom prst="rect"/>
          <a:noFill/>
        </p:spPr>
        <p:txBody>
          <a:bodyPr anchor="ctr" rtlCol="0" wrap="square"/>
          <a:p>
            <a:pPr indent="0" marL="0">
              <a:buNone/>
            </a:pPr>
            <a:r>
              <a:rPr dirty="0" sz="1400" lang="en-US">
                <a:solidFill>
                  <a:schemeClr val="bg1"/>
                </a:solidFill>
              </a:rPr>
              <a:t>Analysis of input uncertainty</a:t>
            </a:r>
          </a:p>
        </p:txBody>
      </p:sp>
      <p:sp>
        <p:nvSpPr>
          <p:cNvPr id="1048587" name="Textfeld 18"/>
          <p:cNvSpPr txBox="1"/>
          <p:nvPr/>
        </p:nvSpPr>
        <p:spPr>
          <a:xfrm>
            <a:off x="9982199" y="1437214"/>
            <a:ext cx="1841939" cy="5311140"/>
          </a:xfrm>
          <a:prstGeom prst="rect"/>
          <a:noFill/>
          <a:ln w="28575">
            <a:solidFill>
              <a:srgbClr val="002060"/>
            </a:solidFill>
          </a:ln>
        </p:spPr>
        <p:txBody>
          <a:bodyPr rtlCol="0" wrap="square">
            <a:spAutoFit/>
          </a:bodyPr>
          <a:p>
            <a:pPr indent="-285750" marL="285750">
              <a:buFont typeface="Wingdings" panose="05000000000000000000" pitchFamily="2" charset="2"/>
              <a:buChar char="Ø"/>
            </a:pPr>
            <a:endParaRPr dirty="0" sz="1100" lang="de-DE"/>
          </a:p>
          <a:p>
            <a:pPr indent="-285750" marL="285750">
              <a:buFont typeface="Wingdings" panose="05000000000000000000" pitchFamily="2" charset="2"/>
              <a:buChar char="Ø"/>
            </a:pPr>
            <a:r>
              <a:rPr dirty="0" sz="1100" lang="de-DE" err="1"/>
              <a:t>urr_ulc</a:t>
            </a:r>
            <a:r>
              <a:rPr dirty="0" sz="1100" lang="de-DE"/>
              <a:t> </a:t>
            </a:r>
            <a:r>
              <a:rPr altLang="en-DE" dirty="0" sz="1100" lang="en-DE">
                <a:solidFill>
                  <a:srgbClr val="000000"/>
                </a:solidFill>
              </a:rPr>
              <a:t>is mostly stable but occasionally jumps to extreme values</a:t>
            </a:r>
            <a:r>
              <a:rPr altLang="en-DE" dirty="0" sz="1100" lang="de-DE">
                <a:solidFill>
                  <a:srgbClr val="000000"/>
                </a:solidFill>
              </a:rPr>
              <a:t>. </a:t>
            </a:r>
            <a:r>
              <a:rPr altLang="en-DE" dirty="0" sz="1100" lang="de-DE" err="1">
                <a:solidFill>
                  <a:srgbClr val="000000"/>
                </a:solidFill>
              </a:rPr>
              <a:t>It</a:t>
            </a:r>
            <a:r>
              <a:rPr altLang="en-DE" dirty="0" sz="1100" lang="de-DE">
                <a:solidFill>
                  <a:srgbClr val="000000"/>
                </a:solidFill>
              </a:rPr>
              <a:t> </a:t>
            </a:r>
            <a:r>
              <a:rPr dirty="0" sz="1100" lang="en-GB"/>
              <a:t>usually stays stable, but sometimes recalibration uses it strongly to recover fit when precipitation perturbation creates larger mismatches.</a:t>
            </a:r>
          </a:p>
          <a:p>
            <a:pPr indent="-285750" marL="285750">
              <a:buFont typeface="Wingdings" panose="05000000000000000000" pitchFamily="2" charset="2"/>
              <a:buChar char="Ø"/>
            </a:pPr>
            <a:endParaRPr dirty="0" sz="1200" lang="de-DE"/>
          </a:p>
          <a:p>
            <a:pPr indent="-285750" marL="285750">
              <a:buFont typeface="Wingdings" panose="05000000000000000000" pitchFamily="2" charset="2"/>
              <a:buChar char="Ø"/>
            </a:pPr>
            <a:endParaRPr dirty="0" sz="1200" lang="de-DE"/>
          </a:p>
          <a:p>
            <a:pPr indent="-285750" marL="285750">
              <a:buFont typeface="Wingdings" panose="05000000000000000000" pitchFamily="2" charset="2"/>
              <a:buChar char="Ø"/>
            </a:pPr>
            <a:endParaRPr dirty="0" sz="1200" lang="de-DE"/>
          </a:p>
          <a:p>
            <a:pPr indent="-285750" marL="285750">
              <a:buFont typeface="Wingdings" panose="05000000000000000000" pitchFamily="2" charset="2"/>
              <a:buChar char="Ø"/>
            </a:pPr>
            <a:endParaRPr dirty="0" sz="1200" lang="de-DE"/>
          </a:p>
          <a:p>
            <a:pPr indent="-285750" marL="285750">
              <a:buFont typeface="Wingdings" panose="05000000000000000000" pitchFamily="2" charset="2"/>
              <a:buChar char="Ø"/>
            </a:pPr>
            <a:endParaRPr dirty="0" sz="1200" lang="de-DE"/>
          </a:p>
          <a:p>
            <a:pPr indent="-285750" marL="285750">
              <a:buFont typeface="Wingdings" panose="05000000000000000000" pitchFamily="2" charset="2"/>
              <a:buChar char="Ø"/>
            </a:pPr>
            <a:endParaRPr dirty="0" sz="1200" lang="de-DE"/>
          </a:p>
          <a:p>
            <a:endParaRPr dirty="0" sz="1200" lang="de-DE"/>
          </a:p>
          <a:p>
            <a:pPr indent="-285750" marL="285750">
              <a:buFont typeface="Wingdings" panose="05000000000000000000" pitchFamily="2" charset="2"/>
              <a:buChar char="Ø"/>
            </a:pPr>
            <a:r>
              <a:rPr dirty="0" sz="1200" lang="de-DE" err="1"/>
              <a:t>lrr_dre</a:t>
            </a:r>
            <a:r>
              <a:rPr altLang="en-DE" dirty="0" sz="1100" lang="de-DE">
                <a:solidFill>
                  <a:srgbClr val="000000"/>
                </a:solidFill>
                <a:latin typeface="-webkit-standard"/>
              </a:rPr>
              <a:t> </a:t>
            </a:r>
            <a:r>
              <a:rPr dirty="0" sz="1100" lang="en-GB"/>
              <a:t>contributes little to compensation because it remains close to the reference and varies only slightly across runs. It is less sensitive to precipitation perturbation.</a:t>
            </a:r>
            <a:endParaRPr dirty="0" sz="1100" lang="de-DE"/>
          </a:p>
          <a:p>
            <a:pPr indent="-285750" marL="285750">
              <a:buFont typeface="Wingdings" panose="05000000000000000000" pitchFamily="2" charset="2"/>
              <a:buChar char="Ø"/>
            </a:pPr>
            <a:endParaRPr dirty="0" sz="1100" lang="de-DE"/>
          </a:p>
        </p:txBody>
      </p:sp>
      <p:pic>
        <p:nvPicPr>
          <p:cNvPr id="2097159" name="Picture 5" descr="A screenshot of a graph  AI-generated content may be incorrect."/>
          <p:cNvPicPr>
            <a:picLocks noChangeAspect="1"/>
          </p:cNvPicPr>
          <p:nvPr/>
        </p:nvPicPr>
        <p:blipFill>
          <a:blip xmlns:r="http://schemas.openxmlformats.org/officeDocument/2006/relationships" r:embed="rId1"/>
          <a:stretch>
            <a:fillRect/>
          </a:stretch>
        </p:blipFill>
        <p:spPr>
          <a:xfrm>
            <a:off x="511599" y="3862791"/>
            <a:ext cx="4185166" cy="2492289"/>
          </a:xfrm>
          <a:prstGeom prst="rect"/>
          <a:ln w="25400">
            <a:solidFill>
              <a:schemeClr val="tx1"/>
            </a:solidFill>
          </a:ln>
        </p:spPr>
      </p:pic>
      <p:pic>
        <p:nvPicPr>
          <p:cNvPr id="2097160" name="Picture 7" descr="A screen shot of a diagram  AI-generated content may be incorrect."/>
          <p:cNvPicPr>
            <a:picLocks noChangeAspect="1"/>
          </p:cNvPicPr>
          <p:nvPr/>
        </p:nvPicPr>
        <p:blipFill>
          <a:blip xmlns:r="http://schemas.openxmlformats.org/officeDocument/2006/relationships" r:embed="rId2"/>
          <a:stretch>
            <a:fillRect/>
          </a:stretch>
        </p:blipFill>
        <p:spPr>
          <a:xfrm>
            <a:off x="511599" y="1253249"/>
            <a:ext cx="4185165" cy="2492289"/>
          </a:xfrm>
          <a:prstGeom prst="rect"/>
          <a:ln w="25400">
            <a:solidFill>
              <a:schemeClr val="tx1"/>
            </a:solidFill>
          </a:ln>
        </p:spPr>
      </p:pic>
      <p:pic>
        <p:nvPicPr>
          <p:cNvPr id="2097161" name="Picture 10" descr="A graph with a blue line  AI-generated content may be incorrect."/>
          <p:cNvPicPr>
            <a:picLocks noChangeAspect="1"/>
          </p:cNvPicPr>
          <p:nvPr/>
        </p:nvPicPr>
        <p:blipFill>
          <a:blip xmlns:r="http://schemas.openxmlformats.org/officeDocument/2006/relationships" r:embed="rId3"/>
          <a:stretch>
            <a:fillRect/>
          </a:stretch>
        </p:blipFill>
        <p:spPr>
          <a:xfrm>
            <a:off x="4941622" y="3862790"/>
            <a:ext cx="4795720" cy="2492289"/>
          </a:xfrm>
          <a:prstGeom prst="rect"/>
          <a:ln w="25400">
            <a:solidFill>
              <a:schemeClr val="tx1"/>
            </a:solidFill>
          </a:ln>
        </p:spPr>
      </p:pic>
      <p:pic>
        <p:nvPicPr>
          <p:cNvPr id="2097162" name="Picture 12" descr="A graph with blue lines and white text  AI-generated content may be incorrect."/>
          <p:cNvPicPr>
            <a:picLocks noChangeAspect="1"/>
          </p:cNvPicPr>
          <p:nvPr/>
        </p:nvPicPr>
        <p:blipFill>
          <a:blip xmlns:r="http://schemas.openxmlformats.org/officeDocument/2006/relationships" r:embed="rId4"/>
          <a:srcRect t="1833" b="1833"/>
          <a:stretch>
            <a:fillRect/>
          </a:stretch>
        </p:blipFill>
        <p:spPr>
          <a:xfrm>
            <a:off x="4906884" y="1253249"/>
            <a:ext cx="4858291" cy="2427605"/>
          </a:xfrm>
          <a:prstGeom prst="rect"/>
          <a:ln w="25400">
            <a:solidFill>
              <a:schemeClr val="tx1"/>
            </a:solidFill>
          </a:ln>
        </p:spPr>
      </p:pic>
      <p:sp>
        <p:nvSpPr>
          <p:cNvPr id="1048588" name="Textfeld 4"/>
          <p:cNvSpPr txBox="1"/>
          <p:nvPr/>
        </p:nvSpPr>
        <p:spPr>
          <a:xfrm>
            <a:off x="11643055" y="6485467"/>
            <a:ext cx="548640" cy="369332"/>
          </a:xfrm>
          <a:prstGeom prst="rect"/>
          <a:noFill/>
        </p:spPr>
        <p:txBody>
          <a:bodyPr rtlCol="0" wrap="square">
            <a:spAutoFit/>
          </a:bodyPr>
          <a:p>
            <a:r>
              <a:rPr dirty="0" lang="de-DE"/>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28" name=""/>
        <p:cNvGrpSpPr/>
        <p:nvPr/>
      </p:nvGrpSpPr>
      <p:grpSpPr>
        <a:xfrm>
          <a:off x="0" y="0"/>
          <a:ext cx="0" cy="0"/>
          <a:chOff x="0" y="0"/>
          <a:chExt cx="0" cy="0"/>
        </a:xfrm>
      </p:grpSpPr>
      <p:sp>
        <p:nvSpPr>
          <p:cNvPr id="1048600" name="Shape 0"/>
          <p:cNvSpPr/>
          <p:nvPr/>
        </p:nvSpPr>
        <p:spPr>
          <a:xfrm>
            <a:off x="0" y="-1"/>
            <a:ext cx="12191695" cy="870035"/>
          </a:xfrm>
          <a:prstGeom prst="rect"/>
          <a:solidFill>
            <a:srgbClr val="0B3D91"/>
          </a:solidFill>
          <a:ln w="12700">
            <a:solidFill>
              <a:srgbClr val="0B3D91"/>
            </a:solidFill>
            <a:prstDash val="solid"/>
          </a:ln>
        </p:spPr>
        <p:txBody>
          <a:bodyPr/>
          <a:p>
            <a:endParaRPr lang="en-DE"/>
          </a:p>
        </p:txBody>
      </p:sp>
      <p:sp>
        <p:nvSpPr>
          <p:cNvPr id="1048601" name="Text 1"/>
          <p:cNvSpPr/>
          <p:nvPr/>
        </p:nvSpPr>
        <p:spPr>
          <a:xfrm>
            <a:off x="548640" y="128016"/>
            <a:ext cx="11094415" cy="329184"/>
          </a:xfrm>
          <a:prstGeom prst="rect"/>
          <a:noFill/>
        </p:spPr>
        <p:txBody>
          <a:bodyPr anchor="ctr" rtlCol="0" wrap="square"/>
          <a:p>
            <a:pPr indent="0" marL="0">
              <a:buNone/>
            </a:pPr>
            <a:r>
              <a:rPr b="1" dirty="0" sz="2600" lang="en-US">
                <a:solidFill>
                  <a:srgbClr val="FFFFFF"/>
                </a:solidFill>
                <a:latin typeface="Calibri" pitchFamily="34" charset="0"/>
                <a:ea typeface="Calibri" pitchFamily="34" charset="-122"/>
                <a:cs typeface="Calibri" pitchFamily="34" charset="-120"/>
              </a:rPr>
              <a:t>Assignment 4 answers (Q1–Q4)</a:t>
            </a:r>
            <a:endParaRPr dirty="0" sz="2600" lang="en-US"/>
          </a:p>
        </p:txBody>
      </p:sp>
      <p:sp>
        <p:nvSpPr>
          <p:cNvPr id="1048602" name="Text 2"/>
          <p:cNvSpPr/>
          <p:nvPr/>
        </p:nvSpPr>
        <p:spPr>
          <a:xfrm>
            <a:off x="548639" y="513420"/>
            <a:ext cx="11094415" cy="201168"/>
          </a:xfrm>
          <a:prstGeom prst="rect"/>
          <a:noFill/>
        </p:spPr>
        <p:txBody>
          <a:bodyPr anchor="ctr" rtlCol="0" wrap="square"/>
          <a:p>
            <a:pPr indent="0" marL="0">
              <a:buNone/>
            </a:pPr>
            <a:r>
              <a:rPr dirty="0" sz="1400" lang="en-US">
                <a:solidFill>
                  <a:srgbClr val="E5E7EB"/>
                </a:solidFill>
                <a:latin typeface="Calibri" pitchFamily="34" charset="0"/>
                <a:ea typeface="Calibri" pitchFamily="34" charset="-122"/>
                <a:cs typeface="Calibri" pitchFamily="34" charset="-120"/>
              </a:rPr>
              <a:t>Numbers below match your run output</a:t>
            </a:r>
            <a:endParaRPr dirty="0" sz="1400" lang="en-US"/>
          </a:p>
        </p:txBody>
      </p:sp>
      <p:sp>
        <p:nvSpPr>
          <p:cNvPr id="1048603" name="Shape 3"/>
          <p:cNvSpPr/>
          <p:nvPr/>
        </p:nvSpPr>
        <p:spPr>
          <a:xfrm>
            <a:off x="822960" y="1234440"/>
            <a:ext cx="5090008" cy="2423160"/>
          </a:xfrm>
          <a:prstGeom prst="roundRect"/>
          <a:solidFill>
            <a:srgbClr val="FFFFFF"/>
          </a:solidFill>
          <a:ln w="12700">
            <a:solidFill>
              <a:srgbClr val="D1D5DB"/>
            </a:solidFill>
            <a:prstDash val="solid"/>
          </a:ln>
          <a:effectLst>
            <a:outerShdw algn="bl" blurRad="31750" dir="2700000" dist="15240" rotWithShape="0">
              <a:srgbClr val="000000">
                <a:alpha val="10000"/>
              </a:srgbClr>
            </a:outerShdw>
          </a:effectLst>
        </p:spPr>
        <p:txBody>
          <a:bodyPr/>
          <a:p>
            <a:endParaRPr lang="en-DE"/>
          </a:p>
        </p:txBody>
      </p:sp>
      <p:sp>
        <p:nvSpPr>
          <p:cNvPr id="1048604" name="Text 5"/>
          <p:cNvSpPr/>
          <p:nvPr/>
        </p:nvSpPr>
        <p:spPr>
          <a:xfrm>
            <a:off x="1078992" y="1417320"/>
            <a:ext cx="4632808" cy="320040"/>
          </a:xfrm>
          <a:prstGeom prst="rect"/>
          <a:noFill/>
        </p:spPr>
        <p:txBody>
          <a:bodyPr anchor="ctr" rtlCol="0" wrap="square"/>
          <a:p>
            <a:pPr indent="0" marL="0">
              <a:buNone/>
            </a:pPr>
            <a:r>
              <a:rPr b="1" dirty="0" sz="1600" lang="en-US">
                <a:solidFill>
                  <a:srgbClr val="163E6E"/>
                </a:solidFill>
                <a:latin typeface="Calibri" pitchFamily="34" charset="0"/>
                <a:ea typeface="Calibri" pitchFamily="34" charset="-122"/>
                <a:cs typeface="Calibri" pitchFamily="34" charset="-120"/>
              </a:rPr>
              <a:t>Q1 — How often better by chance?</a:t>
            </a:r>
            <a:endParaRPr dirty="0" sz="1600" lang="en-US"/>
          </a:p>
        </p:txBody>
      </p:sp>
      <p:sp>
        <p:nvSpPr>
          <p:cNvPr id="1048605" name="Text 6"/>
          <p:cNvSpPr/>
          <p:nvPr/>
        </p:nvSpPr>
        <p:spPr>
          <a:xfrm>
            <a:off x="1078992" y="1903307"/>
            <a:ext cx="4712208" cy="1207008"/>
          </a:xfrm>
          <a:prstGeom prst="rect"/>
          <a:noFill/>
        </p:spPr>
        <p:txBody>
          <a:bodyPr anchor="ctr" rtlCol="0" wrap="square"/>
          <a:p>
            <a:pPr indent="0" marL="0">
              <a:lnSpc>
                <a:spcPct val="150000"/>
              </a:lnSpc>
              <a:buNone/>
            </a:pPr>
            <a:r>
              <a:rPr dirty="0" sz="1400" lang="en-US">
                <a:solidFill>
                  <a:srgbClr val="1F2937"/>
                </a:solidFill>
                <a:latin typeface="Calibri" pitchFamily="34" charset="0"/>
                <a:ea typeface="Calibri" pitchFamily="34" charset="-122"/>
                <a:cs typeface="Calibri" pitchFamily="34" charset="-120"/>
              </a:rPr>
              <a:t>Fixed better than ref: 470/2000 (33.5%)</a:t>
            </a:r>
            <a:endParaRPr dirty="0" sz="1400" lang="en-US"/>
          </a:p>
          <a:p>
            <a:pPr>
              <a:lnSpc>
                <a:spcPct val="150000"/>
              </a:lnSpc>
            </a:pPr>
            <a:r>
              <a:rPr dirty="0" sz="1400" lang="en-US">
                <a:solidFill>
                  <a:srgbClr val="1F2937"/>
                </a:solidFill>
                <a:latin typeface="Calibri" pitchFamily="34" charset="0"/>
                <a:ea typeface="Calibri" pitchFamily="34" charset="-122"/>
                <a:cs typeface="Calibri" pitchFamily="34" charset="-120"/>
              </a:rPr>
              <a:t>Recalibration improved compared to ref: 1530 / 2000 (76.5 %)</a:t>
            </a:r>
            <a:endParaRPr dirty="0" sz="1400" lang="en-US"/>
          </a:p>
        </p:txBody>
      </p:sp>
      <p:sp>
        <p:nvSpPr>
          <p:cNvPr id="1048606" name="Shape 7"/>
          <p:cNvSpPr/>
          <p:nvPr/>
        </p:nvSpPr>
        <p:spPr>
          <a:xfrm>
            <a:off x="6278728" y="1234440"/>
            <a:ext cx="5090008" cy="2423160"/>
          </a:xfrm>
          <a:prstGeom prst="roundRect"/>
          <a:solidFill>
            <a:srgbClr val="FFFFFF"/>
          </a:solidFill>
          <a:ln w="12700">
            <a:solidFill>
              <a:srgbClr val="D1D5DB"/>
            </a:solidFill>
            <a:prstDash val="solid"/>
          </a:ln>
          <a:effectLst>
            <a:outerShdw algn="bl" blurRad="31750" dir="2700000" dist="15240" rotWithShape="0">
              <a:srgbClr val="000000">
                <a:alpha val="10000"/>
              </a:srgbClr>
            </a:outerShdw>
          </a:effectLst>
        </p:spPr>
        <p:txBody>
          <a:bodyPr/>
          <a:p>
            <a:endParaRPr lang="en-DE"/>
          </a:p>
        </p:txBody>
      </p:sp>
      <p:sp>
        <p:nvSpPr>
          <p:cNvPr id="1048607" name="Text 9"/>
          <p:cNvSpPr/>
          <p:nvPr/>
        </p:nvSpPr>
        <p:spPr>
          <a:xfrm>
            <a:off x="6534760" y="1417320"/>
            <a:ext cx="4632808" cy="320040"/>
          </a:xfrm>
          <a:prstGeom prst="rect"/>
          <a:noFill/>
        </p:spPr>
        <p:txBody>
          <a:bodyPr anchor="ctr" rtlCol="0" wrap="square"/>
          <a:p>
            <a:pPr indent="0" marL="0">
              <a:buNone/>
            </a:pPr>
            <a:r>
              <a:rPr b="1" dirty="0" sz="1600" lang="en-US">
                <a:solidFill>
                  <a:srgbClr val="163E6E"/>
                </a:solidFill>
                <a:latin typeface="Calibri" pitchFamily="34" charset="0"/>
                <a:ea typeface="Calibri" pitchFamily="34" charset="-122"/>
                <a:cs typeface="Calibri" pitchFamily="34" charset="-120"/>
              </a:rPr>
              <a:t>Q2 — Compensation amount</a:t>
            </a:r>
            <a:endParaRPr dirty="0" sz="1600" lang="en-US"/>
          </a:p>
        </p:txBody>
      </p:sp>
      <p:sp>
        <p:nvSpPr>
          <p:cNvPr id="1048608" name="Text 10"/>
          <p:cNvSpPr/>
          <p:nvPr/>
        </p:nvSpPr>
        <p:spPr>
          <a:xfrm>
            <a:off x="6557620" y="1737360"/>
            <a:ext cx="4587088" cy="1691640"/>
          </a:xfrm>
          <a:prstGeom prst="rect"/>
          <a:noFill/>
        </p:spPr>
        <p:txBody>
          <a:bodyPr anchor="ctr" rtlCol="0" wrap="square"/>
          <a:p>
            <a:pPr indent="0" marL="0">
              <a:lnSpc>
                <a:spcPct val="150000"/>
              </a:lnSpc>
              <a:buNone/>
            </a:pPr>
            <a:r>
              <a:rPr dirty="0" sz="1400" lang="en-US">
                <a:solidFill>
                  <a:srgbClr val="1F2937"/>
                </a:solidFill>
                <a:latin typeface="Calibri" pitchFamily="34" charset="0"/>
                <a:ea typeface="Calibri" pitchFamily="34" charset="-122"/>
                <a:cs typeface="Calibri" pitchFamily="34" charset="-120"/>
              </a:rPr>
              <a:t>Mean degradation (fixed): 0.0010</a:t>
            </a:r>
            <a:endParaRPr dirty="0" sz="1400" lang="en-US"/>
          </a:p>
          <a:p>
            <a:pPr indent="0" marL="0">
              <a:lnSpc>
                <a:spcPct val="150000"/>
              </a:lnSpc>
              <a:buNone/>
            </a:pPr>
            <a:r>
              <a:rPr dirty="0" sz="1400" lang="en-US">
                <a:solidFill>
                  <a:srgbClr val="1F2937"/>
                </a:solidFill>
                <a:latin typeface="Calibri" pitchFamily="34" charset="0"/>
                <a:ea typeface="Calibri" pitchFamily="34" charset="-122"/>
                <a:cs typeface="Calibri" pitchFamily="34" charset="-120"/>
              </a:rPr>
              <a:t>Mean degradation (recal): 0.0008</a:t>
            </a:r>
            <a:endParaRPr dirty="0" sz="1400" lang="en-US"/>
          </a:p>
          <a:p>
            <a:pPr indent="0" marL="0">
              <a:lnSpc>
                <a:spcPct val="150000"/>
              </a:lnSpc>
              <a:buNone/>
            </a:pPr>
            <a:r>
              <a:rPr dirty="0" sz="1400" lang="en-US">
                <a:solidFill>
                  <a:srgbClr val="1F2937"/>
                </a:solidFill>
                <a:latin typeface="Calibri" pitchFamily="34" charset="0"/>
                <a:ea typeface="Calibri" pitchFamily="34" charset="-122"/>
                <a:cs typeface="Calibri" pitchFamily="34" charset="-120"/>
              </a:rPr>
              <a:t>Compensation: 21.9%</a:t>
            </a:r>
            <a:endParaRPr dirty="0" sz="1400" lang="en-US"/>
          </a:p>
        </p:txBody>
      </p:sp>
      <p:sp>
        <p:nvSpPr>
          <p:cNvPr id="1048609" name="Shape 11"/>
          <p:cNvSpPr/>
          <p:nvPr/>
        </p:nvSpPr>
        <p:spPr>
          <a:xfrm>
            <a:off x="822960" y="4035213"/>
            <a:ext cx="5090008" cy="2423160"/>
          </a:xfrm>
          <a:prstGeom prst="roundRect"/>
          <a:solidFill>
            <a:srgbClr val="FFFFFF"/>
          </a:solidFill>
          <a:ln w="12700">
            <a:solidFill>
              <a:srgbClr val="D1D5DB"/>
            </a:solidFill>
            <a:prstDash val="solid"/>
          </a:ln>
          <a:effectLst>
            <a:outerShdw algn="bl" blurRad="31750" dir="2700000" dist="15240" rotWithShape="0">
              <a:srgbClr val="000000">
                <a:alpha val="10000"/>
              </a:srgbClr>
            </a:outerShdw>
          </a:effectLst>
        </p:spPr>
        <p:txBody>
          <a:bodyPr/>
          <a:p>
            <a:endParaRPr lang="en-DE"/>
          </a:p>
        </p:txBody>
      </p:sp>
      <p:sp>
        <p:nvSpPr>
          <p:cNvPr id="1048610" name="Text 13"/>
          <p:cNvSpPr/>
          <p:nvPr/>
        </p:nvSpPr>
        <p:spPr>
          <a:xfrm>
            <a:off x="1078992" y="4251960"/>
            <a:ext cx="4632808" cy="320040"/>
          </a:xfrm>
          <a:prstGeom prst="rect"/>
          <a:noFill/>
        </p:spPr>
        <p:txBody>
          <a:bodyPr anchor="ctr" rtlCol="0" wrap="square"/>
          <a:p>
            <a:pPr indent="0" marL="0">
              <a:buNone/>
            </a:pPr>
            <a:r>
              <a:rPr b="1" dirty="0" sz="1600" lang="en-US">
                <a:solidFill>
                  <a:srgbClr val="163E6E"/>
                </a:solidFill>
                <a:latin typeface="Calibri" pitchFamily="34" charset="0"/>
                <a:ea typeface="Calibri" pitchFamily="34" charset="-122"/>
                <a:cs typeface="Calibri" pitchFamily="34" charset="-120"/>
              </a:rPr>
              <a:t>Q3 — Use input uncertainty in calibration?</a:t>
            </a:r>
            <a:endParaRPr dirty="0" sz="1600" lang="en-US"/>
          </a:p>
        </p:txBody>
      </p:sp>
      <p:sp>
        <p:nvSpPr>
          <p:cNvPr id="1048611" name="Text 14"/>
          <p:cNvSpPr/>
          <p:nvPr/>
        </p:nvSpPr>
        <p:spPr>
          <a:xfrm>
            <a:off x="1074420" y="4577079"/>
            <a:ext cx="4587088" cy="1566333"/>
          </a:xfrm>
          <a:prstGeom prst="rect"/>
          <a:noFill/>
        </p:spPr>
        <p:txBody>
          <a:bodyPr anchor="ctr" rtlCol="0" wrap="square"/>
          <a:p>
            <a:pPr indent="0" marL="0">
              <a:buNone/>
            </a:pPr>
            <a:r>
              <a:rPr dirty="0" sz="1400" lang="en-US">
                <a:solidFill>
                  <a:srgbClr val="1F2937"/>
                </a:solidFill>
                <a:latin typeface="Calibri" pitchFamily="34" charset="0"/>
                <a:ea typeface="Calibri" pitchFamily="34" charset="-122"/>
                <a:cs typeface="Calibri" pitchFamily="34" charset="-120"/>
              </a:rPr>
              <a:t>Yes. Recalibration recovered only ~22% of the average loss.</a:t>
            </a:r>
            <a:endParaRPr dirty="0" sz="1400" lang="en-US"/>
          </a:p>
          <a:p>
            <a:pPr indent="0" marL="0">
              <a:buNone/>
            </a:pPr>
            <a:r>
              <a:rPr dirty="0" sz="1400" lang="en-US">
                <a:solidFill>
                  <a:srgbClr val="1F2937"/>
                </a:solidFill>
                <a:latin typeface="Calibri" pitchFamily="34" charset="0"/>
                <a:ea typeface="Calibri" pitchFamily="34" charset="-122"/>
                <a:cs typeface="Calibri" pitchFamily="34" charset="-120"/>
              </a:rPr>
              <a:t>This suggests parameters cannot fully compensate for forcing errors, so the uncertainty should be accounted for during calibration and evaluation.</a:t>
            </a:r>
            <a:endParaRPr dirty="0" sz="1400" lang="en-US"/>
          </a:p>
        </p:txBody>
      </p:sp>
      <p:sp>
        <p:nvSpPr>
          <p:cNvPr id="1048612" name="Shape 7"/>
          <p:cNvSpPr/>
          <p:nvPr/>
        </p:nvSpPr>
        <p:spPr>
          <a:xfrm>
            <a:off x="6306160" y="4032504"/>
            <a:ext cx="5090008" cy="2423160"/>
          </a:xfrm>
          <a:prstGeom prst="roundRect"/>
          <a:solidFill>
            <a:srgbClr val="FFFFFF"/>
          </a:solidFill>
          <a:ln w="12700">
            <a:solidFill>
              <a:srgbClr val="D1D5DB"/>
            </a:solidFill>
            <a:prstDash val="solid"/>
          </a:ln>
          <a:effectLst>
            <a:outerShdw algn="bl" blurRad="31750" dir="2700000" dist="15240" rotWithShape="0">
              <a:srgbClr val="000000">
                <a:alpha val="10000"/>
              </a:srgbClr>
            </a:outerShdw>
          </a:effectLst>
        </p:spPr>
        <p:txBody>
          <a:bodyPr/>
          <a:p>
            <a:r>
              <a:rPr b="1" dirty="0" sz="1600" lang="de-DE">
                <a:solidFill>
                  <a:srgbClr val="163E6E"/>
                </a:solidFill>
                <a:latin typeface="Calibri" pitchFamily="34" charset="0"/>
                <a:ea typeface="Calibri" pitchFamily="34" charset="-122"/>
                <a:cs typeface="Calibri" pitchFamily="34" charset="-120"/>
              </a:rPr>
              <a:t>Q4</a:t>
            </a:r>
            <a:r>
              <a:rPr dirty="0" lang="de-DE"/>
              <a:t> </a:t>
            </a:r>
            <a:r>
              <a:rPr b="1" dirty="0" sz="1600" lang="de-DE">
                <a:solidFill>
                  <a:srgbClr val="163E6E"/>
                </a:solidFill>
                <a:latin typeface="Calibri" pitchFamily="34" charset="0"/>
                <a:ea typeface="Calibri" pitchFamily="34" charset="-122"/>
                <a:cs typeface="Calibri" pitchFamily="34" charset="-120"/>
              </a:rPr>
              <a:t>– </a:t>
            </a:r>
            <a:r>
              <a:rPr b="1" dirty="0" sz="1600" lang="de-DE" err="1">
                <a:solidFill>
                  <a:srgbClr val="163E6E"/>
                </a:solidFill>
                <a:latin typeface="Calibri" pitchFamily="34" charset="0"/>
                <a:ea typeface="Calibri" pitchFamily="34" charset="-122"/>
                <a:cs typeface="Calibri" pitchFamily="34" charset="-120"/>
              </a:rPr>
              <a:t>Difference</a:t>
            </a:r>
            <a:r>
              <a:rPr b="1" dirty="0" sz="1600" lang="de-DE">
                <a:solidFill>
                  <a:srgbClr val="163E6E"/>
                </a:solidFill>
                <a:latin typeface="Calibri" pitchFamily="34" charset="0"/>
                <a:ea typeface="Calibri" pitchFamily="34" charset="-122"/>
                <a:cs typeface="Calibri" pitchFamily="34" charset="-120"/>
              </a:rPr>
              <a:t> </a:t>
            </a:r>
            <a:r>
              <a:rPr b="1" dirty="0" sz="1600" lang="de-DE" err="1">
                <a:solidFill>
                  <a:srgbClr val="163E6E"/>
                </a:solidFill>
                <a:latin typeface="Calibri" pitchFamily="34" charset="0"/>
                <a:ea typeface="Calibri" pitchFamily="34" charset="-122"/>
                <a:cs typeface="Calibri" pitchFamily="34" charset="-120"/>
              </a:rPr>
              <a:t>to</a:t>
            </a:r>
            <a:r>
              <a:rPr b="1" dirty="0" sz="1600" lang="de-DE">
                <a:solidFill>
                  <a:srgbClr val="163E6E"/>
                </a:solidFill>
                <a:latin typeface="Calibri" pitchFamily="34" charset="0"/>
                <a:ea typeface="Calibri" pitchFamily="34" charset="-122"/>
                <a:cs typeface="Calibri" pitchFamily="34" charset="-120"/>
              </a:rPr>
              <a:t> OUDIN</a:t>
            </a:r>
          </a:p>
          <a:p>
            <a:endParaRPr b="1" dirty="0" sz="1600" lang="de-DE">
              <a:solidFill>
                <a:srgbClr val="163E6E"/>
              </a:solidFill>
              <a:latin typeface="Calibri" pitchFamily="34" charset="0"/>
              <a:ea typeface="Calibri" pitchFamily="34" charset="-122"/>
              <a:cs typeface="Calibri" pitchFamily="34" charset="-120"/>
            </a:endParaRPr>
          </a:p>
          <a:p>
            <a:endParaRPr b="1" dirty="0" sz="1600" lang="de-DE">
              <a:solidFill>
                <a:srgbClr val="163E6E"/>
              </a:solidFill>
              <a:latin typeface="Calibri" pitchFamily="34" charset="0"/>
              <a:ea typeface="Calibri" pitchFamily="34" charset="-122"/>
              <a:cs typeface="Calibri" pitchFamily="34" charset="-120"/>
            </a:endParaRPr>
          </a:p>
          <a:p>
            <a:endParaRPr b="1" dirty="0" sz="1600" lang="en-DE">
              <a:solidFill>
                <a:srgbClr val="163E6E"/>
              </a:solidFill>
              <a:latin typeface="Calibri" pitchFamily="34" charset="0"/>
              <a:ea typeface="Calibri" pitchFamily="34" charset="-122"/>
              <a:cs typeface="Calibri" pitchFamily="34" charset="-120"/>
            </a:endParaRPr>
          </a:p>
        </p:txBody>
      </p:sp>
      <p:sp>
        <p:nvSpPr>
          <p:cNvPr id="1048613" name="Text 14"/>
          <p:cNvSpPr/>
          <p:nvPr/>
        </p:nvSpPr>
        <p:spPr>
          <a:xfrm>
            <a:off x="6525920" y="4572000"/>
            <a:ext cx="4587088" cy="1566333"/>
          </a:xfrm>
          <a:prstGeom prst="rect"/>
          <a:noFill/>
        </p:spPr>
        <p:txBody>
          <a:bodyPr anchor="ctr" rtlCol="0" wrap="square"/>
          <a:p>
            <a:r>
              <a:rPr dirty="0" sz="1400" lang="en-US">
                <a:solidFill>
                  <a:srgbClr val="1F2937"/>
                </a:solidFill>
                <a:latin typeface="Calibri" pitchFamily="34" charset="0"/>
                <a:ea typeface="Calibri" pitchFamily="34" charset="-122"/>
                <a:cs typeface="Calibri" pitchFamily="34" charset="-120"/>
              </a:rPr>
              <a:t>The models are different. Both models in the paper use fewer parameters and disregard snow. GR4J can also take water from an underground basin, in addition to rainfall. PE and rainfall were perturbed. Usage of both random and systematic error.</a:t>
            </a:r>
            <a:endParaRPr dirty="0" sz="1400" lang="en-US"/>
          </a:p>
        </p:txBody>
      </p:sp>
      <p:sp>
        <p:nvSpPr>
          <p:cNvPr id="1048614" name="Textfeld 4"/>
          <p:cNvSpPr txBox="1"/>
          <p:nvPr/>
        </p:nvSpPr>
        <p:spPr>
          <a:xfrm>
            <a:off x="11643055" y="6485467"/>
            <a:ext cx="548640" cy="369332"/>
          </a:xfrm>
          <a:prstGeom prst="rect"/>
          <a:noFill/>
        </p:spPr>
        <p:txBody>
          <a:bodyPr rtlCol="0" wrap="square">
            <a:spAutoFit/>
          </a:bodyPr>
          <a:p>
            <a:r>
              <a:rPr dirty="0" lang="de-DE"/>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34" name=""/>
        <p:cNvGrpSpPr/>
        <p:nvPr/>
      </p:nvGrpSpPr>
      <p:grpSpPr>
        <a:xfrm>
          <a:off x="0" y="0"/>
          <a:ext cx="0" cy="0"/>
          <a:chOff x="0" y="0"/>
          <a:chExt cx="0" cy="0"/>
        </a:xfrm>
      </p:grpSpPr>
      <p:sp>
        <p:nvSpPr>
          <p:cNvPr id="1048629" name="TextBox 1"/>
          <p:cNvSpPr txBox="1"/>
          <p:nvPr/>
        </p:nvSpPr>
        <p:spPr>
          <a:xfrm>
            <a:off x="5075528" y="3136612"/>
            <a:ext cx="2148403" cy="574040"/>
          </a:xfrm>
          <a:prstGeom prst="rect"/>
          <a:noFill/>
        </p:spPr>
        <p:txBody>
          <a:bodyPr rtlCol="0" wrap="none">
            <a:spAutoFit/>
          </a:bodyPr>
          <a:p>
            <a:r>
              <a:rPr dirty="0" sz="3200" lang="en-DE"/>
              <a:t>Thank you!</a:t>
            </a:r>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Application>Microsoft Macintosh PowerPoint</Application>
  <ScaleCrop>0</ScaleCrop>
  <Company>PptxGenJS</Company>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PptxGenJS Presentation</dc:title>
  <dc:creator>PptxGenJS</dc:creator>
  <cp:lastModifiedBy>Nafisa Raihana</cp:lastModifiedBy>
  <dcterms:created xsi:type="dcterms:W3CDTF">2026-01-18T15:24:06Z</dcterms:created>
  <dcterms:modified xsi:type="dcterms:W3CDTF">2026-01-20T08:23:30Z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abb94595776f4d14aaa977de84d34aeb</vt:lpwstr>
  </property>
</Properties>
</file>